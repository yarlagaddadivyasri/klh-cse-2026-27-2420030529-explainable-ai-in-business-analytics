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22" r:id="rId57"/>
    <p:sldId id="323" r:id="rId58"/>
    <p:sldId id="324" r:id="rId59"/>
    <p:sldId id="312" r:id="rId60"/>
    <p:sldId id="313" r:id="rId61"/>
    <p:sldId id="314" r:id="rId62"/>
    <p:sldId id="325" r:id="rId63"/>
    <p:sldId id="326" r:id="rId64"/>
    <p:sldId id="327" r:id="rId65"/>
    <p:sldId id="315" r:id="rId66"/>
    <p:sldId id="316" r:id="rId67"/>
    <p:sldId id="317" r:id="rId68"/>
    <p:sldId id="328" r:id="rId69"/>
    <p:sldId id="329" r:id="rId70"/>
    <p:sldId id="330" r:id="rId71"/>
    <p:sldId id="321" r:id="rId72"/>
    <p:sldId id="331" r:id="rId73"/>
    <p:sldId id="318" r:id="rId74"/>
    <p:sldId id="319" r:id="rId7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3447" autoAdjust="0"/>
  </p:normalViewPr>
  <p:slideViewPr>
    <p:cSldViewPr snapToGrid="0" snapToObjects="1">
      <p:cViewPr varScale="1">
        <p:scale>
          <a:sx n="63" d="100"/>
          <a:sy n="63" d="100"/>
        </p:scale>
        <p:origin x="780" y="56"/>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kshmi Sai Prasanna" userId="1188e59daf468a7d" providerId="LiveId" clId="{0DD154D4-5EC4-4262-90EA-4D77424C730C}"/>
    <pc:docChg chg="delSld">
      <pc:chgData name="Lakshmi Sai Prasanna" userId="1188e59daf468a7d" providerId="LiveId" clId="{0DD154D4-5EC4-4262-90EA-4D77424C730C}" dt="2026-10-12T05:58:06.779" v="0" actId="2696"/>
      <pc:docMkLst>
        <pc:docMk/>
      </pc:docMkLst>
      <pc:sldChg chg="del">
        <pc:chgData name="Lakshmi Sai Prasanna" userId="1188e59daf468a7d" providerId="LiveId" clId="{0DD154D4-5EC4-4262-90EA-4D77424C730C}" dt="2026-10-12T05:58:06.779" v="0" actId="2696"/>
        <pc:sldMkLst>
          <pc:docMk/>
          <pc:sldMk cId="816618355" sldId="280"/>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hyperlink" Target="https://www.kaggle.com/datasets/blastchar/telco-customer-churn/data?utm_source=" TargetMode="External"/><Relationship Id="rId2" Type="http://schemas.openxmlformats.org/officeDocument/2006/relationships/hyperlink" Target="https://archive.ics.uci.edu/dataset/222/bank%2Bmarketing" TargetMode="External"/><Relationship Id="rId1" Type="http://schemas.openxmlformats.org/officeDocument/2006/relationships/slideLayout" Target="../slideLayouts/slideLayout7.xml"/><Relationship Id="rId4" Type="http://schemas.openxmlformats.org/officeDocument/2006/relationships/hyperlink" Target="https://archive.ics.uci.edu/dataset/352/online-retail"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92646"/>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2D63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1325880"/>
            <a:ext cx="7518790" cy="2323713"/>
          </a:xfrm>
          <a:prstGeom prst="rect">
            <a:avLst/>
          </a:prstGeom>
          <a:noFill/>
        </p:spPr>
        <p:txBody>
          <a:bodyPr wrap="none">
            <a:spAutoFit/>
          </a:bodyPr>
          <a:lstStyle/>
          <a:p>
            <a:pPr>
              <a:spcAft>
                <a:spcPts val="1200"/>
              </a:spcAft>
              <a:defRPr sz="3400" b="1">
                <a:solidFill>
                  <a:srgbClr val="FFFFFF"/>
                </a:solidFill>
              </a:defRPr>
            </a:pPr>
            <a:r>
              <a:rPr lang="en-US" dirty="0"/>
              <a:t>Unified </a:t>
            </a:r>
            <a:r>
              <a:rPr dirty="0"/>
              <a:t>Explainable Artificial Intelligence</a:t>
            </a:r>
            <a:br>
              <a:rPr dirty="0"/>
            </a:br>
            <a:r>
              <a:rPr dirty="0"/>
              <a:t>for Business Analytics</a:t>
            </a:r>
          </a:p>
          <a:p>
            <a:pPr>
              <a:spcAft>
                <a:spcPts val="3000"/>
              </a:spcAft>
              <a:defRPr sz="2200">
                <a:solidFill>
                  <a:srgbClr val="BED2F5"/>
                </a:solidFill>
              </a:defRPr>
            </a:pPr>
            <a:r>
              <a:rPr lang="en-US" dirty="0"/>
              <a:t>Comparing ML Models and XAI Techniques</a:t>
            </a:r>
            <a:endParaRPr dirty="0"/>
          </a:p>
          <a:p>
            <a:pPr>
              <a:defRPr sz="1600" b="1">
                <a:solidFill>
                  <a:srgbClr val="FFFFFF"/>
                </a:solidFill>
              </a:defRPr>
            </a:pPr>
            <a:r>
              <a:rPr sz="2000" dirty="0"/>
              <a:t>REVIEW – </a:t>
            </a:r>
            <a:r>
              <a:rPr lang="en-US" sz="2000" dirty="0"/>
              <a:t>3</a:t>
            </a:r>
            <a:r>
              <a:rPr sz="2000" dirty="0"/>
              <a:t>  |  BATCH</a:t>
            </a:r>
            <a:r>
              <a:rPr lang="en-US" sz="2000" dirty="0"/>
              <a:t> </a:t>
            </a:r>
            <a:r>
              <a:rPr sz="2000" dirty="0"/>
              <a:t>–</a:t>
            </a:r>
            <a:r>
              <a:rPr lang="en-US" sz="2000" dirty="0"/>
              <a:t> </a:t>
            </a:r>
            <a:r>
              <a:rPr sz="2000" dirty="0"/>
              <a:t>2</a:t>
            </a:r>
          </a:p>
        </p:txBody>
      </p:sp>
      <p:sp>
        <p:nvSpPr>
          <p:cNvPr id="4" name="TextBox 3"/>
          <p:cNvSpPr txBox="1"/>
          <p:nvPr/>
        </p:nvSpPr>
        <p:spPr>
          <a:xfrm>
            <a:off x="354874" y="3929741"/>
            <a:ext cx="2399211" cy="1015663"/>
          </a:xfrm>
          <a:prstGeom prst="rect">
            <a:avLst/>
          </a:prstGeom>
          <a:noFill/>
        </p:spPr>
        <p:txBody>
          <a:bodyPr wrap="square">
            <a:spAutoFit/>
          </a:bodyPr>
          <a:lstStyle/>
          <a:p>
            <a:pPr algn="ctr">
              <a:defRPr sz="1700">
                <a:solidFill>
                  <a:srgbClr val="FFFFFF"/>
                </a:solidFill>
              </a:defRPr>
            </a:pPr>
            <a:r>
              <a:rPr lang="en-US" sz="2000" b="1" dirty="0"/>
              <a:t>2420030525</a:t>
            </a:r>
          </a:p>
          <a:p>
            <a:pPr algn="ctr">
              <a:defRPr sz="1700">
                <a:solidFill>
                  <a:srgbClr val="FFFFFF"/>
                </a:solidFill>
              </a:defRPr>
            </a:pPr>
            <a:r>
              <a:rPr lang="en-US" sz="2000" b="1" dirty="0"/>
              <a:t>2420030508</a:t>
            </a:r>
          </a:p>
          <a:p>
            <a:pPr algn="ctr">
              <a:defRPr sz="1700">
                <a:solidFill>
                  <a:srgbClr val="FFFFFF"/>
                </a:solidFill>
              </a:defRPr>
            </a:pPr>
            <a:r>
              <a:rPr lang="en-US" sz="2000" b="1" dirty="0"/>
              <a:t>2420030529</a:t>
            </a:r>
            <a:endParaRPr sz="2000" b="1" dirty="0"/>
          </a:p>
        </p:txBody>
      </p:sp>
      <p:pic>
        <p:nvPicPr>
          <p:cNvPr id="6" name="Picture 5">
            <a:extLst>
              <a:ext uri="{FF2B5EF4-FFF2-40B4-BE49-F238E27FC236}">
                <a16:creationId xmlns:a16="http://schemas.microsoft.com/office/drawing/2014/main" id="{A071E00E-EA18-4E2E-FD6D-F7FBD5A1C364}"/>
              </a:ext>
            </a:extLst>
          </p:cNvPr>
          <p:cNvPicPr>
            <a:picLocks noChangeAspect="1"/>
          </p:cNvPicPr>
          <p:nvPr/>
        </p:nvPicPr>
        <p:blipFill>
          <a:blip r:embed="rId2"/>
          <a:stretch>
            <a:fillRect/>
          </a:stretch>
        </p:blipFill>
        <p:spPr>
          <a:xfrm>
            <a:off x="5453743" y="3275668"/>
            <a:ext cx="6738257" cy="358233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05" y="293497"/>
            <a:ext cx="12191695" cy="1149531"/>
          </a:xfrm>
          <a:prstGeom prst="rect">
            <a:avLst/>
          </a:prstGeom>
          <a:solidFill>
            <a:srgbClr val="192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566928"/>
            <a:ext cx="3902863" cy="584775"/>
          </a:xfrm>
          <a:prstGeom prst="rect">
            <a:avLst/>
          </a:prstGeom>
          <a:noFill/>
        </p:spPr>
        <p:txBody>
          <a:bodyPr wrap="none">
            <a:spAutoFit/>
          </a:bodyPr>
          <a:lstStyle/>
          <a:p>
            <a:pPr>
              <a:defRPr sz="2500" b="1">
                <a:solidFill>
                  <a:srgbClr val="FFFFFF"/>
                </a:solidFill>
              </a:defRPr>
            </a:pPr>
            <a:r>
              <a:rPr sz="3200" dirty="0"/>
              <a:t>1. Problem Statement</a:t>
            </a:r>
          </a:p>
        </p:txBody>
      </p:sp>
      <p:sp>
        <p:nvSpPr>
          <p:cNvPr id="4" name="TextBox 3"/>
          <p:cNvSpPr txBox="1"/>
          <p:nvPr/>
        </p:nvSpPr>
        <p:spPr>
          <a:xfrm>
            <a:off x="461554" y="2118359"/>
            <a:ext cx="10920548" cy="3108543"/>
          </a:xfrm>
          <a:prstGeom prst="rect">
            <a:avLst/>
          </a:prstGeom>
          <a:noFill/>
        </p:spPr>
        <p:txBody>
          <a:bodyPr wrap="square">
            <a:spAutoFit/>
          </a:bodyPr>
          <a:lstStyle/>
          <a:p>
            <a:pPr>
              <a:spcAft>
                <a:spcPts val="1400"/>
              </a:spcAft>
              <a:defRPr sz="2000">
                <a:solidFill>
                  <a:srgbClr val="232A34"/>
                </a:solidFill>
              </a:defRPr>
            </a:pPr>
            <a:r>
              <a:rPr lang="en-US" sz="2800" dirty="0"/>
              <a:t>Machine learning models are increasingly used in educational and business analytics for prediction and decision-making, but complex models are often difficult to interpret. Different models and explainable AI techniques may provide varying levels of accuracy and transparency. Therefore, this project aims to comparatively analyze multiple machine learning models using SHAP and LIME to evaluate their predictive performance and explainability across benchmark datasets.</a:t>
            </a:r>
          </a:p>
        </p:txBody>
      </p:sp>
      <p:sp>
        <p:nvSpPr>
          <p:cNvPr id="5" name="TextBox 4"/>
          <p:cNvSpPr txBox="1"/>
          <p:nvPr/>
        </p:nvSpPr>
        <p:spPr>
          <a:xfrm>
            <a:off x="10789920" y="6446520"/>
            <a:ext cx="914400" cy="228600"/>
          </a:xfrm>
          <a:prstGeom prst="rect">
            <a:avLst/>
          </a:prstGeom>
          <a:noFill/>
        </p:spPr>
        <p:txBody>
          <a:bodyPr wrap="none">
            <a:spAutoFit/>
          </a:bodyPr>
          <a:lstStyle/>
          <a:p>
            <a:pPr algn="r">
              <a:defRPr sz="1000">
                <a:solidFill>
                  <a:srgbClr val="697382"/>
                </a:solidFill>
              </a:defRPr>
            </a:pPr>
            <a: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272136"/>
            <a:ext cx="12191695" cy="1104687"/>
          </a:xfrm>
          <a:prstGeom prst="rect">
            <a:avLst/>
          </a:prstGeom>
          <a:solidFill>
            <a:srgbClr val="192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96685" y="532091"/>
            <a:ext cx="2906485" cy="584775"/>
          </a:xfrm>
          <a:prstGeom prst="rect">
            <a:avLst/>
          </a:prstGeom>
          <a:noFill/>
        </p:spPr>
        <p:txBody>
          <a:bodyPr wrap="square">
            <a:spAutoFit/>
          </a:bodyPr>
          <a:lstStyle/>
          <a:p>
            <a:pPr>
              <a:defRPr sz="2500" b="1">
                <a:solidFill>
                  <a:srgbClr val="FFFFFF"/>
                </a:solidFill>
              </a:defRPr>
            </a:pPr>
            <a:r>
              <a:rPr sz="3200" dirty="0"/>
              <a:t>2. Objectives</a:t>
            </a:r>
          </a:p>
        </p:txBody>
      </p:sp>
      <p:sp>
        <p:nvSpPr>
          <p:cNvPr id="4" name="TextBox 3"/>
          <p:cNvSpPr txBox="1"/>
          <p:nvPr/>
        </p:nvSpPr>
        <p:spPr>
          <a:xfrm>
            <a:off x="457200" y="2016905"/>
            <a:ext cx="10789920" cy="3539430"/>
          </a:xfrm>
          <a:prstGeom prst="rect">
            <a:avLst/>
          </a:prstGeom>
          <a:noFill/>
        </p:spPr>
        <p:txBody>
          <a:bodyPr wrap="square">
            <a:spAutoFit/>
          </a:bodyPr>
          <a:lstStyle/>
          <a:p>
            <a:pPr marL="457200" lvl="0" indent="-457200">
              <a:buFont typeface="Arial" panose="020B0604020202020204" pitchFamily="34" charset="0"/>
              <a:buChar char="•"/>
            </a:pPr>
            <a:r>
              <a:rPr lang="en-US" sz="2800" b="1" dirty="0"/>
              <a:t>To develop</a:t>
            </a:r>
            <a:r>
              <a:rPr lang="en-US" sz="2800" dirty="0"/>
              <a:t> machine learning models for analyzing and predicting outcomes from benchmark business datasets. </a:t>
            </a:r>
          </a:p>
          <a:p>
            <a:pPr marL="457200" lvl="0" indent="-457200">
              <a:buFont typeface="Arial" panose="020B0604020202020204" pitchFamily="34" charset="0"/>
              <a:buChar char="•"/>
            </a:pPr>
            <a:r>
              <a:rPr lang="en-US" sz="2800" b="1" dirty="0"/>
              <a:t>To integrate</a:t>
            </a:r>
            <a:r>
              <a:rPr lang="en-US" sz="2800" dirty="0"/>
              <a:t> SHAP and LIME techniques to provide clear and meaningful explanations of model predictions. </a:t>
            </a:r>
          </a:p>
          <a:p>
            <a:pPr marL="457200" lvl="0" indent="-457200">
              <a:buFont typeface="Arial" panose="020B0604020202020204" pitchFamily="34" charset="0"/>
              <a:buChar char="•"/>
            </a:pPr>
            <a:r>
              <a:rPr lang="en-US" sz="2800" b="1" dirty="0"/>
              <a:t>To enhance</a:t>
            </a:r>
            <a:r>
              <a:rPr lang="en-US" sz="2800" dirty="0"/>
              <a:t> model transparency and interpretability for better understanding of business-related predictions. </a:t>
            </a:r>
          </a:p>
          <a:p>
            <a:pPr marL="457200" lvl="0" indent="-457200">
              <a:buFont typeface="Arial" panose="020B0604020202020204" pitchFamily="34" charset="0"/>
              <a:buChar char="•"/>
            </a:pPr>
            <a:r>
              <a:rPr lang="en-US" sz="2800" b="1" dirty="0"/>
              <a:t>To evaluate</a:t>
            </a:r>
            <a:r>
              <a:rPr lang="en-US" sz="2800" dirty="0"/>
              <a:t> and compare model performance and explainability to identify the most effective approach. </a:t>
            </a:r>
          </a:p>
        </p:txBody>
      </p:sp>
      <p:sp>
        <p:nvSpPr>
          <p:cNvPr id="5" name="TextBox 4"/>
          <p:cNvSpPr txBox="1"/>
          <p:nvPr/>
        </p:nvSpPr>
        <p:spPr>
          <a:xfrm>
            <a:off x="10789920" y="6446520"/>
            <a:ext cx="914400" cy="228600"/>
          </a:xfrm>
          <a:prstGeom prst="rect">
            <a:avLst/>
          </a:prstGeom>
          <a:noFill/>
        </p:spPr>
        <p:txBody>
          <a:bodyPr wrap="none">
            <a:spAutoFit/>
          </a:bodyPr>
          <a:lstStyle/>
          <a:p>
            <a:pPr algn="r">
              <a:defRPr sz="1000">
                <a:solidFill>
                  <a:srgbClr val="697382"/>
                </a:solidFill>
              </a:defRPr>
            </a:pPr>
            <a: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05" y="182880"/>
            <a:ext cx="12191695" cy="1177834"/>
          </a:xfrm>
          <a:prstGeom prst="rect">
            <a:avLst/>
          </a:prstGeom>
          <a:solidFill>
            <a:srgbClr val="192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TextBox 2"/>
          <p:cNvSpPr txBox="1"/>
          <p:nvPr/>
        </p:nvSpPr>
        <p:spPr>
          <a:xfrm>
            <a:off x="707024" y="479409"/>
            <a:ext cx="5388976" cy="584775"/>
          </a:xfrm>
          <a:prstGeom prst="rect">
            <a:avLst/>
          </a:prstGeom>
          <a:noFill/>
        </p:spPr>
        <p:txBody>
          <a:bodyPr wrap="none">
            <a:spAutoFit/>
          </a:bodyPr>
          <a:lstStyle/>
          <a:p>
            <a:pPr>
              <a:defRPr sz="2500" b="1">
                <a:solidFill>
                  <a:srgbClr val="FFFFFF"/>
                </a:solidFill>
              </a:defRPr>
            </a:pPr>
            <a:r>
              <a:rPr sz="3200" dirty="0"/>
              <a:t>3. Dataset &amp; Analytics Pipeline</a:t>
            </a:r>
          </a:p>
        </p:txBody>
      </p:sp>
      <p:sp>
        <p:nvSpPr>
          <p:cNvPr id="4" name="TextBox 3"/>
          <p:cNvSpPr txBox="1"/>
          <p:nvPr/>
        </p:nvSpPr>
        <p:spPr>
          <a:xfrm>
            <a:off x="707024" y="2051732"/>
            <a:ext cx="10789920" cy="3718967"/>
          </a:xfrm>
          <a:prstGeom prst="rect">
            <a:avLst/>
          </a:prstGeom>
          <a:noFill/>
        </p:spPr>
        <p:txBody>
          <a:bodyPr wrap="square">
            <a:spAutoFit/>
          </a:bodyPr>
          <a:lstStyle/>
          <a:p>
            <a:r>
              <a:rPr sz="2800" dirty="0"/>
              <a:t>• </a:t>
            </a:r>
            <a:r>
              <a:rPr lang="en-US" b="1" dirty="0"/>
              <a:t> </a:t>
            </a:r>
            <a:r>
              <a:rPr lang="en-US" sz="2800" b="1" dirty="0"/>
              <a:t>UCI Bank Marketing Dataset (UCI Machine Learning Repository)</a:t>
            </a:r>
            <a:r>
              <a:rPr lang="en-US" sz="2800" dirty="0"/>
              <a:t>     </a:t>
            </a:r>
            <a:r>
              <a:rPr lang="en-US" sz="2800" u="sng" dirty="0">
                <a:hlinkClick r:id="rId2"/>
              </a:rPr>
              <a:t>https://archive.ics.uci.edu/dataset/222/bank%2Bmarketing</a:t>
            </a:r>
            <a:endParaRPr sz="2800" dirty="0"/>
          </a:p>
          <a:p>
            <a:r>
              <a:rPr sz="2800" dirty="0"/>
              <a:t>• </a:t>
            </a:r>
            <a:r>
              <a:rPr lang="en-US" sz="2800" b="1" dirty="0"/>
              <a:t>Telco Customer Churn Dataset for Customer Analytics</a:t>
            </a:r>
            <a:endParaRPr lang="en-US" sz="2800" dirty="0"/>
          </a:p>
          <a:p>
            <a:r>
              <a:rPr lang="en-US" sz="2800" u="sng" dirty="0">
                <a:hlinkClick r:id="rId3"/>
              </a:rPr>
              <a:t>https://www.kaggle.com/datasets/blastchar/telco-customer-churn/data?utm_source=</a:t>
            </a:r>
            <a:endParaRPr sz="2800" dirty="0"/>
          </a:p>
          <a:p>
            <a:pPr>
              <a:spcAft>
                <a:spcPts val="1400"/>
              </a:spcAft>
              <a:defRPr sz="1800">
                <a:solidFill>
                  <a:srgbClr val="232A34"/>
                </a:solidFill>
              </a:defRPr>
            </a:pPr>
            <a:r>
              <a:rPr sz="2800" dirty="0"/>
              <a:t>•</a:t>
            </a:r>
            <a:r>
              <a:rPr lang="en-US" sz="2800" b="1" dirty="0"/>
              <a:t>UCI Online Retail Dataset for E-commerce and customer transaction analytics  </a:t>
            </a:r>
            <a:r>
              <a:rPr lang="en-US" sz="2800" u="sng" dirty="0">
                <a:hlinkClick r:id="rId4"/>
              </a:rPr>
              <a:t>https://archive.ics.uci.edu/dataset/352/online-retail</a:t>
            </a:r>
            <a:endParaRPr lang="en-US" sz="2800" dirty="0"/>
          </a:p>
          <a:p>
            <a:pPr>
              <a:spcAft>
                <a:spcPts val="1400"/>
              </a:spcAft>
              <a:defRPr sz="1800">
                <a:solidFill>
                  <a:srgbClr val="232A34"/>
                </a:solidFill>
              </a:defRPr>
            </a:pPr>
            <a:endParaRPr sz="2800" dirty="0"/>
          </a:p>
        </p:txBody>
      </p:sp>
      <p:sp>
        <p:nvSpPr>
          <p:cNvPr id="5" name="TextBox 4"/>
          <p:cNvSpPr txBox="1"/>
          <p:nvPr/>
        </p:nvSpPr>
        <p:spPr>
          <a:xfrm>
            <a:off x="10789920" y="6446520"/>
            <a:ext cx="914400" cy="228600"/>
          </a:xfrm>
          <a:prstGeom prst="rect">
            <a:avLst/>
          </a:prstGeom>
          <a:noFill/>
        </p:spPr>
        <p:txBody>
          <a:bodyPr wrap="none">
            <a:spAutoFit/>
          </a:bodyPr>
          <a:lstStyle/>
          <a:p>
            <a:pPr algn="r">
              <a:defRPr sz="1000">
                <a:solidFill>
                  <a:srgbClr val="697382"/>
                </a:solidFill>
              </a:defRPr>
            </a:pPr>
            <a: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222069"/>
            <a:ext cx="12191695" cy="1149531"/>
          </a:xfrm>
          <a:prstGeom prst="rect">
            <a:avLst/>
          </a:prstGeom>
          <a:solidFill>
            <a:srgbClr val="192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504446"/>
            <a:ext cx="8424101" cy="584775"/>
          </a:xfrm>
          <a:prstGeom prst="rect">
            <a:avLst/>
          </a:prstGeom>
          <a:noFill/>
        </p:spPr>
        <p:txBody>
          <a:bodyPr wrap="none">
            <a:spAutoFit/>
          </a:bodyPr>
          <a:lstStyle/>
          <a:p>
            <a:pPr>
              <a:defRPr sz="2500" b="1">
                <a:solidFill>
                  <a:srgbClr val="FFFFFF"/>
                </a:solidFill>
              </a:defRPr>
            </a:pPr>
            <a:r>
              <a:rPr sz="3200" dirty="0"/>
              <a:t>4. Machine Learning &amp; Explainability Framework</a:t>
            </a:r>
          </a:p>
        </p:txBody>
      </p:sp>
      <p:sp>
        <p:nvSpPr>
          <p:cNvPr id="4" name="TextBox 3"/>
          <p:cNvSpPr txBox="1"/>
          <p:nvPr/>
        </p:nvSpPr>
        <p:spPr>
          <a:xfrm>
            <a:off x="477530" y="1778725"/>
            <a:ext cx="10789920" cy="4508927"/>
          </a:xfrm>
          <a:prstGeom prst="rect">
            <a:avLst/>
          </a:prstGeom>
          <a:noFill/>
        </p:spPr>
        <p:txBody>
          <a:bodyPr wrap="square">
            <a:spAutoFit/>
          </a:bodyPr>
          <a:lstStyle/>
          <a:p>
            <a:pPr>
              <a:spcAft>
                <a:spcPts val="1400"/>
              </a:spcAft>
              <a:defRPr sz="1800">
                <a:solidFill>
                  <a:srgbClr val="232A34"/>
                </a:solidFill>
              </a:defRPr>
            </a:pPr>
            <a:r>
              <a:rPr sz="2800" dirty="0"/>
              <a:t>•</a:t>
            </a:r>
            <a:r>
              <a:rPr dirty="0"/>
              <a:t> </a:t>
            </a:r>
            <a:r>
              <a:rPr sz="2800" dirty="0"/>
              <a:t>Preprocessing: data cleaning → missing-value handling → duplicate removal → encoding → scaling/normalization → train-test split.</a:t>
            </a:r>
          </a:p>
          <a:p>
            <a:pPr>
              <a:spcAft>
                <a:spcPts val="1400"/>
              </a:spcAft>
              <a:defRPr sz="1800">
                <a:solidFill>
                  <a:srgbClr val="232A34"/>
                </a:solidFill>
              </a:defRPr>
            </a:pPr>
            <a:r>
              <a:rPr sz="2800" dirty="0"/>
              <a:t>• ML Models: Logistic Regression, Decision Tree, Random Forest, </a:t>
            </a:r>
            <a:r>
              <a:rPr sz="2800" dirty="0" err="1"/>
              <a:t>XGBoost</a:t>
            </a:r>
            <a:r>
              <a:rPr sz="2800" dirty="0"/>
              <a:t> and </a:t>
            </a:r>
            <a:r>
              <a:rPr sz="2800" dirty="0" err="1"/>
              <a:t>CatBoost</a:t>
            </a:r>
            <a:r>
              <a:rPr sz="2800" dirty="0"/>
              <a:t>.</a:t>
            </a:r>
          </a:p>
          <a:p>
            <a:pPr>
              <a:spcAft>
                <a:spcPts val="1400"/>
              </a:spcAft>
              <a:defRPr sz="1800">
                <a:solidFill>
                  <a:srgbClr val="232A34"/>
                </a:solidFill>
              </a:defRPr>
            </a:pPr>
            <a:r>
              <a:rPr sz="2800" dirty="0"/>
              <a:t>• Explainability: SHAP</a:t>
            </a:r>
            <a:r>
              <a:rPr lang="en-US" sz="2800" dirty="0"/>
              <a:t>,</a:t>
            </a:r>
            <a:r>
              <a:rPr sz="2800" dirty="0"/>
              <a:t> LIME</a:t>
            </a:r>
            <a:r>
              <a:rPr lang="en-US" sz="2800" dirty="0"/>
              <a:t>, PDP, ICE Permutation Feature Importance </a:t>
            </a:r>
            <a:r>
              <a:rPr sz="2800" dirty="0"/>
              <a:t>with global and local explanations.</a:t>
            </a:r>
          </a:p>
          <a:p>
            <a:pPr>
              <a:spcAft>
                <a:spcPts val="1400"/>
              </a:spcAft>
              <a:defRPr sz="1800">
                <a:solidFill>
                  <a:srgbClr val="232A34"/>
                </a:solidFill>
              </a:defRPr>
            </a:pPr>
            <a:r>
              <a:rPr sz="2800" dirty="0"/>
              <a:t>• Visualization: heatmaps, boxplots, correlation matrix, feature-importance graphs, SHAP/LIME visualizations and an interactive dashboard.</a:t>
            </a:r>
          </a:p>
        </p:txBody>
      </p:sp>
      <p:sp>
        <p:nvSpPr>
          <p:cNvPr id="5" name="TextBox 4"/>
          <p:cNvSpPr txBox="1"/>
          <p:nvPr/>
        </p:nvSpPr>
        <p:spPr>
          <a:xfrm>
            <a:off x="10789920" y="6446520"/>
            <a:ext cx="914400" cy="228600"/>
          </a:xfrm>
          <a:prstGeom prst="rect">
            <a:avLst/>
          </a:prstGeom>
          <a:noFill/>
        </p:spPr>
        <p:txBody>
          <a:bodyPr wrap="none">
            <a:spAutoFit/>
          </a:bodyPr>
          <a:lstStyle/>
          <a:p>
            <a:pPr algn="r">
              <a:defRPr sz="1000">
                <a:solidFill>
                  <a:srgbClr val="697382"/>
                </a:solidFill>
              </a:defRPr>
            </a:pPr>
            <a: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182880"/>
            <a:ext cx="12191695" cy="683112"/>
          </a:xfrm>
          <a:prstGeom prst="rect">
            <a:avLst/>
          </a:prstGeom>
          <a:solidFill>
            <a:srgbClr val="192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32048"/>
            <a:ext cx="6091539" cy="584775"/>
          </a:xfrm>
          <a:prstGeom prst="rect">
            <a:avLst/>
          </a:prstGeom>
          <a:noFill/>
        </p:spPr>
        <p:txBody>
          <a:bodyPr wrap="none">
            <a:spAutoFit/>
          </a:bodyPr>
          <a:lstStyle/>
          <a:p>
            <a:pPr>
              <a:defRPr sz="2500" b="1">
                <a:solidFill>
                  <a:srgbClr val="FFFFFF"/>
                </a:solidFill>
              </a:defRPr>
            </a:pPr>
            <a:r>
              <a:rPr sz="3200" dirty="0"/>
              <a:t>5. Literature Survey – Papers 1 to 5</a:t>
            </a:r>
          </a:p>
        </p:txBody>
      </p:sp>
      <p:graphicFrame>
        <p:nvGraphicFramePr>
          <p:cNvPr id="4" name="Table 3"/>
          <p:cNvGraphicFramePr>
            <a:graphicFrameLocks noGrp="1"/>
          </p:cNvGraphicFramePr>
          <p:nvPr>
            <p:extLst>
              <p:ext uri="{D42A27DB-BD31-4B8C-83A1-F6EECF244321}">
                <p14:modId xmlns:p14="http://schemas.microsoft.com/office/powerpoint/2010/main" val="1950723714"/>
              </p:ext>
            </p:extLst>
          </p:nvPr>
        </p:nvGraphicFramePr>
        <p:xfrm>
          <a:off x="304404" y="1051560"/>
          <a:ext cx="11583191" cy="5686033"/>
        </p:xfrm>
        <a:graphic>
          <a:graphicData uri="http://schemas.openxmlformats.org/drawingml/2006/table">
            <a:tbl>
              <a:tblPr firstRow="1" bandRow="1">
                <a:tableStyleId>{5C22544A-7EE6-4342-B048-85BDC9FD1C3A}</a:tableStyleId>
              </a:tblPr>
              <a:tblGrid>
                <a:gridCol w="2931764">
                  <a:extLst>
                    <a:ext uri="{9D8B030D-6E8A-4147-A177-3AD203B41FA5}">
                      <a16:colId xmlns:a16="http://schemas.microsoft.com/office/drawing/2014/main" val="20000"/>
                    </a:ext>
                  </a:extLst>
                </a:gridCol>
                <a:gridCol w="2883809">
                  <a:extLst>
                    <a:ext uri="{9D8B030D-6E8A-4147-A177-3AD203B41FA5}">
                      <a16:colId xmlns:a16="http://schemas.microsoft.com/office/drawing/2014/main" val="20001"/>
                    </a:ext>
                  </a:extLst>
                </a:gridCol>
                <a:gridCol w="2883809">
                  <a:extLst>
                    <a:ext uri="{9D8B030D-6E8A-4147-A177-3AD203B41FA5}">
                      <a16:colId xmlns:a16="http://schemas.microsoft.com/office/drawing/2014/main" val="20002"/>
                    </a:ext>
                  </a:extLst>
                </a:gridCol>
                <a:gridCol w="2883809">
                  <a:extLst>
                    <a:ext uri="{9D8B030D-6E8A-4147-A177-3AD203B41FA5}">
                      <a16:colId xmlns:a16="http://schemas.microsoft.com/office/drawing/2014/main" val="20003"/>
                    </a:ext>
                  </a:extLst>
                </a:gridCol>
              </a:tblGrid>
              <a:tr h="656833">
                <a:tc>
                  <a:txBody>
                    <a:bodyPr/>
                    <a:lstStyle/>
                    <a:p>
                      <a:pPr>
                        <a:defRPr sz="1000" b="1">
                          <a:solidFill>
                            <a:srgbClr val="FFFFFF"/>
                          </a:solidFill>
                        </a:defRPr>
                      </a:pPr>
                      <a:r>
                        <a:rPr sz="1800" dirty="0"/>
                        <a:t>Paper</a:t>
                      </a:r>
                    </a:p>
                  </a:txBody>
                  <a:tcPr marL="54864" marR="54864" marT="36576" marB="36576">
                    <a:solidFill>
                      <a:srgbClr val="192646"/>
                    </a:solidFill>
                  </a:tcPr>
                </a:tc>
                <a:tc>
                  <a:txBody>
                    <a:bodyPr/>
                    <a:lstStyle/>
                    <a:p>
                      <a:pPr>
                        <a:defRPr sz="1000" b="1">
                          <a:solidFill>
                            <a:srgbClr val="FFFFFF"/>
                          </a:solidFill>
                        </a:defRPr>
                      </a:pPr>
                      <a:r>
                        <a:rPr sz="1800" dirty="0"/>
                        <a:t>Publication</a:t>
                      </a:r>
                    </a:p>
                  </a:txBody>
                  <a:tcPr marL="54864" marR="54864" marT="36576" marB="36576">
                    <a:solidFill>
                      <a:srgbClr val="192646"/>
                    </a:solidFill>
                  </a:tcPr>
                </a:tc>
                <a:tc>
                  <a:txBody>
                    <a:bodyPr/>
                    <a:lstStyle/>
                    <a:p>
                      <a:pPr>
                        <a:defRPr sz="1000" b="1">
                          <a:solidFill>
                            <a:srgbClr val="FFFFFF"/>
                          </a:solidFill>
                        </a:defRPr>
                      </a:pPr>
                      <a:r>
                        <a:rPr sz="1800" dirty="0"/>
                        <a:t>Key Contribution</a:t>
                      </a:r>
                    </a:p>
                  </a:txBody>
                  <a:tcPr marL="54864" marR="54864" marT="36576" marB="36576">
                    <a:solidFill>
                      <a:srgbClr val="192646"/>
                    </a:solidFill>
                  </a:tcPr>
                </a:tc>
                <a:tc>
                  <a:txBody>
                    <a:bodyPr/>
                    <a:lstStyle/>
                    <a:p>
                      <a:pPr>
                        <a:defRPr sz="1000" b="1">
                          <a:solidFill>
                            <a:srgbClr val="FFFFFF"/>
                          </a:solidFill>
                        </a:defRPr>
                      </a:pPr>
                      <a:r>
                        <a:rPr lang="en-US" sz="1800" dirty="0"/>
                        <a:t>Limitation</a:t>
                      </a:r>
                      <a:endParaRPr sz="1800" dirty="0"/>
                    </a:p>
                  </a:txBody>
                  <a:tcPr marL="54864" marR="54864" marT="36576" marB="36576">
                    <a:solidFill>
                      <a:srgbClr val="192646"/>
                    </a:solidFill>
                  </a:tcPr>
                </a:tc>
                <a:extLst>
                  <a:ext uri="{0D108BD9-81ED-4DB2-BD59-A6C34878D82A}">
                    <a16:rowId xmlns:a16="http://schemas.microsoft.com/office/drawing/2014/main" val="10000"/>
                  </a:ext>
                </a:extLst>
              </a:tr>
              <a:tr h="892802">
                <a:tc>
                  <a:txBody>
                    <a:bodyPr/>
                    <a:lstStyle/>
                    <a:p>
                      <a:pPr>
                        <a:defRPr sz="1000" b="0">
                          <a:solidFill>
                            <a:srgbClr val="232A34"/>
                          </a:solidFill>
                        </a:defRPr>
                      </a:pPr>
                      <a:r>
                        <a:rPr sz="1800" dirty="0"/>
                        <a:t>Model-Agnostic XAI Methods in Finance: Systematic Review</a:t>
                      </a:r>
                      <a:r>
                        <a:rPr lang="en-US" sz="1800" dirty="0"/>
                        <a:t>(2025)</a:t>
                      </a:r>
                      <a:endParaRPr sz="1800" dirty="0"/>
                    </a:p>
                  </a:txBody>
                  <a:tcPr marL="54864" marR="54864" marT="36576" marB="36576">
                    <a:solidFill>
                      <a:srgbClr val="F2F6FC"/>
                    </a:solidFill>
                  </a:tcPr>
                </a:tc>
                <a:tc>
                  <a:txBody>
                    <a:bodyPr/>
                    <a:lstStyle/>
                    <a:p>
                      <a:pPr>
                        <a:defRPr sz="1000" b="0">
                          <a:solidFill>
                            <a:srgbClr val="232A34"/>
                          </a:solidFill>
                        </a:defRPr>
                      </a:pPr>
                      <a:r>
                        <a:rPr sz="1800" dirty="0"/>
                        <a:t>Springer – AI Review</a:t>
                      </a:r>
                    </a:p>
                  </a:txBody>
                  <a:tcPr marL="54864" marR="54864" marT="36576" marB="36576">
                    <a:solidFill>
                      <a:srgbClr val="F2F6FC"/>
                    </a:solidFill>
                  </a:tcPr>
                </a:tc>
                <a:tc>
                  <a:txBody>
                    <a:bodyPr/>
                    <a:lstStyle/>
                    <a:p>
                      <a:pPr>
                        <a:defRPr sz="1000" b="0">
                          <a:solidFill>
                            <a:srgbClr val="232A34"/>
                          </a:solidFill>
                        </a:defRPr>
                      </a:pPr>
                      <a:r>
                        <a:rPr sz="1800" dirty="0"/>
                        <a:t>Reviews SHAP, LIME, PDP, counterfactuals and model-agnostic XAI.</a:t>
                      </a:r>
                    </a:p>
                  </a:txBody>
                  <a:tcPr marL="54864" marR="54864" marT="36576" marB="36576">
                    <a:solidFill>
                      <a:srgbClr val="F2F6FC"/>
                    </a:solidFill>
                  </a:tcPr>
                </a:tc>
                <a:tc>
                  <a:txBody>
                    <a:bodyPr/>
                    <a:lstStyle/>
                    <a:p>
                      <a:pPr>
                        <a:defRPr sz="1000" b="0">
                          <a:solidFill>
                            <a:srgbClr val="232A34"/>
                          </a:solidFill>
                        </a:defRPr>
                      </a:pPr>
                      <a:r>
                        <a:rPr lang="en-US" sz="1800" b="0" i="0" kern="1200" dirty="0">
                          <a:solidFill>
                            <a:schemeClr val="dk1"/>
                          </a:solidFill>
                          <a:effectLst/>
                          <a:latin typeface="+mn-lt"/>
                          <a:ea typeface="+mn-ea"/>
                          <a:cs typeface="+mn-cs"/>
                        </a:rPr>
                        <a:t>Lacks extensive real-world validation of XAI methods on diverse financial datasets.</a:t>
                      </a:r>
                      <a:endParaRPr sz="1800" dirty="0"/>
                    </a:p>
                  </a:txBody>
                  <a:tcPr marL="54864" marR="54864" marT="36576" marB="36576">
                    <a:solidFill>
                      <a:srgbClr val="F2F6FC"/>
                    </a:solidFill>
                  </a:tcPr>
                </a:tc>
                <a:extLst>
                  <a:ext uri="{0D108BD9-81ED-4DB2-BD59-A6C34878D82A}">
                    <a16:rowId xmlns:a16="http://schemas.microsoft.com/office/drawing/2014/main" val="10001"/>
                  </a:ext>
                </a:extLst>
              </a:tr>
              <a:tr h="892802">
                <a:tc>
                  <a:txBody>
                    <a:bodyPr/>
                    <a:lstStyle/>
                    <a:p>
                      <a:pPr>
                        <a:defRPr sz="1000" b="0">
                          <a:solidFill>
                            <a:srgbClr val="232A34"/>
                          </a:solidFill>
                        </a:defRPr>
                      </a:pPr>
                      <a:r>
                        <a:rPr sz="1800" dirty="0"/>
                        <a:t>A Comprehensive Review on Financial XAI</a:t>
                      </a:r>
                      <a:r>
                        <a:rPr lang="en-US" sz="1800" dirty="0"/>
                        <a:t>(2025)</a:t>
                      </a:r>
                      <a:endParaRPr sz="1800" dirty="0"/>
                    </a:p>
                  </a:txBody>
                  <a:tcPr marL="54864" marR="54864" marT="36576" marB="36576">
                    <a:solidFill>
                      <a:srgbClr val="FFFFFF"/>
                    </a:solidFill>
                  </a:tcPr>
                </a:tc>
                <a:tc>
                  <a:txBody>
                    <a:bodyPr/>
                    <a:lstStyle/>
                    <a:p>
                      <a:pPr>
                        <a:defRPr sz="1000" b="0">
                          <a:solidFill>
                            <a:srgbClr val="232A34"/>
                          </a:solidFill>
                        </a:defRPr>
                      </a:pPr>
                      <a:r>
                        <a:rPr sz="1800" dirty="0"/>
                        <a:t>Springer – AI Review</a:t>
                      </a:r>
                    </a:p>
                  </a:txBody>
                  <a:tcPr marL="54864" marR="54864" marT="36576" marB="36576">
                    <a:solidFill>
                      <a:srgbClr val="FFFFFF"/>
                    </a:solidFill>
                  </a:tcPr>
                </a:tc>
                <a:tc>
                  <a:txBody>
                    <a:bodyPr/>
                    <a:lstStyle/>
                    <a:p>
                      <a:pPr>
                        <a:defRPr sz="1000" b="0">
                          <a:solidFill>
                            <a:srgbClr val="232A34"/>
                          </a:solidFill>
                        </a:defRPr>
                      </a:pPr>
                      <a:r>
                        <a:rPr sz="1800" dirty="0"/>
                        <a:t>Reviews XAI techniques, applications and challenges in financial decisions.</a:t>
                      </a:r>
                    </a:p>
                  </a:txBody>
                  <a:tcPr marL="54864" marR="54864" marT="36576" marB="36576">
                    <a:solidFill>
                      <a:srgbClr val="FFFFFF"/>
                    </a:solidFill>
                  </a:tcPr>
                </a:tc>
                <a:tc>
                  <a:txBody>
                    <a:bodyPr/>
                    <a:lstStyle/>
                    <a:p>
                      <a:pPr>
                        <a:defRPr sz="1000" b="0">
                          <a:solidFill>
                            <a:srgbClr val="232A34"/>
                          </a:solidFill>
                        </a:defRPr>
                      </a:pPr>
                      <a:r>
                        <a:rPr lang="en-US" sz="1800" b="0" i="0" kern="1200" dirty="0">
                          <a:solidFill>
                            <a:schemeClr val="dk1"/>
                          </a:solidFill>
                          <a:effectLst/>
                          <a:latin typeface="+mn-lt"/>
                          <a:ea typeface="+mn-ea"/>
                          <a:cs typeface="+mn-cs"/>
                        </a:rPr>
                        <a:t>Does not propose a unified framework for improving financial XAI.</a:t>
                      </a:r>
                      <a:endParaRPr sz="1800" dirty="0"/>
                    </a:p>
                  </a:txBody>
                  <a:tcPr marL="54864" marR="54864" marT="36576" marB="36576">
                    <a:solidFill>
                      <a:srgbClr val="FFFFFF"/>
                    </a:solidFill>
                  </a:tcPr>
                </a:tc>
                <a:extLst>
                  <a:ext uri="{0D108BD9-81ED-4DB2-BD59-A6C34878D82A}">
                    <a16:rowId xmlns:a16="http://schemas.microsoft.com/office/drawing/2014/main" val="10002"/>
                  </a:ext>
                </a:extLst>
              </a:tr>
              <a:tr h="1166108">
                <a:tc>
                  <a:txBody>
                    <a:bodyPr/>
                    <a:lstStyle/>
                    <a:p>
                      <a:pPr>
                        <a:defRPr sz="1000" b="0">
                          <a:solidFill>
                            <a:srgbClr val="232A34"/>
                          </a:solidFill>
                        </a:defRPr>
                      </a:pPr>
                      <a:r>
                        <a:rPr sz="1800" dirty="0"/>
                        <a:t>XAI: Survey of Needs, Techniques, Applications &amp; Future Direction</a:t>
                      </a:r>
                      <a:r>
                        <a:rPr lang="en-US" sz="1800" dirty="0"/>
                        <a:t>(2024)</a:t>
                      </a:r>
                      <a:endParaRPr sz="1800" dirty="0"/>
                    </a:p>
                  </a:txBody>
                  <a:tcPr marL="54864" marR="54864" marT="36576" marB="36576">
                    <a:solidFill>
                      <a:srgbClr val="F2F6FC"/>
                    </a:solidFill>
                  </a:tcPr>
                </a:tc>
                <a:tc>
                  <a:txBody>
                    <a:bodyPr/>
                    <a:lstStyle/>
                    <a:p>
                      <a:pPr>
                        <a:defRPr sz="1000" b="0">
                          <a:solidFill>
                            <a:srgbClr val="232A34"/>
                          </a:solidFill>
                        </a:defRPr>
                      </a:pPr>
                      <a:r>
                        <a:rPr sz="1800" dirty="0"/>
                        <a:t>Survey/Review</a:t>
                      </a:r>
                    </a:p>
                  </a:txBody>
                  <a:tcPr marL="54864" marR="54864" marT="36576" marB="36576">
                    <a:solidFill>
                      <a:srgbClr val="F2F6FC"/>
                    </a:solidFill>
                  </a:tcPr>
                </a:tc>
                <a:tc>
                  <a:txBody>
                    <a:bodyPr/>
                    <a:lstStyle/>
                    <a:p>
                      <a:pPr>
                        <a:defRPr sz="1000" b="0">
                          <a:solidFill>
                            <a:srgbClr val="232A34"/>
                          </a:solidFill>
                        </a:defRPr>
                      </a:pPr>
                      <a:r>
                        <a:rPr sz="1800" dirty="0"/>
                        <a:t>Broad taxonomy of XAI methods, applications, requirements and future directions.</a:t>
                      </a:r>
                    </a:p>
                  </a:txBody>
                  <a:tcPr marL="54864" marR="54864" marT="36576" marB="36576">
                    <a:solidFill>
                      <a:srgbClr val="F2F6FC"/>
                    </a:solidFill>
                  </a:tcPr>
                </a:tc>
                <a:tc>
                  <a:txBody>
                    <a:bodyPr/>
                    <a:lstStyle/>
                    <a:p>
                      <a:pPr>
                        <a:defRPr sz="1000" b="0">
                          <a:solidFill>
                            <a:srgbClr val="232A34"/>
                          </a:solidFill>
                        </a:defRPr>
                      </a:pPr>
                      <a:r>
                        <a:rPr lang="en-US" sz="1800" b="0" i="0" kern="1200" dirty="0">
                          <a:solidFill>
                            <a:schemeClr val="dk1"/>
                          </a:solidFill>
                          <a:effectLst/>
                          <a:latin typeface="+mn-lt"/>
                          <a:ea typeface="+mn-ea"/>
                          <a:cs typeface="+mn-cs"/>
                        </a:rPr>
                        <a:t>Lacks standardized metrics for evaluating explanation quality.</a:t>
                      </a:r>
                      <a:endParaRPr sz="1800" dirty="0"/>
                    </a:p>
                  </a:txBody>
                  <a:tcPr marL="54864" marR="54864" marT="36576" marB="36576">
                    <a:solidFill>
                      <a:srgbClr val="F2F6FC"/>
                    </a:solidFill>
                  </a:tcPr>
                </a:tc>
                <a:extLst>
                  <a:ext uri="{0D108BD9-81ED-4DB2-BD59-A6C34878D82A}">
                    <a16:rowId xmlns:a16="http://schemas.microsoft.com/office/drawing/2014/main" val="10003"/>
                  </a:ext>
                </a:extLst>
              </a:tr>
              <a:tr h="892802">
                <a:tc>
                  <a:txBody>
                    <a:bodyPr/>
                    <a:lstStyle/>
                    <a:p>
                      <a:pPr>
                        <a:defRPr sz="1000" b="0">
                          <a:solidFill>
                            <a:srgbClr val="232A34"/>
                          </a:solidFill>
                        </a:defRPr>
                      </a:pPr>
                      <a:r>
                        <a:rPr sz="1800" dirty="0"/>
                        <a:t>XAI in Finance: A Systematic Literature Review</a:t>
                      </a:r>
                      <a:r>
                        <a:rPr lang="en-US" sz="1800" dirty="0"/>
                        <a:t>(2024)</a:t>
                      </a:r>
                      <a:endParaRPr sz="1800" dirty="0"/>
                    </a:p>
                  </a:txBody>
                  <a:tcPr marL="54864" marR="54864" marT="36576" marB="36576">
                    <a:solidFill>
                      <a:srgbClr val="FFFFFF"/>
                    </a:solidFill>
                  </a:tcPr>
                </a:tc>
                <a:tc>
                  <a:txBody>
                    <a:bodyPr/>
                    <a:lstStyle/>
                    <a:p>
                      <a:pPr>
                        <a:defRPr sz="1000" b="0">
                          <a:solidFill>
                            <a:srgbClr val="232A34"/>
                          </a:solidFill>
                        </a:defRPr>
                      </a:pPr>
                      <a:r>
                        <a:rPr sz="1800" dirty="0"/>
                        <a:t>Springer – AI Review</a:t>
                      </a:r>
                    </a:p>
                  </a:txBody>
                  <a:tcPr marL="54864" marR="54864" marT="36576" marB="36576">
                    <a:solidFill>
                      <a:srgbClr val="FFFFFF"/>
                    </a:solidFill>
                  </a:tcPr>
                </a:tc>
                <a:tc>
                  <a:txBody>
                    <a:bodyPr/>
                    <a:lstStyle/>
                    <a:p>
                      <a:pPr>
                        <a:defRPr sz="1000" b="0">
                          <a:solidFill>
                            <a:srgbClr val="232A34"/>
                          </a:solidFill>
                        </a:defRPr>
                      </a:pPr>
                      <a:r>
                        <a:rPr sz="1800" dirty="0"/>
                        <a:t>Reviews financial XAI applications and challenges in evaluating explanations.</a:t>
                      </a:r>
                    </a:p>
                  </a:txBody>
                  <a:tcPr marL="54864" marR="54864" marT="36576" marB="36576">
                    <a:solidFill>
                      <a:srgbClr val="FFFFFF"/>
                    </a:solidFill>
                  </a:tcPr>
                </a:tc>
                <a:tc>
                  <a:txBody>
                    <a:bodyPr/>
                    <a:lstStyle/>
                    <a:p>
                      <a:pPr>
                        <a:defRPr sz="1000" b="0">
                          <a:solidFill>
                            <a:srgbClr val="232A34"/>
                          </a:solidFill>
                        </a:defRPr>
                      </a:pPr>
                      <a:r>
                        <a:rPr lang="en-US" sz="1800" b="0" i="0" kern="1200" dirty="0">
                          <a:solidFill>
                            <a:schemeClr val="dk1"/>
                          </a:solidFill>
                          <a:effectLst/>
                          <a:latin typeface="+mn-lt"/>
                          <a:ea typeface="+mn-ea"/>
                          <a:cs typeface="+mn-cs"/>
                        </a:rPr>
                        <a:t>Does not fully resolve the trade-off between accuracy and interpretability.</a:t>
                      </a:r>
                      <a:endParaRPr sz="1800" dirty="0"/>
                    </a:p>
                  </a:txBody>
                  <a:tcPr marL="54864" marR="54864" marT="36576" marB="36576">
                    <a:solidFill>
                      <a:srgbClr val="FFFFFF"/>
                    </a:solidFill>
                  </a:tcPr>
                </a:tc>
                <a:extLst>
                  <a:ext uri="{0D108BD9-81ED-4DB2-BD59-A6C34878D82A}">
                    <a16:rowId xmlns:a16="http://schemas.microsoft.com/office/drawing/2014/main" val="10004"/>
                  </a:ext>
                </a:extLst>
              </a:tr>
              <a:tr h="1166108">
                <a:tc>
                  <a:txBody>
                    <a:bodyPr/>
                    <a:lstStyle/>
                    <a:p>
                      <a:pPr>
                        <a:defRPr sz="1000" b="0">
                          <a:solidFill>
                            <a:srgbClr val="232A34"/>
                          </a:solidFill>
                        </a:defRPr>
                      </a:pPr>
                      <a:r>
                        <a:rPr sz="1800" dirty="0"/>
                        <a:t>A Comprehensive Taxonomy for XAI</a:t>
                      </a:r>
                      <a:r>
                        <a:rPr lang="en-US" sz="1800" dirty="0"/>
                        <a:t>(2023/24)</a:t>
                      </a:r>
                      <a:endParaRPr sz="1800" dirty="0"/>
                    </a:p>
                  </a:txBody>
                  <a:tcPr marL="54864" marR="54864" marT="36576" marB="36576">
                    <a:solidFill>
                      <a:srgbClr val="F2F6FC"/>
                    </a:solidFill>
                  </a:tcPr>
                </a:tc>
                <a:tc>
                  <a:txBody>
                    <a:bodyPr/>
                    <a:lstStyle/>
                    <a:p>
                      <a:pPr>
                        <a:defRPr sz="1000" b="0">
                          <a:solidFill>
                            <a:srgbClr val="232A34"/>
                          </a:solidFill>
                        </a:defRPr>
                      </a:pPr>
                      <a:r>
                        <a:rPr sz="1800" dirty="0"/>
                        <a:t>Springer – DMKD</a:t>
                      </a:r>
                    </a:p>
                  </a:txBody>
                  <a:tcPr marL="54864" marR="54864" marT="36576" marB="36576">
                    <a:solidFill>
                      <a:srgbClr val="F2F6FC"/>
                    </a:solidFill>
                  </a:tcPr>
                </a:tc>
                <a:tc>
                  <a:txBody>
                    <a:bodyPr/>
                    <a:lstStyle/>
                    <a:p>
                      <a:pPr>
                        <a:defRPr sz="1000" b="0">
                          <a:solidFill>
                            <a:srgbClr val="232A34"/>
                          </a:solidFill>
                        </a:defRPr>
                      </a:pPr>
                      <a:r>
                        <a:rPr sz="1800" dirty="0"/>
                        <a:t>Taxonomy for classifying XAI methods and concepts.</a:t>
                      </a:r>
                    </a:p>
                  </a:txBody>
                  <a:tcPr marL="54864" marR="54864" marT="36576" marB="36576">
                    <a:solidFill>
                      <a:srgbClr val="F2F6FC"/>
                    </a:solidFill>
                  </a:tcPr>
                </a:tc>
                <a:tc>
                  <a:txBody>
                    <a:bodyPr/>
                    <a:lstStyle/>
                    <a:p>
                      <a:pPr>
                        <a:defRPr sz="1000" b="0">
                          <a:solidFill>
                            <a:srgbClr val="232A34"/>
                          </a:solidFill>
                        </a:defRPr>
                      </a:pPr>
                      <a:r>
                        <a:rPr lang="en-US" sz="1800" b="0" i="0" kern="1200" dirty="0">
                          <a:solidFill>
                            <a:schemeClr val="dk1"/>
                          </a:solidFill>
                          <a:effectLst/>
                          <a:latin typeface="+mn-lt"/>
                          <a:ea typeface="+mn-ea"/>
                          <a:cs typeface="+mn-cs"/>
                        </a:rPr>
                        <a:t>Provides classification of XAI methods but lacks practical implementation and evaluation.</a:t>
                      </a:r>
                      <a:endParaRPr sz="1800" dirty="0"/>
                    </a:p>
                  </a:txBody>
                  <a:tcPr marL="54864" marR="54864" marT="36576" marB="36576">
                    <a:solidFill>
                      <a:srgbClr val="F2F6FC"/>
                    </a:solidFill>
                  </a:tcPr>
                </a:tc>
                <a:extLst>
                  <a:ext uri="{0D108BD9-81ED-4DB2-BD59-A6C34878D82A}">
                    <a16:rowId xmlns:a16="http://schemas.microsoft.com/office/drawing/2014/main" val="10005"/>
                  </a:ext>
                </a:extLst>
              </a:tr>
            </a:tbl>
          </a:graphicData>
        </a:graphic>
      </p:graphicFrame>
      <p:sp>
        <p:nvSpPr>
          <p:cNvPr id="5" name="TextBox 4"/>
          <p:cNvSpPr txBox="1"/>
          <p:nvPr/>
        </p:nvSpPr>
        <p:spPr>
          <a:xfrm>
            <a:off x="10789920" y="6446520"/>
            <a:ext cx="914400" cy="228600"/>
          </a:xfrm>
          <a:prstGeom prst="rect">
            <a:avLst/>
          </a:prstGeom>
          <a:noFill/>
        </p:spPr>
        <p:txBody>
          <a:bodyPr wrap="none">
            <a:spAutoFit/>
          </a:bodyPr>
          <a:lstStyle/>
          <a:p>
            <a:pPr algn="r">
              <a:defRPr sz="1000">
                <a:solidFill>
                  <a:srgbClr val="697382"/>
                </a:solidFill>
              </a:defRPr>
            </a:pPr>
            <a: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142623"/>
            <a:ext cx="12191695" cy="648096"/>
          </a:xfrm>
          <a:prstGeom prst="rect">
            <a:avLst/>
          </a:prstGeom>
          <a:solidFill>
            <a:srgbClr val="192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5637" y="143781"/>
            <a:ext cx="6299930" cy="584775"/>
          </a:xfrm>
          <a:prstGeom prst="rect">
            <a:avLst/>
          </a:prstGeom>
          <a:noFill/>
        </p:spPr>
        <p:txBody>
          <a:bodyPr wrap="none">
            <a:spAutoFit/>
          </a:bodyPr>
          <a:lstStyle/>
          <a:p>
            <a:pPr>
              <a:defRPr sz="2500" b="1">
                <a:solidFill>
                  <a:srgbClr val="FFFFFF"/>
                </a:solidFill>
              </a:defRPr>
            </a:pPr>
            <a:r>
              <a:rPr sz="3200" dirty="0"/>
              <a:t>6. Literature Survey – Papers 6 to 10</a:t>
            </a:r>
          </a:p>
        </p:txBody>
      </p:sp>
      <p:graphicFrame>
        <p:nvGraphicFramePr>
          <p:cNvPr id="4" name="Table 3"/>
          <p:cNvGraphicFramePr>
            <a:graphicFrameLocks noGrp="1"/>
          </p:cNvGraphicFramePr>
          <p:nvPr>
            <p:extLst>
              <p:ext uri="{D42A27DB-BD31-4B8C-83A1-F6EECF244321}">
                <p14:modId xmlns:p14="http://schemas.microsoft.com/office/powerpoint/2010/main" val="1915853060"/>
              </p:ext>
            </p:extLst>
          </p:nvPr>
        </p:nvGraphicFramePr>
        <p:xfrm>
          <a:off x="335280" y="925019"/>
          <a:ext cx="11521440" cy="5623446"/>
        </p:xfrm>
        <a:graphic>
          <a:graphicData uri="http://schemas.openxmlformats.org/drawingml/2006/table">
            <a:tbl>
              <a:tblPr firstRow="1" bandRow="1">
                <a:tableStyleId>{5C22544A-7EE6-4342-B048-85BDC9FD1C3A}</a:tableStyleId>
              </a:tblPr>
              <a:tblGrid>
                <a:gridCol w="2880360">
                  <a:extLst>
                    <a:ext uri="{9D8B030D-6E8A-4147-A177-3AD203B41FA5}">
                      <a16:colId xmlns:a16="http://schemas.microsoft.com/office/drawing/2014/main" val="20000"/>
                    </a:ext>
                  </a:extLst>
                </a:gridCol>
                <a:gridCol w="2880360">
                  <a:extLst>
                    <a:ext uri="{9D8B030D-6E8A-4147-A177-3AD203B41FA5}">
                      <a16:colId xmlns:a16="http://schemas.microsoft.com/office/drawing/2014/main" val="20001"/>
                    </a:ext>
                  </a:extLst>
                </a:gridCol>
                <a:gridCol w="2880360">
                  <a:extLst>
                    <a:ext uri="{9D8B030D-6E8A-4147-A177-3AD203B41FA5}">
                      <a16:colId xmlns:a16="http://schemas.microsoft.com/office/drawing/2014/main" val="20002"/>
                    </a:ext>
                  </a:extLst>
                </a:gridCol>
                <a:gridCol w="2880360">
                  <a:extLst>
                    <a:ext uri="{9D8B030D-6E8A-4147-A177-3AD203B41FA5}">
                      <a16:colId xmlns:a16="http://schemas.microsoft.com/office/drawing/2014/main" val="20003"/>
                    </a:ext>
                  </a:extLst>
                </a:gridCol>
              </a:tblGrid>
              <a:tr h="618492">
                <a:tc>
                  <a:txBody>
                    <a:bodyPr/>
                    <a:lstStyle/>
                    <a:p>
                      <a:pPr>
                        <a:defRPr sz="1000" b="1">
                          <a:solidFill>
                            <a:srgbClr val="FFFFFF"/>
                          </a:solidFill>
                        </a:defRPr>
                      </a:pPr>
                      <a:r>
                        <a:rPr sz="1800"/>
                        <a:t>Paper</a:t>
                      </a:r>
                    </a:p>
                  </a:txBody>
                  <a:tcPr marL="54864" marR="54864" marT="36576" marB="36576">
                    <a:solidFill>
                      <a:srgbClr val="192646"/>
                    </a:solidFill>
                  </a:tcPr>
                </a:tc>
                <a:tc>
                  <a:txBody>
                    <a:bodyPr/>
                    <a:lstStyle/>
                    <a:p>
                      <a:pPr>
                        <a:defRPr sz="1000" b="1">
                          <a:solidFill>
                            <a:srgbClr val="FFFFFF"/>
                          </a:solidFill>
                        </a:defRPr>
                      </a:pPr>
                      <a:r>
                        <a:rPr sz="1800" dirty="0"/>
                        <a:t>Publication</a:t>
                      </a:r>
                    </a:p>
                  </a:txBody>
                  <a:tcPr marL="54864" marR="54864" marT="36576" marB="36576">
                    <a:solidFill>
                      <a:srgbClr val="192646"/>
                    </a:solidFill>
                  </a:tcPr>
                </a:tc>
                <a:tc>
                  <a:txBody>
                    <a:bodyPr/>
                    <a:lstStyle/>
                    <a:p>
                      <a:pPr>
                        <a:defRPr sz="1000" b="1">
                          <a:solidFill>
                            <a:srgbClr val="FFFFFF"/>
                          </a:solidFill>
                        </a:defRPr>
                      </a:pPr>
                      <a:r>
                        <a:rPr sz="1800" dirty="0"/>
                        <a:t>Key Contribution</a:t>
                      </a:r>
                    </a:p>
                  </a:txBody>
                  <a:tcPr marL="54864" marR="54864" marT="36576" marB="36576">
                    <a:solidFill>
                      <a:srgbClr val="192646"/>
                    </a:solidFill>
                  </a:tcPr>
                </a:tc>
                <a:tc>
                  <a:txBody>
                    <a:bodyPr/>
                    <a:lstStyle/>
                    <a:p>
                      <a:pPr>
                        <a:defRPr sz="1000" b="1">
                          <a:solidFill>
                            <a:srgbClr val="FFFFFF"/>
                          </a:solidFill>
                        </a:defRPr>
                      </a:pPr>
                      <a:r>
                        <a:rPr lang="en-US" sz="1800" dirty="0"/>
                        <a:t>Limitation</a:t>
                      </a:r>
                      <a:endParaRPr sz="1800" dirty="0"/>
                    </a:p>
                  </a:txBody>
                  <a:tcPr marL="54864" marR="54864" marT="36576" marB="36576">
                    <a:solidFill>
                      <a:srgbClr val="192646"/>
                    </a:solidFill>
                  </a:tcPr>
                </a:tc>
                <a:extLst>
                  <a:ext uri="{0D108BD9-81ED-4DB2-BD59-A6C34878D82A}">
                    <a16:rowId xmlns:a16="http://schemas.microsoft.com/office/drawing/2014/main" val="10000"/>
                  </a:ext>
                </a:extLst>
              </a:tr>
              <a:tr h="1139623">
                <a:tc>
                  <a:txBody>
                    <a:bodyPr/>
                    <a:lstStyle/>
                    <a:p>
                      <a:pPr>
                        <a:defRPr sz="1000" b="0">
                          <a:solidFill>
                            <a:srgbClr val="232A34"/>
                          </a:solidFill>
                        </a:defRPr>
                      </a:pPr>
                      <a:r>
                        <a:rPr sz="1600" dirty="0"/>
                        <a:t>Interpreting Black-Box Models: A Review on XAI</a:t>
                      </a:r>
                      <a:r>
                        <a:rPr lang="en-US" sz="1600" dirty="0"/>
                        <a:t>(2024)</a:t>
                      </a:r>
                      <a:endParaRPr sz="1600" dirty="0"/>
                    </a:p>
                  </a:txBody>
                  <a:tcPr marL="54864" marR="54864" marT="36576" marB="36576">
                    <a:solidFill>
                      <a:srgbClr val="F2F6FC"/>
                    </a:solidFill>
                  </a:tcPr>
                </a:tc>
                <a:tc>
                  <a:txBody>
                    <a:bodyPr/>
                    <a:lstStyle/>
                    <a:p>
                      <a:pPr>
                        <a:defRPr sz="1000" b="0">
                          <a:solidFill>
                            <a:srgbClr val="232A34"/>
                          </a:solidFill>
                        </a:defRPr>
                      </a:pPr>
                      <a:r>
                        <a:rPr sz="1600" dirty="0"/>
                        <a:t>Springer – Cognitive Computation</a:t>
                      </a:r>
                    </a:p>
                  </a:txBody>
                  <a:tcPr marL="54864" marR="54864" marT="36576" marB="36576">
                    <a:solidFill>
                      <a:srgbClr val="F2F6FC"/>
                    </a:solidFill>
                  </a:tcPr>
                </a:tc>
                <a:tc>
                  <a:txBody>
                    <a:bodyPr/>
                    <a:lstStyle/>
                    <a:p>
                      <a:pPr>
                        <a:defRPr sz="1000" b="0">
                          <a:solidFill>
                            <a:srgbClr val="232A34"/>
                          </a:solidFill>
                        </a:defRPr>
                      </a:pPr>
                      <a:r>
                        <a:rPr sz="1600"/>
                        <a:t>Reviews black-box interpretation techniques and their strengths/limitations.</a:t>
                      </a:r>
                    </a:p>
                  </a:txBody>
                  <a:tcPr marL="54864" marR="54864" marT="36576" marB="36576">
                    <a:solidFill>
                      <a:srgbClr val="F2F6FC"/>
                    </a:solidFill>
                  </a:tcPr>
                </a:tc>
                <a:tc>
                  <a:txBody>
                    <a:bodyPr/>
                    <a:lstStyle/>
                    <a:p>
                      <a:pPr>
                        <a:defRPr sz="1000" b="0">
                          <a:solidFill>
                            <a:srgbClr val="232A34"/>
                          </a:solidFill>
                        </a:defRPr>
                      </a:pPr>
                      <a:r>
                        <a:rPr lang="en-US" sz="1600" b="0" i="0" kern="1200" dirty="0">
                          <a:solidFill>
                            <a:schemeClr val="dk1"/>
                          </a:solidFill>
                          <a:effectLst/>
                          <a:latin typeface="+mn-lt"/>
                          <a:ea typeface="+mn-ea"/>
                          <a:cs typeface="+mn-cs"/>
                        </a:rPr>
                        <a:t>Explanation reliability and consistency across black-box models remain challenging.</a:t>
                      </a:r>
                      <a:endParaRPr sz="1600" dirty="0"/>
                    </a:p>
                  </a:txBody>
                  <a:tcPr marL="54864" marR="54864" marT="36576" marB="36576">
                    <a:solidFill>
                      <a:srgbClr val="F2F6FC"/>
                    </a:solidFill>
                  </a:tcPr>
                </a:tc>
                <a:extLst>
                  <a:ext uri="{0D108BD9-81ED-4DB2-BD59-A6C34878D82A}">
                    <a16:rowId xmlns:a16="http://schemas.microsoft.com/office/drawing/2014/main" val="10001"/>
                  </a:ext>
                </a:extLst>
              </a:tr>
              <a:tr h="1139623">
                <a:tc>
                  <a:txBody>
                    <a:bodyPr/>
                    <a:lstStyle/>
                    <a:p>
                      <a:pPr>
                        <a:defRPr sz="1000" b="0">
                          <a:solidFill>
                            <a:srgbClr val="232A34"/>
                          </a:solidFill>
                        </a:defRPr>
                      </a:pPr>
                      <a:r>
                        <a:rPr sz="1600" dirty="0"/>
                        <a:t>Transformative Impact of XAI: Bridging Complexity and Trust</a:t>
                      </a:r>
                      <a:r>
                        <a:rPr lang="en-US" sz="1600" dirty="0"/>
                        <a:t>(2025)</a:t>
                      </a:r>
                      <a:endParaRPr sz="1600" dirty="0"/>
                    </a:p>
                  </a:txBody>
                  <a:tcPr marL="54864" marR="54864" marT="36576" marB="36576">
                    <a:solidFill>
                      <a:srgbClr val="FFFFFF"/>
                    </a:solidFill>
                  </a:tcPr>
                </a:tc>
                <a:tc>
                  <a:txBody>
                    <a:bodyPr/>
                    <a:lstStyle/>
                    <a:p>
                      <a:pPr>
                        <a:defRPr sz="1000" b="0">
                          <a:solidFill>
                            <a:srgbClr val="232A34"/>
                          </a:solidFill>
                        </a:defRPr>
                      </a:pPr>
                      <a:r>
                        <a:rPr sz="1600"/>
                        <a:t>Springer – Discover AI</a:t>
                      </a:r>
                    </a:p>
                  </a:txBody>
                  <a:tcPr marL="54864" marR="54864" marT="36576" marB="36576">
                    <a:solidFill>
                      <a:srgbClr val="FFFFFF"/>
                    </a:solidFill>
                  </a:tcPr>
                </a:tc>
                <a:tc>
                  <a:txBody>
                    <a:bodyPr/>
                    <a:lstStyle/>
                    <a:p>
                      <a:pPr>
                        <a:defRPr sz="1000" b="0">
                          <a:solidFill>
                            <a:srgbClr val="232A34"/>
                          </a:solidFill>
                        </a:defRPr>
                      </a:pPr>
                      <a:r>
                        <a:rPr sz="1600"/>
                        <a:t>Reviews model-specific, model-agnostic and hybrid XAI; discusses accuracy–interpretability trade-off.</a:t>
                      </a:r>
                    </a:p>
                  </a:txBody>
                  <a:tcPr marL="54864" marR="54864" marT="36576" marB="36576">
                    <a:solidFill>
                      <a:srgbClr val="FFFFFF"/>
                    </a:solidFill>
                  </a:tcPr>
                </a:tc>
                <a:tc>
                  <a:txBody>
                    <a:bodyPr/>
                    <a:lstStyle/>
                    <a:p>
                      <a:pPr>
                        <a:defRPr sz="1000" b="0">
                          <a:solidFill>
                            <a:srgbClr val="232A34"/>
                          </a:solidFill>
                        </a:defRPr>
                      </a:pPr>
                      <a:r>
                        <a:rPr lang="en-US" sz="1600" b="0" i="0" kern="1200" dirty="0">
                          <a:solidFill>
                            <a:schemeClr val="dk1"/>
                          </a:solidFill>
                          <a:effectLst/>
                          <a:latin typeface="+mn-lt"/>
                          <a:ea typeface="+mn-ea"/>
                          <a:cs typeface="+mn-cs"/>
                        </a:rPr>
                        <a:t>Limited real-world evidence on whether XAI explanations consistently improve user trust.</a:t>
                      </a:r>
                      <a:endParaRPr sz="1600" dirty="0"/>
                    </a:p>
                  </a:txBody>
                  <a:tcPr marL="54864" marR="54864" marT="36576" marB="36576">
                    <a:solidFill>
                      <a:srgbClr val="FFFFFF"/>
                    </a:solidFill>
                  </a:tcPr>
                </a:tc>
                <a:extLst>
                  <a:ext uri="{0D108BD9-81ED-4DB2-BD59-A6C34878D82A}">
                    <a16:rowId xmlns:a16="http://schemas.microsoft.com/office/drawing/2014/main" val="10002"/>
                  </a:ext>
                </a:extLst>
              </a:tr>
              <a:tr h="872524">
                <a:tc>
                  <a:txBody>
                    <a:bodyPr/>
                    <a:lstStyle/>
                    <a:p>
                      <a:pPr>
                        <a:defRPr sz="1000" b="0">
                          <a:solidFill>
                            <a:srgbClr val="232A34"/>
                          </a:solidFill>
                        </a:defRPr>
                      </a:pPr>
                      <a:r>
                        <a:rPr sz="1600" dirty="0"/>
                        <a:t>Review of Evaluation Approaches for XAI</a:t>
                      </a:r>
                      <a:r>
                        <a:rPr lang="en-US" sz="1600" dirty="0"/>
                        <a:t>(2024)</a:t>
                      </a:r>
                      <a:endParaRPr sz="1600" dirty="0"/>
                    </a:p>
                  </a:txBody>
                  <a:tcPr marL="54864" marR="54864" marT="36576" marB="36576">
                    <a:solidFill>
                      <a:srgbClr val="F2F6FC"/>
                    </a:solidFill>
                  </a:tcPr>
                </a:tc>
                <a:tc>
                  <a:txBody>
                    <a:bodyPr/>
                    <a:lstStyle/>
                    <a:p>
                      <a:pPr>
                        <a:defRPr sz="1000" b="0">
                          <a:solidFill>
                            <a:srgbClr val="232A34"/>
                          </a:solidFill>
                        </a:defRPr>
                      </a:pPr>
                      <a:r>
                        <a:rPr sz="1600"/>
                        <a:t>Springer – AI Review</a:t>
                      </a:r>
                    </a:p>
                  </a:txBody>
                  <a:tcPr marL="54864" marR="54864" marT="36576" marB="36576">
                    <a:solidFill>
                      <a:srgbClr val="F2F6FC"/>
                    </a:solidFill>
                  </a:tcPr>
                </a:tc>
                <a:tc>
                  <a:txBody>
                    <a:bodyPr/>
                    <a:lstStyle/>
                    <a:p>
                      <a:pPr>
                        <a:defRPr sz="1000" b="0">
                          <a:solidFill>
                            <a:srgbClr val="232A34"/>
                          </a:solidFill>
                        </a:defRPr>
                      </a:pPr>
                      <a:r>
                        <a:rPr sz="1600"/>
                        <a:t>Examines XAI evaluation and highlights lack of systematic evaluation.</a:t>
                      </a:r>
                    </a:p>
                  </a:txBody>
                  <a:tcPr marL="54864" marR="54864" marT="36576" marB="36576">
                    <a:solidFill>
                      <a:srgbClr val="F2F6FC"/>
                    </a:solidFill>
                  </a:tcPr>
                </a:tc>
                <a:tc>
                  <a:txBody>
                    <a:bodyPr/>
                    <a:lstStyle/>
                    <a:p>
                      <a:pPr>
                        <a:defRPr sz="1000" b="0">
                          <a:solidFill>
                            <a:srgbClr val="232A34"/>
                          </a:solidFill>
                        </a:defRPr>
                      </a:pPr>
                      <a:r>
                        <a:rPr lang="en-US" sz="1600" b="0" i="0" kern="1200" dirty="0">
                          <a:solidFill>
                            <a:schemeClr val="dk1"/>
                          </a:solidFill>
                          <a:effectLst/>
                          <a:latin typeface="+mn-lt"/>
                          <a:ea typeface="+mn-ea"/>
                          <a:cs typeface="+mn-cs"/>
                        </a:rPr>
                        <a:t>Lack of universally accepted standards for evaluating XAI explanations.</a:t>
                      </a:r>
                      <a:endParaRPr sz="1600" dirty="0"/>
                    </a:p>
                  </a:txBody>
                  <a:tcPr marL="54864" marR="54864" marT="36576" marB="36576">
                    <a:solidFill>
                      <a:srgbClr val="F2F6FC"/>
                    </a:solidFill>
                  </a:tcPr>
                </a:tc>
                <a:extLst>
                  <a:ext uri="{0D108BD9-81ED-4DB2-BD59-A6C34878D82A}">
                    <a16:rowId xmlns:a16="http://schemas.microsoft.com/office/drawing/2014/main" val="10003"/>
                  </a:ext>
                </a:extLst>
              </a:tr>
              <a:tr h="618492">
                <a:tc>
                  <a:txBody>
                    <a:bodyPr/>
                    <a:lstStyle/>
                    <a:p>
                      <a:pPr>
                        <a:defRPr sz="1000" b="0">
                          <a:solidFill>
                            <a:srgbClr val="232A34"/>
                          </a:solidFill>
                        </a:defRPr>
                      </a:pPr>
                      <a:r>
                        <a:rPr sz="1600" dirty="0"/>
                        <a:t>Privacy-Preserving XAI: A Survey</a:t>
                      </a:r>
                      <a:r>
                        <a:rPr lang="en-US" sz="1600" dirty="0"/>
                        <a:t>(2024/25)</a:t>
                      </a:r>
                      <a:endParaRPr sz="1600" dirty="0"/>
                    </a:p>
                  </a:txBody>
                  <a:tcPr marL="54864" marR="54864" marT="36576" marB="36576">
                    <a:solidFill>
                      <a:srgbClr val="FFFFFF"/>
                    </a:solidFill>
                  </a:tcPr>
                </a:tc>
                <a:tc>
                  <a:txBody>
                    <a:bodyPr/>
                    <a:lstStyle/>
                    <a:p>
                      <a:pPr>
                        <a:defRPr sz="1000" b="0">
                          <a:solidFill>
                            <a:srgbClr val="232A34"/>
                          </a:solidFill>
                        </a:defRPr>
                      </a:pPr>
                      <a:r>
                        <a:rPr sz="1600"/>
                        <a:t>Springer – SCIS</a:t>
                      </a:r>
                    </a:p>
                  </a:txBody>
                  <a:tcPr marL="54864" marR="54864" marT="36576" marB="36576">
                    <a:solidFill>
                      <a:srgbClr val="FFFFFF"/>
                    </a:solidFill>
                  </a:tcPr>
                </a:tc>
                <a:tc>
                  <a:txBody>
                    <a:bodyPr/>
                    <a:lstStyle/>
                    <a:p>
                      <a:pPr>
                        <a:defRPr sz="1000" b="0">
                          <a:solidFill>
                            <a:srgbClr val="232A34"/>
                          </a:solidFill>
                        </a:defRPr>
                      </a:pPr>
                      <a:r>
                        <a:rPr sz="1600"/>
                        <a:t>Reviews XAI methods with privacy challenges.</a:t>
                      </a:r>
                    </a:p>
                  </a:txBody>
                  <a:tcPr marL="54864" marR="54864" marT="36576" marB="36576">
                    <a:solidFill>
                      <a:srgbClr val="FFFFFF"/>
                    </a:solidFill>
                  </a:tcPr>
                </a:tc>
                <a:tc>
                  <a:txBody>
                    <a:bodyPr/>
                    <a:lstStyle/>
                    <a:p>
                      <a:pPr>
                        <a:defRPr sz="1000" b="0">
                          <a:solidFill>
                            <a:srgbClr val="232A34"/>
                          </a:solidFill>
                        </a:defRPr>
                      </a:pPr>
                      <a:r>
                        <a:rPr lang="en-US" sz="1600" b="0" i="0" kern="1200" dirty="0">
                          <a:solidFill>
                            <a:schemeClr val="dk1"/>
                          </a:solidFill>
                          <a:effectLst/>
                          <a:latin typeface="+mn-lt"/>
                          <a:ea typeface="+mn-ea"/>
                          <a:cs typeface="+mn-cs"/>
                        </a:rPr>
                        <a:t>Balancing privacy protection with explanation accuracy and usefulness remains difficult.</a:t>
                      </a:r>
                      <a:endParaRPr sz="1600" dirty="0"/>
                    </a:p>
                  </a:txBody>
                  <a:tcPr marL="54864" marR="54864" marT="36576" marB="36576">
                    <a:solidFill>
                      <a:srgbClr val="FFFFFF"/>
                    </a:solidFill>
                  </a:tcPr>
                </a:tc>
                <a:extLst>
                  <a:ext uri="{0D108BD9-81ED-4DB2-BD59-A6C34878D82A}">
                    <a16:rowId xmlns:a16="http://schemas.microsoft.com/office/drawing/2014/main" val="10004"/>
                  </a:ext>
                </a:extLst>
              </a:tr>
              <a:tr h="872524">
                <a:tc>
                  <a:txBody>
                    <a:bodyPr/>
                    <a:lstStyle/>
                    <a:p>
                      <a:pPr>
                        <a:defRPr sz="1000" b="0">
                          <a:solidFill>
                            <a:srgbClr val="232A34"/>
                          </a:solidFill>
                        </a:defRPr>
                      </a:pPr>
                      <a:r>
                        <a:rPr sz="1600" dirty="0"/>
                        <a:t>User-Centered XAI Design Guidelines: Systematic Literature Review</a:t>
                      </a:r>
                      <a:r>
                        <a:rPr lang="en-US" sz="1600" dirty="0"/>
                        <a:t>(2025)</a:t>
                      </a:r>
                      <a:endParaRPr sz="1600" dirty="0"/>
                    </a:p>
                  </a:txBody>
                  <a:tcPr marL="54864" marR="54864" marT="36576" marB="36576">
                    <a:solidFill>
                      <a:srgbClr val="F2F6FC"/>
                    </a:solidFill>
                  </a:tcPr>
                </a:tc>
                <a:tc>
                  <a:txBody>
                    <a:bodyPr/>
                    <a:lstStyle/>
                    <a:p>
                      <a:pPr>
                        <a:defRPr sz="1000" b="0">
                          <a:solidFill>
                            <a:srgbClr val="232A34"/>
                          </a:solidFill>
                        </a:defRPr>
                      </a:pPr>
                      <a:r>
                        <a:rPr sz="1600" dirty="0"/>
                        <a:t>Springer – AI Review</a:t>
                      </a:r>
                    </a:p>
                  </a:txBody>
                  <a:tcPr marL="54864" marR="54864" marT="36576" marB="36576">
                    <a:solidFill>
                      <a:srgbClr val="F2F6FC"/>
                    </a:solidFill>
                  </a:tcPr>
                </a:tc>
                <a:tc>
                  <a:txBody>
                    <a:bodyPr/>
                    <a:lstStyle/>
                    <a:p>
                      <a:pPr>
                        <a:defRPr sz="1000" b="0">
                          <a:solidFill>
                            <a:srgbClr val="232A34"/>
                          </a:solidFill>
                        </a:defRPr>
                      </a:pPr>
                      <a:r>
                        <a:rPr sz="1600" dirty="0"/>
                        <a:t>Reviews factors affecting explanation usefulness and user trust.</a:t>
                      </a:r>
                    </a:p>
                  </a:txBody>
                  <a:tcPr marL="54864" marR="54864" marT="36576" marB="36576">
                    <a:solidFill>
                      <a:srgbClr val="F2F6FC"/>
                    </a:solidFill>
                  </a:tcPr>
                </a:tc>
                <a:tc>
                  <a:txBody>
                    <a:bodyPr/>
                    <a:lstStyle/>
                    <a:p>
                      <a:pPr>
                        <a:defRPr sz="1000" b="0">
                          <a:solidFill>
                            <a:srgbClr val="232A34"/>
                          </a:solidFill>
                        </a:defRPr>
                      </a:pPr>
                      <a:r>
                        <a:rPr lang="en-US" sz="1600" b="0" i="0" kern="1200" dirty="0">
                          <a:solidFill>
                            <a:schemeClr val="dk1"/>
                          </a:solidFill>
                          <a:effectLst/>
                          <a:latin typeface="+mn-lt"/>
                          <a:ea typeface="+mn-ea"/>
                          <a:cs typeface="+mn-cs"/>
                        </a:rPr>
                        <a:t>Limited evidence on the effectiveness of user-centered explanations across different user groups.</a:t>
                      </a:r>
                      <a:endParaRPr sz="1600" dirty="0"/>
                    </a:p>
                  </a:txBody>
                  <a:tcPr marL="54864" marR="54864" marT="36576" marB="36576">
                    <a:solidFill>
                      <a:srgbClr val="F2F6FC"/>
                    </a:solidFill>
                  </a:tcPr>
                </a:tc>
                <a:extLst>
                  <a:ext uri="{0D108BD9-81ED-4DB2-BD59-A6C34878D82A}">
                    <a16:rowId xmlns:a16="http://schemas.microsoft.com/office/drawing/2014/main" val="10005"/>
                  </a:ext>
                </a:extLst>
              </a:tr>
            </a:tbl>
          </a:graphicData>
        </a:graphic>
      </p:graphicFrame>
      <p:sp>
        <p:nvSpPr>
          <p:cNvPr id="5" name="TextBox 4"/>
          <p:cNvSpPr txBox="1"/>
          <p:nvPr/>
        </p:nvSpPr>
        <p:spPr>
          <a:xfrm>
            <a:off x="10789920" y="6446520"/>
            <a:ext cx="914400" cy="228600"/>
          </a:xfrm>
          <a:prstGeom prst="rect">
            <a:avLst/>
          </a:prstGeom>
          <a:noFill/>
        </p:spPr>
        <p:txBody>
          <a:bodyPr wrap="none">
            <a:spAutoFit/>
          </a:bodyPr>
          <a:lstStyle/>
          <a:p>
            <a:pPr algn="r">
              <a:defRPr sz="1000">
                <a:solidFill>
                  <a:srgbClr val="697382"/>
                </a:solidFill>
              </a:defRPr>
            </a:pPr>
            <a: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05" y="308468"/>
            <a:ext cx="12191695" cy="1034143"/>
          </a:xfrm>
          <a:prstGeom prst="rect">
            <a:avLst/>
          </a:prstGeom>
          <a:solidFill>
            <a:srgbClr val="192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TextBox 2"/>
          <p:cNvSpPr txBox="1"/>
          <p:nvPr/>
        </p:nvSpPr>
        <p:spPr>
          <a:xfrm>
            <a:off x="685800" y="556935"/>
            <a:ext cx="5276381" cy="584775"/>
          </a:xfrm>
          <a:prstGeom prst="rect">
            <a:avLst/>
          </a:prstGeom>
          <a:noFill/>
        </p:spPr>
        <p:txBody>
          <a:bodyPr wrap="none">
            <a:spAutoFit/>
          </a:bodyPr>
          <a:lstStyle/>
          <a:p>
            <a:pPr>
              <a:defRPr sz="2500" b="1">
                <a:solidFill>
                  <a:srgbClr val="FFFFFF"/>
                </a:solidFill>
              </a:defRPr>
            </a:pPr>
            <a:r>
              <a:rPr sz="3200" dirty="0"/>
              <a:t>7. Research Gap Identification</a:t>
            </a:r>
          </a:p>
        </p:txBody>
      </p:sp>
      <p:sp>
        <p:nvSpPr>
          <p:cNvPr id="4" name="TextBox 3"/>
          <p:cNvSpPr txBox="1"/>
          <p:nvPr/>
        </p:nvSpPr>
        <p:spPr>
          <a:xfrm>
            <a:off x="359229" y="1467596"/>
            <a:ext cx="10789920" cy="5119350"/>
          </a:xfrm>
          <a:prstGeom prst="rect">
            <a:avLst/>
          </a:prstGeom>
          <a:noFill/>
        </p:spPr>
        <p:txBody>
          <a:bodyPr wrap="square">
            <a:spAutoFit/>
          </a:bodyPr>
          <a:lstStyle/>
          <a:p>
            <a:pPr>
              <a:spcAft>
                <a:spcPts val="1400"/>
              </a:spcAft>
              <a:defRPr sz="1700">
                <a:solidFill>
                  <a:srgbClr val="232A34"/>
                </a:solidFill>
              </a:defRPr>
            </a:pPr>
            <a:r>
              <a:rPr sz="2800" dirty="0"/>
              <a:t>• No universally best XAI method: performance depends on the ML model and business problem.</a:t>
            </a:r>
          </a:p>
          <a:p>
            <a:pPr>
              <a:spcAft>
                <a:spcPts val="1400"/>
              </a:spcAft>
              <a:defRPr sz="1700">
                <a:solidFill>
                  <a:srgbClr val="232A34"/>
                </a:solidFill>
              </a:defRPr>
            </a:pPr>
            <a:r>
              <a:rPr sz="2800" dirty="0"/>
              <a:t>• Limited direct comparison: many studies focus on individual XAI techniques or specific domains.</a:t>
            </a:r>
          </a:p>
          <a:p>
            <a:pPr>
              <a:spcAft>
                <a:spcPts val="1400"/>
              </a:spcAft>
              <a:defRPr sz="1700">
                <a:solidFill>
                  <a:srgbClr val="232A34"/>
                </a:solidFill>
              </a:defRPr>
            </a:pPr>
            <a:r>
              <a:rPr sz="2800" dirty="0"/>
              <a:t>• Incomplete evaluation: interpretability, consistency, computational cost and explanation quality are not always evaluated together.</a:t>
            </a:r>
          </a:p>
          <a:p>
            <a:pPr>
              <a:spcAft>
                <a:spcPts val="1400"/>
              </a:spcAft>
              <a:defRPr sz="1700">
                <a:solidFill>
                  <a:srgbClr val="232A34"/>
                </a:solidFill>
              </a:defRPr>
            </a:pPr>
            <a:r>
              <a:rPr sz="2800" dirty="0"/>
              <a:t>• Business-specific gap: much recent XAI research is concentrated on healthcare and finance.</a:t>
            </a:r>
          </a:p>
          <a:p>
            <a:pPr>
              <a:spcAft>
                <a:spcPts val="1400"/>
              </a:spcAft>
              <a:defRPr sz="1700">
                <a:solidFill>
                  <a:srgbClr val="232A34"/>
                </a:solidFill>
              </a:defRPr>
            </a:pPr>
            <a:r>
              <a:rPr sz="2800" dirty="0"/>
              <a:t>• User perspective: an explanation is not necessarily understandable or useful to business users.</a:t>
            </a:r>
          </a:p>
        </p:txBody>
      </p:sp>
      <p:sp>
        <p:nvSpPr>
          <p:cNvPr id="5" name="TextBox 4"/>
          <p:cNvSpPr txBox="1"/>
          <p:nvPr/>
        </p:nvSpPr>
        <p:spPr>
          <a:xfrm>
            <a:off x="10789920" y="6446520"/>
            <a:ext cx="914400" cy="228600"/>
          </a:xfrm>
          <a:prstGeom prst="rect">
            <a:avLst/>
          </a:prstGeom>
          <a:noFill/>
        </p:spPr>
        <p:txBody>
          <a:bodyPr wrap="none">
            <a:spAutoFit/>
          </a:bodyPr>
          <a:lstStyle/>
          <a:p>
            <a:pPr algn="r">
              <a:defRPr sz="1000">
                <a:solidFill>
                  <a:srgbClr val="697382"/>
                </a:solidFill>
              </a:defRPr>
            </a:pPr>
            <a: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0632" y="324611"/>
            <a:ext cx="12191695" cy="1051560"/>
          </a:xfrm>
          <a:prstGeom prst="rect">
            <a:avLst/>
          </a:prstGeom>
          <a:solidFill>
            <a:srgbClr val="192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606009"/>
            <a:ext cx="6923049" cy="584775"/>
          </a:xfrm>
          <a:prstGeom prst="rect">
            <a:avLst/>
          </a:prstGeom>
          <a:noFill/>
        </p:spPr>
        <p:txBody>
          <a:bodyPr wrap="none">
            <a:spAutoFit/>
          </a:bodyPr>
          <a:lstStyle/>
          <a:p>
            <a:pPr>
              <a:defRPr sz="2500" b="1">
                <a:solidFill>
                  <a:srgbClr val="FFFFFF"/>
                </a:solidFill>
              </a:defRPr>
            </a:pPr>
            <a:r>
              <a:rPr sz="3200" dirty="0"/>
              <a:t>8. Proposed Research Gap &amp; Innovation</a:t>
            </a:r>
          </a:p>
        </p:txBody>
      </p:sp>
      <p:sp>
        <p:nvSpPr>
          <p:cNvPr id="4" name="Rounded Rectangle 3"/>
          <p:cNvSpPr/>
          <p:nvPr/>
        </p:nvSpPr>
        <p:spPr>
          <a:xfrm>
            <a:off x="594360" y="1604770"/>
            <a:ext cx="10881360" cy="1673863"/>
          </a:xfrm>
          <a:prstGeom prst="roundRect">
            <a:avLst/>
          </a:prstGeom>
          <a:solidFill>
            <a:srgbClr val="F2F6FC"/>
          </a:solidFill>
          <a:ln>
            <a:solidFill>
              <a:srgbClr val="2D63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54379" y="1749203"/>
            <a:ext cx="10744200" cy="1384995"/>
          </a:xfrm>
          <a:prstGeom prst="rect">
            <a:avLst/>
          </a:prstGeom>
          <a:noFill/>
        </p:spPr>
        <p:txBody>
          <a:bodyPr wrap="square">
            <a:spAutoFit/>
          </a:bodyPr>
          <a:lstStyle/>
          <a:p>
            <a:pPr>
              <a:defRPr sz="2000" b="1">
                <a:solidFill>
                  <a:srgbClr val="2D63B4"/>
                </a:solidFill>
              </a:defRPr>
            </a:pPr>
            <a:r>
              <a:rPr sz="2400" dirty="0"/>
              <a:t>Research Gap</a:t>
            </a:r>
          </a:p>
          <a:p>
            <a:pPr>
              <a:defRPr sz="1600">
                <a:solidFill>
                  <a:srgbClr val="232A34"/>
                </a:solidFill>
              </a:defRPr>
            </a:pPr>
            <a:r>
              <a:rPr lang="en-US" sz="2000" dirty="0"/>
              <a:t>Existing studies have limited unified evaluation of ML models and XAI techniques across multiple business datasets, particularly considering </a:t>
            </a:r>
            <a:r>
              <a:rPr lang="en-US" sz="2000" b="1" dirty="0"/>
              <a:t>explanation fidelity, sparsity, interpretability, and computational efficiency</a:t>
            </a:r>
            <a:r>
              <a:rPr lang="en-US" sz="2000" dirty="0"/>
              <a:t> along with predictive performance.</a:t>
            </a:r>
            <a:endParaRPr sz="2000" dirty="0"/>
          </a:p>
        </p:txBody>
      </p:sp>
      <p:sp>
        <p:nvSpPr>
          <p:cNvPr id="6" name="TextBox 5"/>
          <p:cNvSpPr txBox="1"/>
          <p:nvPr/>
        </p:nvSpPr>
        <p:spPr>
          <a:xfrm>
            <a:off x="548640" y="3443466"/>
            <a:ext cx="10698480" cy="2923877"/>
          </a:xfrm>
          <a:prstGeom prst="rect">
            <a:avLst/>
          </a:prstGeom>
          <a:noFill/>
        </p:spPr>
        <p:txBody>
          <a:bodyPr wrap="square">
            <a:spAutoFit/>
          </a:bodyPr>
          <a:lstStyle/>
          <a:p>
            <a:pPr lvl="0"/>
            <a:r>
              <a:rPr lang="en-US" sz="2400" b="1" dirty="0"/>
              <a:t>Innovation:</a:t>
            </a:r>
          </a:p>
          <a:p>
            <a:r>
              <a:rPr lang="en-US" sz="2000" dirty="0"/>
              <a:t>• </a:t>
            </a:r>
            <a:r>
              <a:rPr lang="en-US" sz="2000" b="1" dirty="0"/>
              <a:t>To develop</a:t>
            </a:r>
            <a:r>
              <a:rPr lang="en-US" sz="2000" dirty="0"/>
              <a:t> a common framework to compare multiple ML models with XAI techniques across benchmark business datasets.</a:t>
            </a:r>
          </a:p>
          <a:p>
            <a:r>
              <a:rPr lang="en-US" sz="2000" dirty="0"/>
              <a:t>• </a:t>
            </a:r>
            <a:r>
              <a:rPr lang="en-US" sz="2000" b="1" dirty="0"/>
              <a:t>To integrate</a:t>
            </a:r>
            <a:r>
              <a:rPr lang="en-US" sz="2000" dirty="0"/>
              <a:t> fidelity and sparsity measures to assess the reliability, simplicity, and quality of model explanations.</a:t>
            </a:r>
          </a:p>
          <a:p>
            <a:r>
              <a:rPr lang="en-US" sz="2000" dirty="0"/>
              <a:t>• </a:t>
            </a:r>
            <a:r>
              <a:rPr lang="en-US" sz="2000" b="1" dirty="0"/>
              <a:t>To enhance</a:t>
            </a:r>
            <a:r>
              <a:rPr lang="en-US" sz="2000" dirty="0"/>
              <a:t> business decision-making by analyzing the accuracy, fidelity, sparsity, interpretability computational effectiveness.</a:t>
            </a:r>
          </a:p>
          <a:p>
            <a:r>
              <a:rPr lang="en-US" sz="2000" dirty="0"/>
              <a:t>• </a:t>
            </a:r>
            <a:r>
              <a:rPr lang="en-US" sz="2000" b="1" dirty="0"/>
              <a:t>To evaluate</a:t>
            </a:r>
            <a:r>
              <a:rPr lang="en-US" sz="2000" dirty="0"/>
              <a:t> different ML–XAI combinations and recommend the most suitable approach based on prediction performance, fidelity, and sparsity.</a:t>
            </a:r>
          </a:p>
        </p:txBody>
      </p:sp>
      <p:sp>
        <p:nvSpPr>
          <p:cNvPr id="7" name="TextBox 6"/>
          <p:cNvSpPr txBox="1"/>
          <p:nvPr/>
        </p:nvSpPr>
        <p:spPr>
          <a:xfrm>
            <a:off x="10789920" y="6446520"/>
            <a:ext cx="914400" cy="228600"/>
          </a:xfrm>
          <a:prstGeom prst="rect">
            <a:avLst/>
          </a:prstGeom>
          <a:noFill/>
        </p:spPr>
        <p:txBody>
          <a:bodyPr wrap="none">
            <a:spAutoFit/>
          </a:bodyPr>
          <a:lstStyle/>
          <a:p>
            <a:pPr algn="r">
              <a:defRPr sz="1000">
                <a:solidFill>
                  <a:srgbClr val="697382"/>
                </a:solidFill>
              </a:defRPr>
            </a:pPr>
            <a: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15088" y="313508"/>
            <a:ext cx="12191695" cy="1110343"/>
          </a:xfrm>
          <a:prstGeom prst="rect">
            <a:avLst/>
          </a:prstGeom>
          <a:solidFill>
            <a:srgbClr val="192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586525"/>
            <a:ext cx="2310633" cy="584775"/>
          </a:xfrm>
          <a:prstGeom prst="rect">
            <a:avLst/>
          </a:prstGeom>
          <a:noFill/>
        </p:spPr>
        <p:txBody>
          <a:bodyPr wrap="none">
            <a:spAutoFit/>
          </a:bodyPr>
          <a:lstStyle/>
          <a:p>
            <a:pPr>
              <a:defRPr sz="2500" b="1">
                <a:solidFill>
                  <a:srgbClr val="FFFFFF"/>
                </a:solidFill>
              </a:defRPr>
            </a:pPr>
            <a:r>
              <a:rPr sz="3200" dirty="0"/>
              <a:t>9. Feasibility</a:t>
            </a:r>
          </a:p>
        </p:txBody>
      </p:sp>
      <p:sp>
        <p:nvSpPr>
          <p:cNvPr id="4" name="TextBox 3"/>
          <p:cNvSpPr txBox="1"/>
          <p:nvPr/>
        </p:nvSpPr>
        <p:spPr>
          <a:xfrm>
            <a:off x="293914" y="1696868"/>
            <a:ext cx="10789920" cy="4078039"/>
          </a:xfrm>
          <a:prstGeom prst="rect">
            <a:avLst/>
          </a:prstGeom>
          <a:noFill/>
        </p:spPr>
        <p:txBody>
          <a:bodyPr wrap="square">
            <a:spAutoFit/>
          </a:bodyPr>
          <a:lstStyle/>
          <a:p>
            <a:pPr>
              <a:spcAft>
                <a:spcPts val="1400"/>
              </a:spcAft>
              <a:defRPr sz="1900">
                <a:solidFill>
                  <a:srgbClr val="232A34"/>
                </a:solidFill>
              </a:defRPr>
            </a:pPr>
            <a:r>
              <a:rPr sz="2800" dirty="0"/>
              <a:t>• Technical Feasibility: Python, Scikit-learn, </a:t>
            </a:r>
            <a:r>
              <a:rPr sz="2800" dirty="0" err="1"/>
              <a:t>XGBoost</a:t>
            </a:r>
            <a:r>
              <a:rPr sz="2800" dirty="0"/>
              <a:t>, SHAP, LIME, Pandas and Matplotlib/Seaborn.</a:t>
            </a:r>
          </a:p>
          <a:p>
            <a:pPr>
              <a:spcAft>
                <a:spcPts val="1400"/>
              </a:spcAft>
              <a:defRPr sz="1900">
                <a:solidFill>
                  <a:srgbClr val="232A34"/>
                </a:solidFill>
              </a:defRPr>
            </a:pPr>
            <a:r>
              <a:rPr sz="2800" dirty="0"/>
              <a:t>• Data Feasibility: public benchmark educational/business analytics datasets are available.</a:t>
            </a:r>
          </a:p>
          <a:p>
            <a:pPr>
              <a:spcAft>
                <a:spcPts val="1400"/>
              </a:spcAft>
              <a:defRPr sz="1900">
                <a:solidFill>
                  <a:srgbClr val="232A34"/>
                </a:solidFill>
              </a:defRPr>
            </a:pPr>
            <a:r>
              <a:rPr sz="2800" dirty="0"/>
              <a:t>• Economic Feasibility: open-source software and public datasets keep development cost minimal.</a:t>
            </a:r>
          </a:p>
          <a:p>
            <a:pPr>
              <a:spcAft>
                <a:spcPts val="1400"/>
              </a:spcAft>
              <a:defRPr sz="1900">
                <a:solidFill>
                  <a:srgbClr val="232A34"/>
                </a:solidFill>
              </a:defRPr>
            </a:pPr>
            <a:r>
              <a:rPr sz="2800" dirty="0"/>
              <a:t>• Time Feasibility: literature → preprocessing → ML models → XAI → comparison → evaluation.</a:t>
            </a:r>
          </a:p>
        </p:txBody>
      </p:sp>
      <p:sp>
        <p:nvSpPr>
          <p:cNvPr id="5" name="TextBox 4"/>
          <p:cNvSpPr txBox="1"/>
          <p:nvPr/>
        </p:nvSpPr>
        <p:spPr>
          <a:xfrm>
            <a:off x="10789920" y="6446520"/>
            <a:ext cx="914400" cy="228600"/>
          </a:xfrm>
          <a:prstGeom prst="rect">
            <a:avLst/>
          </a:prstGeom>
          <a:noFill/>
        </p:spPr>
        <p:txBody>
          <a:bodyPr wrap="none">
            <a:spAutoFit/>
          </a:bodyPr>
          <a:lstStyle/>
          <a:p>
            <a:pPr algn="r">
              <a:defRPr sz="1000">
                <a:solidFill>
                  <a:srgbClr val="697382"/>
                </a:solidFill>
              </a:defRPr>
            </a:pPr>
            <a: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05" y="245798"/>
            <a:ext cx="12191695" cy="1143000"/>
          </a:xfrm>
          <a:prstGeom prst="rect">
            <a:avLst/>
          </a:prstGeom>
          <a:solidFill>
            <a:srgbClr val="192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11777" y="461992"/>
            <a:ext cx="2842253" cy="584775"/>
          </a:xfrm>
          <a:prstGeom prst="rect">
            <a:avLst/>
          </a:prstGeom>
          <a:noFill/>
        </p:spPr>
        <p:txBody>
          <a:bodyPr wrap="none">
            <a:spAutoFit/>
          </a:bodyPr>
          <a:lstStyle/>
          <a:p>
            <a:pPr>
              <a:defRPr sz="2500" b="1">
                <a:solidFill>
                  <a:srgbClr val="FFFFFF"/>
                </a:solidFill>
              </a:defRPr>
            </a:pPr>
            <a:r>
              <a:rPr sz="3200" dirty="0"/>
              <a:t>10. Project Plan</a:t>
            </a:r>
          </a:p>
        </p:txBody>
      </p:sp>
      <p:graphicFrame>
        <p:nvGraphicFramePr>
          <p:cNvPr id="4" name="Table 3"/>
          <p:cNvGraphicFramePr>
            <a:graphicFrameLocks noGrp="1"/>
          </p:cNvGraphicFramePr>
          <p:nvPr>
            <p:extLst>
              <p:ext uri="{D42A27DB-BD31-4B8C-83A1-F6EECF244321}">
                <p14:modId xmlns:p14="http://schemas.microsoft.com/office/powerpoint/2010/main" val="738691331"/>
              </p:ext>
            </p:extLst>
          </p:nvPr>
        </p:nvGraphicFramePr>
        <p:xfrm>
          <a:off x="611777" y="1730828"/>
          <a:ext cx="10635344" cy="4490790"/>
        </p:xfrm>
        <a:graphic>
          <a:graphicData uri="http://schemas.openxmlformats.org/drawingml/2006/table">
            <a:tbl>
              <a:tblPr firstRow="1" bandRow="1">
                <a:tableStyleId>{5C22544A-7EE6-4342-B048-85BDC9FD1C3A}</a:tableStyleId>
              </a:tblPr>
              <a:tblGrid>
                <a:gridCol w="5317672">
                  <a:extLst>
                    <a:ext uri="{9D8B030D-6E8A-4147-A177-3AD203B41FA5}">
                      <a16:colId xmlns:a16="http://schemas.microsoft.com/office/drawing/2014/main" val="20000"/>
                    </a:ext>
                  </a:extLst>
                </a:gridCol>
                <a:gridCol w="5317672">
                  <a:extLst>
                    <a:ext uri="{9D8B030D-6E8A-4147-A177-3AD203B41FA5}">
                      <a16:colId xmlns:a16="http://schemas.microsoft.com/office/drawing/2014/main" val="20001"/>
                    </a:ext>
                  </a:extLst>
                </a:gridCol>
              </a:tblGrid>
              <a:tr h="520881">
                <a:tc>
                  <a:txBody>
                    <a:bodyPr/>
                    <a:lstStyle/>
                    <a:p>
                      <a:pPr>
                        <a:defRPr sz="1400" b="1">
                          <a:solidFill>
                            <a:srgbClr val="FFFFFF"/>
                          </a:solidFill>
                        </a:defRPr>
                      </a:pPr>
                      <a:r>
                        <a:rPr sz="2000"/>
                        <a:t>Phase</a:t>
                      </a:r>
                    </a:p>
                  </a:txBody>
                  <a:tcPr marL="54864" marR="54864" marT="36576" marB="36576">
                    <a:solidFill>
                      <a:srgbClr val="192646"/>
                    </a:solidFill>
                  </a:tcPr>
                </a:tc>
                <a:tc>
                  <a:txBody>
                    <a:bodyPr/>
                    <a:lstStyle/>
                    <a:p>
                      <a:pPr>
                        <a:defRPr sz="1400" b="1">
                          <a:solidFill>
                            <a:srgbClr val="FFFFFF"/>
                          </a:solidFill>
                        </a:defRPr>
                      </a:pPr>
                      <a:r>
                        <a:rPr sz="2000"/>
                        <a:t>Planned Work</a:t>
                      </a:r>
                    </a:p>
                  </a:txBody>
                  <a:tcPr marL="54864" marR="54864" marT="36576" marB="36576">
                    <a:solidFill>
                      <a:srgbClr val="192646"/>
                    </a:solidFill>
                  </a:tcPr>
                </a:tc>
                <a:extLst>
                  <a:ext uri="{0D108BD9-81ED-4DB2-BD59-A6C34878D82A}">
                    <a16:rowId xmlns:a16="http://schemas.microsoft.com/office/drawing/2014/main" val="10000"/>
                  </a:ext>
                </a:extLst>
              </a:tr>
              <a:tr h="520881">
                <a:tc>
                  <a:txBody>
                    <a:bodyPr/>
                    <a:lstStyle/>
                    <a:p>
                      <a:pPr>
                        <a:defRPr sz="1400" b="0">
                          <a:solidFill>
                            <a:srgbClr val="232A34"/>
                          </a:solidFill>
                        </a:defRPr>
                      </a:pPr>
                      <a:r>
                        <a:rPr sz="2000"/>
                        <a:t>1</a:t>
                      </a:r>
                    </a:p>
                  </a:txBody>
                  <a:tcPr marL="54864" marR="54864" marT="36576" marB="36576">
                    <a:solidFill>
                      <a:srgbClr val="F2F6FC"/>
                    </a:solidFill>
                  </a:tcPr>
                </a:tc>
                <a:tc>
                  <a:txBody>
                    <a:bodyPr/>
                    <a:lstStyle/>
                    <a:p>
                      <a:pPr>
                        <a:defRPr sz="1400" b="0">
                          <a:solidFill>
                            <a:srgbClr val="232A34"/>
                          </a:solidFill>
                        </a:defRPr>
                      </a:pPr>
                      <a:r>
                        <a:rPr sz="2000"/>
                        <a:t>Literature survey and research-gap identification</a:t>
                      </a:r>
                    </a:p>
                  </a:txBody>
                  <a:tcPr marL="54864" marR="54864" marT="36576" marB="36576">
                    <a:solidFill>
                      <a:srgbClr val="F2F6FC"/>
                    </a:solidFill>
                  </a:tcPr>
                </a:tc>
                <a:extLst>
                  <a:ext uri="{0D108BD9-81ED-4DB2-BD59-A6C34878D82A}">
                    <a16:rowId xmlns:a16="http://schemas.microsoft.com/office/drawing/2014/main" val="10001"/>
                  </a:ext>
                </a:extLst>
              </a:tr>
              <a:tr h="520881">
                <a:tc>
                  <a:txBody>
                    <a:bodyPr/>
                    <a:lstStyle/>
                    <a:p>
                      <a:pPr>
                        <a:defRPr sz="1400" b="0">
                          <a:solidFill>
                            <a:srgbClr val="232A34"/>
                          </a:solidFill>
                        </a:defRPr>
                      </a:pPr>
                      <a:r>
                        <a:rPr sz="2000"/>
                        <a:t>2</a:t>
                      </a:r>
                    </a:p>
                  </a:txBody>
                  <a:tcPr marL="54864" marR="54864" marT="36576" marB="36576">
                    <a:solidFill>
                      <a:srgbClr val="FFFFFF"/>
                    </a:solidFill>
                  </a:tcPr>
                </a:tc>
                <a:tc>
                  <a:txBody>
                    <a:bodyPr/>
                    <a:lstStyle/>
                    <a:p>
                      <a:pPr>
                        <a:defRPr sz="1400" b="0">
                          <a:solidFill>
                            <a:srgbClr val="232A34"/>
                          </a:solidFill>
                        </a:defRPr>
                      </a:pPr>
                      <a:r>
                        <a:rPr sz="2000"/>
                        <a:t>Dataset collection and preprocessing</a:t>
                      </a:r>
                    </a:p>
                  </a:txBody>
                  <a:tcPr marL="54864" marR="54864" marT="36576" marB="36576">
                    <a:solidFill>
                      <a:srgbClr val="FFFFFF"/>
                    </a:solidFill>
                  </a:tcPr>
                </a:tc>
                <a:extLst>
                  <a:ext uri="{0D108BD9-81ED-4DB2-BD59-A6C34878D82A}">
                    <a16:rowId xmlns:a16="http://schemas.microsoft.com/office/drawing/2014/main" val="10002"/>
                  </a:ext>
                </a:extLst>
              </a:tr>
              <a:tr h="520881">
                <a:tc>
                  <a:txBody>
                    <a:bodyPr/>
                    <a:lstStyle/>
                    <a:p>
                      <a:pPr>
                        <a:defRPr sz="1400" b="0">
                          <a:solidFill>
                            <a:srgbClr val="232A34"/>
                          </a:solidFill>
                        </a:defRPr>
                      </a:pPr>
                      <a:r>
                        <a:rPr sz="2000"/>
                        <a:t>3</a:t>
                      </a:r>
                    </a:p>
                  </a:txBody>
                  <a:tcPr marL="54864" marR="54864" marT="36576" marB="36576">
                    <a:solidFill>
                      <a:srgbClr val="F2F6FC"/>
                    </a:solidFill>
                  </a:tcPr>
                </a:tc>
                <a:tc>
                  <a:txBody>
                    <a:bodyPr/>
                    <a:lstStyle/>
                    <a:p>
                      <a:pPr>
                        <a:defRPr sz="1400" b="0">
                          <a:solidFill>
                            <a:srgbClr val="232A34"/>
                          </a:solidFill>
                        </a:defRPr>
                      </a:pPr>
                      <a:r>
                        <a:rPr sz="2000"/>
                        <a:t>Implementation of ML models</a:t>
                      </a:r>
                    </a:p>
                  </a:txBody>
                  <a:tcPr marL="54864" marR="54864" marT="36576" marB="36576">
                    <a:solidFill>
                      <a:srgbClr val="F2F6FC"/>
                    </a:solidFill>
                  </a:tcPr>
                </a:tc>
                <a:extLst>
                  <a:ext uri="{0D108BD9-81ED-4DB2-BD59-A6C34878D82A}">
                    <a16:rowId xmlns:a16="http://schemas.microsoft.com/office/drawing/2014/main" val="10003"/>
                  </a:ext>
                </a:extLst>
              </a:tr>
              <a:tr h="520881">
                <a:tc>
                  <a:txBody>
                    <a:bodyPr/>
                    <a:lstStyle/>
                    <a:p>
                      <a:pPr>
                        <a:defRPr sz="1400" b="0">
                          <a:solidFill>
                            <a:srgbClr val="232A34"/>
                          </a:solidFill>
                        </a:defRPr>
                      </a:pPr>
                      <a:r>
                        <a:rPr sz="2000" dirty="0"/>
                        <a:t>4</a:t>
                      </a:r>
                    </a:p>
                  </a:txBody>
                  <a:tcPr marL="54864" marR="54864" marT="36576" marB="36576">
                    <a:solidFill>
                      <a:srgbClr val="FFFFFF"/>
                    </a:solidFill>
                  </a:tcPr>
                </a:tc>
                <a:tc>
                  <a:txBody>
                    <a:bodyPr/>
                    <a:lstStyle/>
                    <a:p>
                      <a:pPr>
                        <a:defRPr sz="1400" b="0">
                          <a:solidFill>
                            <a:srgbClr val="232A34"/>
                          </a:solidFill>
                        </a:defRPr>
                      </a:pPr>
                      <a:r>
                        <a:rPr sz="2000"/>
                        <a:t>Implementation of SHAP, LIME, PDP and other XAI methods</a:t>
                      </a:r>
                    </a:p>
                  </a:txBody>
                  <a:tcPr marL="54864" marR="54864" marT="36576" marB="36576">
                    <a:solidFill>
                      <a:srgbClr val="FFFFFF"/>
                    </a:solidFill>
                  </a:tcPr>
                </a:tc>
                <a:extLst>
                  <a:ext uri="{0D108BD9-81ED-4DB2-BD59-A6C34878D82A}">
                    <a16:rowId xmlns:a16="http://schemas.microsoft.com/office/drawing/2014/main" val="10004"/>
                  </a:ext>
                </a:extLst>
              </a:tr>
              <a:tr h="520881">
                <a:tc>
                  <a:txBody>
                    <a:bodyPr/>
                    <a:lstStyle/>
                    <a:p>
                      <a:pPr>
                        <a:defRPr sz="1400" b="0">
                          <a:solidFill>
                            <a:srgbClr val="232A34"/>
                          </a:solidFill>
                        </a:defRPr>
                      </a:pPr>
                      <a:r>
                        <a:rPr sz="2000"/>
                        <a:t>5</a:t>
                      </a:r>
                    </a:p>
                  </a:txBody>
                  <a:tcPr marL="54864" marR="54864" marT="36576" marB="36576">
                    <a:solidFill>
                      <a:srgbClr val="F2F6FC"/>
                    </a:solidFill>
                  </a:tcPr>
                </a:tc>
                <a:tc>
                  <a:txBody>
                    <a:bodyPr/>
                    <a:lstStyle/>
                    <a:p>
                      <a:pPr>
                        <a:defRPr sz="1400" b="0">
                          <a:solidFill>
                            <a:srgbClr val="232A34"/>
                          </a:solidFill>
                        </a:defRPr>
                      </a:pPr>
                      <a:r>
                        <a:rPr sz="2000"/>
                        <a:t>Comparative evaluation using defined metrics</a:t>
                      </a:r>
                    </a:p>
                  </a:txBody>
                  <a:tcPr marL="54864" marR="54864" marT="36576" marB="36576">
                    <a:solidFill>
                      <a:srgbClr val="F2F6FC"/>
                    </a:solidFill>
                  </a:tcPr>
                </a:tc>
                <a:extLst>
                  <a:ext uri="{0D108BD9-81ED-4DB2-BD59-A6C34878D82A}">
                    <a16:rowId xmlns:a16="http://schemas.microsoft.com/office/drawing/2014/main" val="10005"/>
                  </a:ext>
                </a:extLst>
              </a:tr>
              <a:tr h="520881">
                <a:tc>
                  <a:txBody>
                    <a:bodyPr/>
                    <a:lstStyle/>
                    <a:p>
                      <a:pPr>
                        <a:defRPr sz="1400" b="0">
                          <a:solidFill>
                            <a:srgbClr val="232A34"/>
                          </a:solidFill>
                        </a:defRPr>
                      </a:pPr>
                      <a:r>
                        <a:rPr sz="2000"/>
                        <a:t>6</a:t>
                      </a:r>
                    </a:p>
                  </a:txBody>
                  <a:tcPr marL="54864" marR="54864" marT="36576" marB="36576">
                    <a:solidFill>
                      <a:srgbClr val="FFFFFF"/>
                    </a:solidFill>
                  </a:tcPr>
                </a:tc>
                <a:tc>
                  <a:txBody>
                    <a:bodyPr/>
                    <a:lstStyle/>
                    <a:p>
                      <a:pPr>
                        <a:defRPr sz="1400" b="0">
                          <a:solidFill>
                            <a:srgbClr val="232A34"/>
                          </a:solidFill>
                        </a:defRPr>
                      </a:pPr>
                      <a:r>
                        <a:rPr sz="2000"/>
                        <a:t>Analysis, visualization and recommendation framework</a:t>
                      </a:r>
                    </a:p>
                  </a:txBody>
                  <a:tcPr marL="54864" marR="54864" marT="36576" marB="36576">
                    <a:solidFill>
                      <a:srgbClr val="FFFFFF"/>
                    </a:solidFill>
                  </a:tcPr>
                </a:tc>
                <a:extLst>
                  <a:ext uri="{0D108BD9-81ED-4DB2-BD59-A6C34878D82A}">
                    <a16:rowId xmlns:a16="http://schemas.microsoft.com/office/drawing/2014/main" val="10006"/>
                  </a:ext>
                </a:extLst>
              </a:tr>
              <a:tr h="520881">
                <a:tc>
                  <a:txBody>
                    <a:bodyPr/>
                    <a:lstStyle/>
                    <a:p>
                      <a:pPr>
                        <a:defRPr sz="1400" b="0">
                          <a:solidFill>
                            <a:srgbClr val="232A34"/>
                          </a:solidFill>
                        </a:defRPr>
                      </a:pPr>
                      <a:r>
                        <a:rPr sz="2000"/>
                        <a:t>7</a:t>
                      </a:r>
                    </a:p>
                  </a:txBody>
                  <a:tcPr marL="54864" marR="54864" marT="36576" marB="36576">
                    <a:solidFill>
                      <a:srgbClr val="F2F6FC"/>
                    </a:solidFill>
                  </a:tcPr>
                </a:tc>
                <a:tc>
                  <a:txBody>
                    <a:bodyPr/>
                    <a:lstStyle/>
                    <a:p>
                      <a:pPr>
                        <a:defRPr sz="1400" b="0">
                          <a:solidFill>
                            <a:srgbClr val="232A34"/>
                          </a:solidFill>
                        </a:defRPr>
                      </a:pPr>
                      <a:r>
                        <a:rPr sz="2000" dirty="0"/>
                        <a:t>Documentation, report and final presentation</a:t>
                      </a:r>
                    </a:p>
                  </a:txBody>
                  <a:tcPr marL="54864" marR="54864" marT="36576" marB="36576">
                    <a:solidFill>
                      <a:srgbClr val="F2F6FC"/>
                    </a:solidFill>
                  </a:tcPr>
                </a:tc>
                <a:extLst>
                  <a:ext uri="{0D108BD9-81ED-4DB2-BD59-A6C34878D82A}">
                    <a16:rowId xmlns:a16="http://schemas.microsoft.com/office/drawing/2014/main" val="10007"/>
                  </a:ext>
                </a:extLst>
              </a:tr>
            </a:tbl>
          </a:graphicData>
        </a:graphic>
      </p:graphicFrame>
      <p:sp>
        <p:nvSpPr>
          <p:cNvPr id="5" name="TextBox 4"/>
          <p:cNvSpPr txBox="1"/>
          <p:nvPr/>
        </p:nvSpPr>
        <p:spPr>
          <a:xfrm>
            <a:off x="10789920" y="6446520"/>
            <a:ext cx="914400" cy="228600"/>
          </a:xfrm>
          <a:prstGeom prst="rect">
            <a:avLst/>
          </a:prstGeom>
          <a:noFill/>
        </p:spPr>
        <p:txBody>
          <a:bodyPr wrap="none">
            <a:spAutoFit/>
          </a:bodyPr>
          <a:lstStyle/>
          <a:p>
            <a:pPr algn="r">
              <a:defRPr sz="1000">
                <a:solidFill>
                  <a:srgbClr val="697382"/>
                </a:solidFill>
              </a:defRPr>
            </a:pPr>
            <a: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05" y="351606"/>
            <a:ext cx="12191695" cy="1034143"/>
          </a:xfrm>
          <a:prstGeom prst="rect">
            <a:avLst/>
          </a:prstGeom>
          <a:solidFill>
            <a:srgbClr val="192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66205" y="576291"/>
            <a:ext cx="4013086" cy="584775"/>
          </a:xfrm>
          <a:prstGeom prst="rect">
            <a:avLst/>
          </a:prstGeom>
          <a:noFill/>
        </p:spPr>
        <p:txBody>
          <a:bodyPr wrap="none">
            <a:spAutoFit/>
          </a:bodyPr>
          <a:lstStyle/>
          <a:p>
            <a:pPr>
              <a:defRPr sz="2500" b="1">
                <a:solidFill>
                  <a:srgbClr val="FFFFFF"/>
                </a:solidFill>
              </a:defRPr>
            </a:pPr>
            <a:r>
              <a:rPr sz="3200" dirty="0"/>
              <a:t>11. Expected Outcome</a:t>
            </a:r>
          </a:p>
        </p:txBody>
      </p:sp>
      <p:sp>
        <p:nvSpPr>
          <p:cNvPr id="4" name="TextBox 3"/>
          <p:cNvSpPr txBox="1"/>
          <p:nvPr/>
        </p:nvSpPr>
        <p:spPr>
          <a:xfrm>
            <a:off x="437605" y="1789611"/>
            <a:ext cx="10789920" cy="4078039"/>
          </a:xfrm>
          <a:prstGeom prst="rect">
            <a:avLst/>
          </a:prstGeom>
          <a:noFill/>
        </p:spPr>
        <p:txBody>
          <a:bodyPr wrap="square">
            <a:spAutoFit/>
          </a:bodyPr>
          <a:lstStyle/>
          <a:p>
            <a:pPr>
              <a:spcAft>
                <a:spcPts val="1400"/>
              </a:spcAft>
              <a:defRPr sz="1900">
                <a:solidFill>
                  <a:srgbClr val="232A34"/>
                </a:solidFill>
              </a:defRPr>
            </a:pPr>
            <a:r>
              <a:rPr sz="2800" dirty="0"/>
              <a:t>• Identify which ML models provide the strongest predictive performance on the selected datasets.</a:t>
            </a:r>
          </a:p>
          <a:p>
            <a:pPr>
              <a:spcAft>
                <a:spcPts val="1400"/>
              </a:spcAft>
              <a:defRPr sz="1900">
                <a:solidFill>
                  <a:srgbClr val="232A34"/>
                </a:solidFill>
              </a:defRPr>
            </a:pPr>
            <a:r>
              <a:rPr sz="2800" dirty="0"/>
              <a:t>• Compare</a:t>
            </a:r>
            <a:r>
              <a:rPr lang="en-US" sz="2800" dirty="0"/>
              <a:t> SHAP, LIME, PDP, ICE, Permutation Feature Importance</a:t>
            </a:r>
            <a:r>
              <a:rPr sz="2800" dirty="0"/>
              <a:t> in terms of global/local interpretability and explanation usefulness.</a:t>
            </a:r>
          </a:p>
          <a:p>
            <a:pPr>
              <a:spcAft>
                <a:spcPts val="1400"/>
              </a:spcAft>
              <a:defRPr sz="1900">
                <a:solidFill>
                  <a:srgbClr val="232A34"/>
                </a:solidFill>
              </a:defRPr>
            </a:pPr>
            <a:r>
              <a:rPr sz="2800" dirty="0"/>
              <a:t>• Determine the trade-off between accuracy, interpretability and computational </a:t>
            </a:r>
            <a:r>
              <a:rPr lang="en-US" sz="2800" dirty="0"/>
              <a:t>effectiveness</a:t>
            </a:r>
            <a:r>
              <a:rPr sz="2800" dirty="0"/>
              <a:t>.</a:t>
            </a:r>
          </a:p>
          <a:p>
            <a:pPr>
              <a:spcAft>
                <a:spcPts val="1400"/>
              </a:spcAft>
              <a:defRPr sz="1900">
                <a:solidFill>
                  <a:srgbClr val="232A34"/>
                </a:solidFill>
              </a:defRPr>
            </a:pPr>
            <a:r>
              <a:rPr sz="2800" dirty="0"/>
              <a:t>• Recommend suitable ML + XAI combinations for business analytics decision-making.</a:t>
            </a:r>
          </a:p>
        </p:txBody>
      </p:sp>
      <p:sp>
        <p:nvSpPr>
          <p:cNvPr id="5" name="TextBox 4"/>
          <p:cNvSpPr txBox="1"/>
          <p:nvPr/>
        </p:nvSpPr>
        <p:spPr>
          <a:xfrm>
            <a:off x="10789920" y="6446520"/>
            <a:ext cx="914400" cy="228600"/>
          </a:xfrm>
          <a:prstGeom prst="rect">
            <a:avLst/>
          </a:prstGeom>
          <a:noFill/>
        </p:spPr>
        <p:txBody>
          <a:bodyPr wrap="none">
            <a:spAutoFit/>
          </a:bodyPr>
          <a:lstStyle/>
          <a:p>
            <a:pPr algn="r">
              <a:defRPr sz="1000">
                <a:solidFill>
                  <a:srgbClr val="697382"/>
                </a:solidFill>
              </a:defRPr>
            </a:pPr>
            <a: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8DC742A-F0F0-C831-851C-2399D6B20A91}"/>
              </a:ext>
            </a:extLst>
          </p:cNvPr>
          <p:cNvSpPr/>
          <p:nvPr/>
        </p:nvSpPr>
        <p:spPr>
          <a:xfrm>
            <a:off x="305" y="351606"/>
            <a:ext cx="12191695" cy="1034143"/>
          </a:xfrm>
          <a:prstGeom prst="rect">
            <a:avLst/>
          </a:prstGeom>
          <a:solidFill>
            <a:srgbClr val="192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5" name="TextBox 4">
            <a:extLst>
              <a:ext uri="{FF2B5EF4-FFF2-40B4-BE49-F238E27FC236}">
                <a16:creationId xmlns:a16="http://schemas.microsoft.com/office/drawing/2014/main" id="{96301F1B-ACC5-6C81-4056-227B962F38A2}"/>
              </a:ext>
            </a:extLst>
          </p:cNvPr>
          <p:cNvSpPr txBox="1"/>
          <p:nvPr/>
        </p:nvSpPr>
        <p:spPr>
          <a:xfrm>
            <a:off x="457200" y="1690062"/>
            <a:ext cx="10932160" cy="4893647"/>
          </a:xfrm>
          <a:prstGeom prst="rect">
            <a:avLst/>
          </a:prstGeom>
          <a:noFill/>
        </p:spPr>
        <p:txBody>
          <a:bodyPr wrap="square" rtlCol="0">
            <a:spAutoFit/>
          </a:bodyPr>
          <a:lstStyle/>
          <a:p>
            <a:pPr marL="342900" lvl="0" indent="-342900">
              <a:buFont typeface="Arial" panose="020B0604020202020204" pitchFamily="34" charset="0"/>
              <a:buChar char="•"/>
            </a:pPr>
            <a:r>
              <a:rPr lang="en-US" sz="2400" b="1" dirty="0"/>
              <a:t>Data Collection and Dataset Understanding:</a:t>
            </a:r>
            <a:br>
              <a:rPr lang="en-US" sz="2400" dirty="0"/>
            </a:br>
            <a:r>
              <a:rPr lang="en-US" sz="2400" dirty="0"/>
              <a:t>Three real-world business datasets were selected: Bank Marketing, Online Retail, and Telco Customer Churn. The datasets were analyzed to understand their attributes, target variables, data types, class distributions, and business context. </a:t>
            </a:r>
          </a:p>
          <a:p>
            <a:pPr marL="342900" lvl="0" indent="-342900">
              <a:buFont typeface="Arial" panose="020B0604020202020204" pitchFamily="34" charset="0"/>
              <a:buChar char="•"/>
            </a:pPr>
            <a:r>
              <a:rPr lang="en-US" sz="2400" b="1" dirty="0"/>
              <a:t>Data Preprocessing:</a:t>
            </a:r>
            <a:br>
              <a:rPr lang="en-US" sz="2400" dirty="0"/>
            </a:br>
            <a:r>
              <a:rPr lang="en-US" sz="2400" dirty="0"/>
              <a:t>I performed data preprocessing for all three datasets. This included handling missing/inconsistent values, removing unnecessary records, converting data into suitable formats, encoding categorical variables, and preparing clean datasets for further analysis. </a:t>
            </a:r>
          </a:p>
          <a:p>
            <a:pPr marL="342900" lvl="0" indent="-342900">
              <a:buFont typeface="Arial" panose="020B0604020202020204" pitchFamily="34" charset="0"/>
              <a:buChar char="•"/>
            </a:pPr>
            <a:r>
              <a:rPr lang="en-US" sz="2400" b="1" dirty="0"/>
              <a:t>Exploratory Data Analysis (EDA):</a:t>
            </a:r>
            <a:br>
              <a:rPr lang="en-US" sz="2400" dirty="0"/>
            </a:br>
            <a:r>
              <a:rPr lang="en-US" sz="2400" dirty="0"/>
              <a:t>EDA was performed to understand data distributions, correlations, class balance, outliers, and important business patterns. Statistical summaries and visualizations were generated to identify relationships between features and target variables. </a:t>
            </a:r>
          </a:p>
        </p:txBody>
      </p:sp>
      <p:sp>
        <p:nvSpPr>
          <p:cNvPr id="7" name="TextBox 6">
            <a:extLst>
              <a:ext uri="{FF2B5EF4-FFF2-40B4-BE49-F238E27FC236}">
                <a16:creationId xmlns:a16="http://schemas.microsoft.com/office/drawing/2014/main" id="{0DC2C20B-3C64-1D0B-4566-5C0AC1B2B8EF}"/>
              </a:ext>
            </a:extLst>
          </p:cNvPr>
          <p:cNvSpPr txBox="1"/>
          <p:nvPr/>
        </p:nvSpPr>
        <p:spPr>
          <a:xfrm>
            <a:off x="589280" y="488637"/>
            <a:ext cx="6136640" cy="584775"/>
          </a:xfrm>
          <a:prstGeom prst="rect">
            <a:avLst/>
          </a:prstGeom>
          <a:noFill/>
        </p:spPr>
        <p:txBody>
          <a:bodyPr wrap="square">
            <a:spAutoFit/>
          </a:bodyPr>
          <a:lstStyle/>
          <a:p>
            <a:pPr>
              <a:defRPr sz="2500" b="1">
                <a:solidFill>
                  <a:srgbClr val="FFFFFF"/>
                </a:solidFill>
              </a:defRPr>
            </a:pPr>
            <a:r>
              <a:rPr lang="en-US" sz="3200" dirty="0"/>
              <a:t>12. Methodology</a:t>
            </a:r>
          </a:p>
        </p:txBody>
      </p:sp>
    </p:spTree>
    <p:extLst>
      <p:ext uri="{BB962C8B-B14F-4D97-AF65-F5344CB8AC3E}">
        <p14:creationId xmlns:p14="http://schemas.microsoft.com/office/powerpoint/2010/main" val="34242071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4FD68D6-1F73-1677-3272-D6258D3A2839}"/>
              </a:ext>
            </a:extLst>
          </p:cNvPr>
          <p:cNvSpPr/>
          <p:nvPr/>
        </p:nvSpPr>
        <p:spPr>
          <a:xfrm>
            <a:off x="305" y="351606"/>
            <a:ext cx="12191695" cy="1034143"/>
          </a:xfrm>
          <a:prstGeom prst="rect">
            <a:avLst/>
          </a:prstGeom>
          <a:solidFill>
            <a:srgbClr val="192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89328B94-C2AE-6D8E-BD4B-34FDEC9F8E62}"/>
              </a:ext>
            </a:extLst>
          </p:cNvPr>
          <p:cNvSpPr txBox="1"/>
          <p:nvPr/>
        </p:nvSpPr>
        <p:spPr>
          <a:xfrm>
            <a:off x="320040" y="1735857"/>
            <a:ext cx="11755120" cy="4770537"/>
          </a:xfrm>
          <a:prstGeom prst="rect">
            <a:avLst/>
          </a:prstGeom>
          <a:noFill/>
        </p:spPr>
        <p:txBody>
          <a:bodyPr wrap="square">
            <a:spAutoFit/>
          </a:bodyPr>
          <a:lstStyle/>
          <a:p>
            <a:pPr marL="285750" lvl="0" indent="-285750">
              <a:buFont typeface="Arial" panose="020B0604020202020204" pitchFamily="34" charset="0"/>
              <a:buChar char="•"/>
            </a:pPr>
            <a:r>
              <a:rPr lang="en-US" sz="2000" b="1" dirty="0"/>
              <a:t>Feature Engineering</a:t>
            </a:r>
            <a:br>
              <a:rPr lang="en-US" sz="2000" dirty="0"/>
            </a:br>
            <a:r>
              <a:rPr lang="en-US" sz="2000" dirty="0"/>
              <a:t>Meaningful business-oriented features were derived from the original datasets to improve the representation of the underlying business problem. Examples include customer behavior, spending-related, campaign-related, tenure, and transaction-related features. </a:t>
            </a:r>
          </a:p>
          <a:p>
            <a:pPr marL="285750" lvl="0" indent="-285750">
              <a:buFont typeface="Arial" panose="020B0604020202020204" pitchFamily="34" charset="0"/>
              <a:buChar char="•"/>
            </a:pPr>
            <a:r>
              <a:rPr lang="en-US" sz="2000" b="1" dirty="0"/>
              <a:t>Feature Selection</a:t>
            </a:r>
            <a:br>
              <a:rPr lang="en-US" sz="2000" dirty="0"/>
            </a:br>
            <a:r>
              <a:rPr lang="en-US" sz="2000" dirty="0"/>
              <a:t>Relevant features were identified using correlation and feature-importance-based analysis. Constant, redundant, and less useful features were removed to reduce unnecessary dimensionality and improve model efficiency.</a:t>
            </a:r>
          </a:p>
          <a:p>
            <a:pPr marL="285750" lvl="0" indent="-285750">
              <a:buFont typeface="Arial" panose="020B0604020202020204" pitchFamily="34" charset="0"/>
              <a:buChar char="•"/>
            </a:pPr>
            <a:r>
              <a:rPr lang="en-US" sz="2000" b="1" dirty="0"/>
              <a:t>Baseline Machine Learning Model Development</a:t>
            </a:r>
            <a:br>
              <a:rPr lang="en-US" sz="2000" dirty="0"/>
            </a:br>
            <a:r>
              <a:rPr lang="en-US" sz="2000" dirty="0"/>
              <a:t>Four baseline classification models were implemented for comparative </a:t>
            </a:r>
            <a:r>
              <a:rPr lang="en-US" sz="2000" dirty="0" err="1"/>
              <a:t>analysis:Logistic</a:t>
            </a:r>
            <a:r>
              <a:rPr lang="en-US" sz="2000" dirty="0"/>
              <a:t> Regression, Decision Tree, Random Forest, </a:t>
            </a:r>
            <a:r>
              <a:rPr lang="en-US" sz="2000" dirty="0" err="1"/>
              <a:t>XGBoost</a:t>
            </a:r>
            <a:r>
              <a:rPr lang="en-US" sz="2000" dirty="0"/>
              <a:t> . </a:t>
            </a:r>
          </a:p>
          <a:p>
            <a:pPr marL="285750" lvl="0" indent="-285750">
              <a:buFont typeface="Arial" panose="020B0604020202020204" pitchFamily="34" charset="0"/>
              <a:buChar char="•"/>
            </a:pPr>
            <a:r>
              <a:rPr lang="en-US" sz="2000" b="1" dirty="0"/>
              <a:t>Performance Evaluation and Comparative Analysis</a:t>
            </a:r>
            <a:br>
              <a:rPr lang="en-US" sz="2000" dirty="0"/>
            </a:br>
            <a:r>
              <a:rPr lang="en-US" sz="2000" dirty="0"/>
              <a:t>The baseline models were evaluated using classification metrics: Accuracy, Precision, Recall, F1-Score, ROC-AUC, Confusion Matrix</a:t>
            </a:r>
          </a:p>
          <a:p>
            <a:pPr marL="342900" lvl="0" indent="-342900">
              <a:buFont typeface="Arial" panose="020B0604020202020204" pitchFamily="34" charset="0"/>
              <a:buChar char="•"/>
            </a:pPr>
            <a:endParaRPr lang="en-US" sz="2400" dirty="0"/>
          </a:p>
        </p:txBody>
      </p:sp>
    </p:spTree>
    <p:extLst>
      <p:ext uri="{BB962C8B-B14F-4D97-AF65-F5344CB8AC3E}">
        <p14:creationId xmlns:p14="http://schemas.microsoft.com/office/powerpoint/2010/main" val="12493148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5DC4C0B-49FE-F1B5-0997-5072623D24E9}"/>
              </a:ext>
            </a:extLst>
          </p:cNvPr>
          <p:cNvSpPr/>
          <p:nvPr/>
        </p:nvSpPr>
        <p:spPr>
          <a:xfrm>
            <a:off x="305" y="351606"/>
            <a:ext cx="12191695" cy="1034143"/>
          </a:xfrm>
          <a:prstGeom prst="rect">
            <a:avLst/>
          </a:prstGeom>
          <a:solidFill>
            <a:srgbClr val="192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AB0C7265-0971-D81E-3918-A2C378422B92}"/>
              </a:ext>
            </a:extLst>
          </p:cNvPr>
          <p:cNvSpPr txBox="1"/>
          <p:nvPr/>
        </p:nvSpPr>
        <p:spPr>
          <a:xfrm>
            <a:off x="223520" y="1752193"/>
            <a:ext cx="11308080" cy="4093428"/>
          </a:xfrm>
          <a:prstGeom prst="rect">
            <a:avLst/>
          </a:prstGeom>
          <a:noFill/>
        </p:spPr>
        <p:txBody>
          <a:bodyPr wrap="square">
            <a:spAutoFit/>
          </a:bodyPr>
          <a:lstStyle/>
          <a:p>
            <a:pPr marL="342900" lvl="0" indent="-342900">
              <a:buFont typeface="Arial" panose="020B0604020202020204" pitchFamily="34" charset="0"/>
              <a:buChar char="•"/>
            </a:pPr>
            <a:r>
              <a:rPr lang="en-US" sz="2000" b="1" dirty="0"/>
              <a:t>Hybrid Model Development</a:t>
            </a:r>
            <a:br>
              <a:rPr lang="en-US" sz="2000" dirty="0"/>
            </a:br>
            <a:r>
              <a:rPr lang="en-US" sz="2000" dirty="0"/>
              <a:t>To introduce the proposed methodology, multiple heterogeneous model combinations were explored rather than relying on a single ML model. Models such as Random Forest, </a:t>
            </a:r>
            <a:r>
              <a:rPr lang="en-US" sz="2000" dirty="0" err="1"/>
              <a:t>XGBoost</a:t>
            </a:r>
            <a:r>
              <a:rPr lang="en-US" sz="2000" dirty="0"/>
              <a:t>, </a:t>
            </a:r>
            <a:r>
              <a:rPr lang="en-US" sz="2000" dirty="0" err="1"/>
              <a:t>HistGradientBoosting</a:t>
            </a:r>
            <a:r>
              <a:rPr lang="en-US" sz="2000" dirty="0"/>
              <a:t>, and SVM were evaluated in different combinations.</a:t>
            </a:r>
          </a:p>
          <a:p>
            <a:pPr marL="342900" lvl="0" indent="-342900">
              <a:buFont typeface="Arial" panose="020B0604020202020204" pitchFamily="34" charset="0"/>
              <a:buChar char="•"/>
            </a:pPr>
            <a:r>
              <a:rPr lang="en-US" sz="2000" dirty="0"/>
              <a:t>The hybrid models combine the prediction probabilities of multiple models to exploit their complementary strengths.</a:t>
            </a:r>
          </a:p>
          <a:p>
            <a:pPr marL="342900" lvl="0" indent="-342900">
              <a:buFont typeface="Arial" panose="020B0604020202020204" pitchFamily="34" charset="0"/>
              <a:buChar char="•"/>
            </a:pPr>
            <a:r>
              <a:rPr lang="en-US" sz="2000" b="1" dirty="0"/>
              <a:t>Explainable AI (XAI)</a:t>
            </a:r>
            <a:br>
              <a:rPr lang="en-US" sz="2000" dirty="0"/>
            </a:br>
            <a:r>
              <a:rPr lang="en-US" sz="2000" dirty="0"/>
              <a:t>Explainability was incorporated to understand why the models make particular predictions. </a:t>
            </a:r>
          </a:p>
          <a:p>
            <a:pPr marL="742950" lvl="1" indent="-285750">
              <a:buFont typeface="Arial" panose="020B0604020202020204" pitchFamily="34" charset="0"/>
              <a:buChar char="•"/>
            </a:pPr>
            <a:r>
              <a:rPr lang="en-US" sz="2000" b="1" dirty="0"/>
              <a:t>SHAP</a:t>
            </a:r>
            <a:r>
              <a:rPr lang="en-US" sz="2000" dirty="0"/>
              <a:t> was used to identify global and local feature contributions. </a:t>
            </a:r>
          </a:p>
          <a:p>
            <a:pPr marL="742950" lvl="1" indent="-285750">
              <a:buFont typeface="Arial" panose="020B0604020202020204" pitchFamily="34" charset="0"/>
              <a:buChar char="•"/>
            </a:pPr>
            <a:r>
              <a:rPr lang="en-US" sz="2000" b="1" dirty="0"/>
              <a:t>LIME</a:t>
            </a:r>
            <a:r>
              <a:rPr lang="en-US" sz="2000" dirty="0"/>
              <a:t> was used to generate local explanations for individual predictions. </a:t>
            </a:r>
          </a:p>
          <a:p>
            <a:pPr marL="742950" lvl="1" indent="-285750">
              <a:buFont typeface="Arial" panose="020B0604020202020204" pitchFamily="34" charset="0"/>
              <a:buChar char="•"/>
            </a:pPr>
            <a:r>
              <a:rPr lang="en-US" sz="2000" dirty="0"/>
              <a:t>SHAP and LIME explanations were compared using measures such as </a:t>
            </a:r>
            <a:r>
              <a:rPr lang="en-US" sz="2000" b="1" dirty="0"/>
              <a:t>fidelity, sparsity, and feature consistency</a:t>
            </a:r>
            <a:r>
              <a:rPr lang="en-US" sz="2000" dirty="0"/>
              <a:t>. </a:t>
            </a:r>
          </a:p>
          <a:p>
            <a:pPr marL="742950" lvl="1" indent="-285750">
              <a:buFont typeface="Arial" panose="020B0604020202020204" pitchFamily="34" charset="0"/>
              <a:buChar char="•"/>
            </a:pPr>
            <a:r>
              <a:rPr lang="en-US" sz="2000" dirty="0"/>
              <a:t>PDP/ICE analysis was also incorporated for understanding feature effects.</a:t>
            </a:r>
          </a:p>
        </p:txBody>
      </p:sp>
    </p:spTree>
    <p:extLst>
      <p:ext uri="{BB962C8B-B14F-4D97-AF65-F5344CB8AC3E}">
        <p14:creationId xmlns:p14="http://schemas.microsoft.com/office/powerpoint/2010/main" val="7539820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0ACA65E-7CEE-C7DB-FE18-7DDEF7C90E46}"/>
              </a:ext>
            </a:extLst>
          </p:cNvPr>
          <p:cNvSpPr/>
          <p:nvPr/>
        </p:nvSpPr>
        <p:spPr>
          <a:xfrm>
            <a:off x="305" y="351606"/>
            <a:ext cx="12191695" cy="1034143"/>
          </a:xfrm>
          <a:prstGeom prst="rect">
            <a:avLst/>
          </a:prstGeom>
          <a:solidFill>
            <a:srgbClr val="192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A6FA1BFD-5278-5B74-1EC2-9D53C9C73A8F}"/>
              </a:ext>
            </a:extLst>
          </p:cNvPr>
          <p:cNvSpPr txBox="1"/>
          <p:nvPr/>
        </p:nvSpPr>
        <p:spPr>
          <a:xfrm>
            <a:off x="416560" y="1903492"/>
            <a:ext cx="10678160" cy="4154984"/>
          </a:xfrm>
          <a:prstGeom prst="rect">
            <a:avLst/>
          </a:prstGeom>
          <a:noFill/>
        </p:spPr>
        <p:txBody>
          <a:bodyPr wrap="square">
            <a:spAutoFit/>
          </a:bodyPr>
          <a:lstStyle/>
          <a:p>
            <a:pPr marL="342900" lvl="0" indent="-342900">
              <a:buFont typeface="Arial" panose="020B0604020202020204" pitchFamily="34" charset="0"/>
              <a:buChar char="•"/>
            </a:pPr>
            <a:r>
              <a:rPr lang="en-US" sz="2000" b="1" dirty="0"/>
              <a:t>Model and XAI Comparative Analysis</a:t>
            </a:r>
            <a:br>
              <a:rPr lang="en-US" sz="2000" dirty="0"/>
            </a:br>
            <a:r>
              <a:rPr lang="en-US" sz="2000" dirty="0"/>
              <a:t>The proposed hybrid models were compared against individual baseline models and existing hybrid approaches. The analysis considered both predictive performance and explainability, rather than selecting a model only based on accuracy. </a:t>
            </a:r>
          </a:p>
          <a:p>
            <a:pPr marL="342900" lvl="0" indent="-342900">
              <a:buFont typeface="Arial" panose="020B0604020202020204" pitchFamily="34" charset="0"/>
              <a:buChar char="•"/>
            </a:pPr>
            <a:r>
              <a:rPr lang="en-US" sz="2000" b="1" dirty="0"/>
              <a:t>Business Analytics Dashboard and Decision Support</a:t>
            </a:r>
            <a:br>
              <a:rPr lang="en-US" sz="2000" dirty="0"/>
            </a:br>
            <a:r>
              <a:rPr lang="en-US" sz="2000" dirty="0"/>
              <a:t>The final results, model comparisons, XAI visualizations, and dataset-specific insights were organized into an interactive dashboard. The dashboard allows users to examine each dataset separately and interpret model predictions from a business perspective.</a:t>
            </a:r>
          </a:p>
          <a:p>
            <a:pPr marL="342900" indent="-342900">
              <a:buFont typeface="Arial" panose="020B0604020202020204" pitchFamily="34" charset="0"/>
              <a:buChar char="•"/>
            </a:pPr>
            <a:r>
              <a:rPr lang="en-US" sz="2000" b="1" dirty="0"/>
              <a:t>Hybrid Model Selection and Optimization</a:t>
            </a:r>
            <a:br>
              <a:rPr lang="en-US" sz="2000" dirty="0"/>
            </a:br>
            <a:r>
              <a:rPr lang="en-US" sz="2000" dirty="0"/>
              <a:t>The candidate hybrid models were compared using validation performance and prediction diversity. The best-performing combinations were further optimized by adjusting model weights and classification thresholds using validation data. </a:t>
            </a:r>
          </a:p>
          <a:p>
            <a:pPr marL="342900" lvl="0" indent="-342900">
              <a:buFont typeface="Arial" panose="020B0604020202020204" pitchFamily="34" charset="0"/>
              <a:buChar char="•"/>
            </a:pPr>
            <a:endParaRPr lang="en-US" sz="2400" dirty="0"/>
          </a:p>
        </p:txBody>
      </p:sp>
    </p:spTree>
    <p:extLst>
      <p:ext uri="{BB962C8B-B14F-4D97-AF65-F5344CB8AC3E}">
        <p14:creationId xmlns:p14="http://schemas.microsoft.com/office/powerpoint/2010/main" val="3107334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D6E3E79-41B3-5F96-671C-2A137A21F49F}"/>
              </a:ext>
            </a:extLst>
          </p:cNvPr>
          <p:cNvSpPr/>
          <p:nvPr/>
        </p:nvSpPr>
        <p:spPr>
          <a:xfrm>
            <a:off x="305" y="361766"/>
            <a:ext cx="12191695" cy="1034143"/>
          </a:xfrm>
          <a:prstGeom prst="rect">
            <a:avLst/>
          </a:prstGeom>
          <a:solidFill>
            <a:srgbClr val="192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pic>
        <p:nvPicPr>
          <p:cNvPr id="2" name="Content Placeholder 7">
            <a:extLst>
              <a:ext uri="{FF2B5EF4-FFF2-40B4-BE49-F238E27FC236}">
                <a16:creationId xmlns:a16="http://schemas.microsoft.com/office/drawing/2014/main" id="{7F17B8B0-3228-C438-CB1D-F66B293A13A9}"/>
              </a:ext>
            </a:extLst>
          </p:cNvPr>
          <p:cNvPicPr>
            <a:picLocks noChangeAspect="1"/>
          </p:cNvPicPr>
          <p:nvPr/>
        </p:nvPicPr>
        <p:blipFill>
          <a:blip r:embed="rId2"/>
          <a:stretch>
            <a:fillRect/>
          </a:stretch>
        </p:blipFill>
        <p:spPr>
          <a:xfrm>
            <a:off x="1066800" y="1536892"/>
            <a:ext cx="9509126" cy="4754563"/>
          </a:xfrm>
          <a:prstGeom prst="rect">
            <a:avLst/>
          </a:prstGeom>
        </p:spPr>
      </p:pic>
      <p:sp>
        <p:nvSpPr>
          <p:cNvPr id="5" name="TextBox 4">
            <a:extLst>
              <a:ext uri="{FF2B5EF4-FFF2-40B4-BE49-F238E27FC236}">
                <a16:creationId xmlns:a16="http://schemas.microsoft.com/office/drawing/2014/main" id="{973653DE-088B-DB9D-6D52-AD7EE7920CDC}"/>
              </a:ext>
            </a:extLst>
          </p:cNvPr>
          <p:cNvSpPr txBox="1"/>
          <p:nvPr/>
        </p:nvSpPr>
        <p:spPr>
          <a:xfrm>
            <a:off x="721360" y="563718"/>
            <a:ext cx="6136640" cy="584775"/>
          </a:xfrm>
          <a:prstGeom prst="rect">
            <a:avLst/>
          </a:prstGeom>
          <a:noFill/>
        </p:spPr>
        <p:txBody>
          <a:bodyPr wrap="square">
            <a:spAutoFit/>
          </a:bodyPr>
          <a:lstStyle/>
          <a:p>
            <a:pPr>
              <a:defRPr sz="2500" b="1">
                <a:solidFill>
                  <a:srgbClr val="FFFFFF"/>
                </a:solidFill>
              </a:defRPr>
            </a:pPr>
            <a:r>
              <a:rPr lang="en-US" sz="3200" dirty="0"/>
              <a:t>13. System Design</a:t>
            </a:r>
          </a:p>
        </p:txBody>
      </p:sp>
    </p:spTree>
    <p:extLst>
      <p:ext uri="{BB962C8B-B14F-4D97-AF65-F5344CB8AC3E}">
        <p14:creationId xmlns:p14="http://schemas.microsoft.com/office/powerpoint/2010/main" val="42325013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FCAEF7C-07A9-193B-EC5D-7F3157E784AA}"/>
              </a:ext>
            </a:extLst>
          </p:cNvPr>
          <p:cNvSpPr/>
          <p:nvPr/>
        </p:nvSpPr>
        <p:spPr>
          <a:xfrm>
            <a:off x="305" y="351606"/>
            <a:ext cx="12191695" cy="1034143"/>
          </a:xfrm>
          <a:prstGeom prst="rect">
            <a:avLst/>
          </a:prstGeom>
          <a:solidFill>
            <a:srgbClr val="192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6D327791-1940-0826-EA2A-B52F222F67C8}"/>
              </a:ext>
            </a:extLst>
          </p:cNvPr>
          <p:cNvSpPr txBox="1"/>
          <p:nvPr/>
        </p:nvSpPr>
        <p:spPr>
          <a:xfrm>
            <a:off x="671284" y="585322"/>
            <a:ext cx="6136640" cy="584775"/>
          </a:xfrm>
          <a:prstGeom prst="rect">
            <a:avLst/>
          </a:prstGeom>
          <a:noFill/>
        </p:spPr>
        <p:txBody>
          <a:bodyPr wrap="square">
            <a:spAutoFit/>
          </a:bodyPr>
          <a:lstStyle/>
          <a:p>
            <a:pPr>
              <a:defRPr sz="2500" b="1">
                <a:solidFill>
                  <a:srgbClr val="FFFFFF"/>
                </a:solidFill>
              </a:defRPr>
            </a:pPr>
            <a:r>
              <a:rPr lang="en-US" sz="3200" dirty="0"/>
              <a:t>14. Tools Used</a:t>
            </a:r>
          </a:p>
        </p:txBody>
      </p:sp>
      <p:sp>
        <p:nvSpPr>
          <p:cNvPr id="6" name="Rectangle: Rounded Corners 5">
            <a:extLst>
              <a:ext uri="{FF2B5EF4-FFF2-40B4-BE49-F238E27FC236}">
                <a16:creationId xmlns:a16="http://schemas.microsoft.com/office/drawing/2014/main" id="{CB856400-4CEE-E905-86CA-5A16A9AC3300}"/>
              </a:ext>
            </a:extLst>
          </p:cNvPr>
          <p:cNvSpPr/>
          <p:nvPr/>
        </p:nvSpPr>
        <p:spPr>
          <a:xfrm>
            <a:off x="671284" y="1827784"/>
            <a:ext cx="4027715" cy="12954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8" name="Rectangle: Rounded Corners 7">
            <a:extLst>
              <a:ext uri="{FF2B5EF4-FFF2-40B4-BE49-F238E27FC236}">
                <a16:creationId xmlns:a16="http://schemas.microsoft.com/office/drawing/2014/main" id="{241384AE-2927-BC9A-1E8B-9569750694FE}"/>
              </a:ext>
            </a:extLst>
          </p:cNvPr>
          <p:cNvSpPr/>
          <p:nvPr/>
        </p:nvSpPr>
        <p:spPr>
          <a:xfrm>
            <a:off x="5578564" y="1827784"/>
            <a:ext cx="4027715" cy="12954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E887DEA4-F064-F38F-3DFB-BE6EA7E57C2C}"/>
              </a:ext>
            </a:extLst>
          </p:cNvPr>
          <p:cNvSpPr/>
          <p:nvPr/>
        </p:nvSpPr>
        <p:spPr>
          <a:xfrm>
            <a:off x="5578564" y="4712716"/>
            <a:ext cx="4027715" cy="12954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6B426ED8-EA46-C1EE-21AE-909701CBF1C9}"/>
              </a:ext>
            </a:extLst>
          </p:cNvPr>
          <p:cNvSpPr/>
          <p:nvPr/>
        </p:nvSpPr>
        <p:spPr>
          <a:xfrm>
            <a:off x="671284" y="4712716"/>
            <a:ext cx="4027715" cy="12954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4" name="Rectangle: Rounded Corners 13">
            <a:extLst>
              <a:ext uri="{FF2B5EF4-FFF2-40B4-BE49-F238E27FC236}">
                <a16:creationId xmlns:a16="http://schemas.microsoft.com/office/drawing/2014/main" id="{2176A26C-AC51-160A-8010-5DAF2130653B}"/>
              </a:ext>
            </a:extLst>
          </p:cNvPr>
          <p:cNvSpPr/>
          <p:nvPr/>
        </p:nvSpPr>
        <p:spPr>
          <a:xfrm>
            <a:off x="5578564" y="3261868"/>
            <a:ext cx="4027715" cy="12954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6" name="Rectangle: Rounded Corners 15">
            <a:extLst>
              <a:ext uri="{FF2B5EF4-FFF2-40B4-BE49-F238E27FC236}">
                <a16:creationId xmlns:a16="http://schemas.microsoft.com/office/drawing/2014/main" id="{763171B0-4A7F-4FD6-E43F-7D8CE949A410}"/>
              </a:ext>
            </a:extLst>
          </p:cNvPr>
          <p:cNvSpPr/>
          <p:nvPr/>
        </p:nvSpPr>
        <p:spPr>
          <a:xfrm>
            <a:off x="671284" y="3261868"/>
            <a:ext cx="4027715" cy="12954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8" name="TextBox 17">
            <a:extLst>
              <a:ext uri="{FF2B5EF4-FFF2-40B4-BE49-F238E27FC236}">
                <a16:creationId xmlns:a16="http://schemas.microsoft.com/office/drawing/2014/main" id="{9CB9D771-5C5B-217E-918E-8E0CA8869391}"/>
              </a:ext>
            </a:extLst>
          </p:cNvPr>
          <p:cNvSpPr txBox="1"/>
          <p:nvPr/>
        </p:nvSpPr>
        <p:spPr>
          <a:xfrm>
            <a:off x="822960" y="2009875"/>
            <a:ext cx="6136640" cy="353943"/>
          </a:xfrm>
          <a:prstGeom prst="rect">
            <a:avLst/>
          </a:prstGeom>
          <a:noFill/>
        </p:spPr>
        <p:txBody>
          <a:bodyPr wrap="square">
            <a:spAutoFit/>
          </a:bodyPr>
          <a:lstStyle/>
          <a:p>
            <a:r>
              <a:rPr lang="en-US" sz="1700" b="1" dirty="0">
                <a:solidFill>
                  <a:srgbClr val="172033"/>
                </a:solidFill>
                <a:latin typeface="Aptos Display"/>
              </a:rPr>
              <a:t>Programming</a:t>
            </a:r>
          </a:p>
        </p:txBody>
      </p:sp>
      <p:sp>
        <p:nvSpPr>
          <p:cNvPr id="20" name="TextBox 19">
            <a:extLst>
              <a:ext uri="{FF2B5EF4-FFF2-40B4-BE49-F238E27FC236}">
                <a16:creationId xmlns:a16="http://schemas.microsoft.com/office/drawing/2014/main" id="{D2D76B54-B54B-9694-2EDF-4951D98FBAC4}"/>
              </a:ext>
            </a:extLst>
          </p:cNvPr>
          <p:cNvSpPr txBox="1"/>
          <p:nvPr/>
        </p:nvSpPr>
        <p:spPr>
          <a:xfrm>
            <a:off x="822960" y="2475484"/>
            <a:ext cx="6136640" cy="323165"/>
          </a:xfrm>
          <a:prstGeom prst="rect">
            <a:avLst/>
          </a:prstGeom>
          <a:noFill/>
        </p:spPr>
        <p:txBody>
          <a:bodyPr wrap="square">
            <a:spAutoFit/>
          </a:bodyPr>
          <a:lstStyle/>
          <a:p>
            <a:r>
              <a:rPr lang="en-US" sz="1500" dirty="0">
                <a:solidFill>
                  <a:srgbClr val="64748B"/>
                </a:solidFill>
                <a:latin typeface="Aptos"/>
              </a:rPr>
              <a:t>Python • HTML • CSS • JavaScript</a:t>
            </a:r>
          </a:p>
        </p:txBody>
      </p:sp>
      <p:sp>
        <p:nvSpPr>
          <p:cNvPr id="22" name="TextBox 21">
            <a:extLst>
              <a:ext uri="{FF2B5EF4-FFF2-40B4-BE49-F238E27FC236}">
                <a16:creationId xmlns:a16="http://schemas.microsoft.com/office/drawing/2014/main" id="{ADEA2E04-8178-74D2-8F02-D6B701F6FB52}"/>
              </a:ext>
            </a:extLst>
          </p:cNvPr>
          <p:cNvSpPr txBox="1"/>
          <p:nvPr/>
        </p:nvSpPr>
        <p:spPr>
          <a:xfrm>
            <a:off x="5740400" y="1966093"/>
            <a:ext cx="6136640" cy="353943"/>
          </a:xfrm>
          <a:prstGeom prst="rect">
            <a:avLst/>
          </a:prstGeom>
          <a:noFill/>
        </p:spPr>
        <p:txBody>
          <a:bodyPr wrap="square">
            <a:spAutoFit/>
          </a:bodyPr>
          <a:lstStyle/>
          <a:p>
            <a:r>
              <a:rPr lang="en-US" sz="1700" b="1" dirty="0">
                <a:solidFill>
                  <a:srgbClr val="172033"/>
                </a:solidFill>
                <a:latin typeface="Aptos Display"/>
              </a:rPr>
              <a:t>ML / Data</a:t>
            </a:r>
          </a:p>
        </p:txBody>
      </p:sp>
      <p:sp>
        <p:nvSpPr>
          <p:cNvPr id="24" name="TextBox 23">
            <a:extLst>
              <a:ext uri="{FF2B5EF4-FFF2-40B4-BE49-F238E27FC236}">
                <a16:creationId xmlns:a16="http://schemas.microsoft.com/office/drawing/2014/main" id="{D2E776E6-3F96-F540-16A4-7040156D763B}"/>
              </a:ext>
            </a:extLst>
          </p:cNvPr>
          <p:cNvSpPr txBox="1"/>
          <p:nvPr/>
        </p:nvSpPr>
        <p:spPr>
          <a:xfrm>
            <a:off x="5740400" y="2323568"/>
            <a:ext cx="6136640" cy="784830"/>
          </a:xfrm>
          <a:prstGeom prst="rect">
            <a:avLst/>
          </a:prstGeom>
          <a:noFill/>
        </p:spPr>
        <p:txBody>
          <a:bodyPr wrap="square">
            <a:spAutoFit/>
          </a:bodyPr>
          <a:lstStyle/>
          <a:p>
            <a:r>
              <a:rPr lang="en-US" sz="1500" dirty="0">
                <a:solidFill>
                  <a:srgbClr val="64748B"/>
                </a:solidFill>
                <a:latin typeface="Aptos"/>
              </a:rPr>
              <a:t>• Pandas • NumPy • Scikit-learn • </a:t>
            </a:r>
            <a:r>
              <a:rPr lang="en-US" sz="1500" dirty="0" err="1">
                <a:solidFill>
                  <a:srgbClr val="64748B"/>
                </a:solidFill>
                <a:latin typeface="Aptos"/>
              </a:rPr>
              <a:t>XGBoost</a:t>
            </a:r>
            <a:endParaRPr lang="en-US" sz="1500" dirty="0">
              <a:solidFill>
                <a:srgbClr val="64748B"/>
              </a:solidFill>
              <a:latin typeface="Aptos"/>
            </a:endParaRPr>
          </a:p>
          <a:p>
            <a:r>
              <a:rPr lang="en-US" sz="1500" dirty="0">
                <a:solidFill>
                  <a:srgbClr val="64748B"/>
                </a:solidFill>
                <a:latin typeface="Aptos"/>
              </a:rPr>
              <a:t>• Logistic Regression • Decision Tree </a:t>
            </a:r>
          </a:p>
          <a:p>
            <a:r>
              <a:rPr lang="en-US" sz="1500" dirty="0">
                <a:solidFill>
                  <a:srgbClr val="64748B"/>
                </a:solidFill>
                <a:latin typeface="Aptos"/>
              </a:rPr>
              <a:t>• Random Forest</a:t>
            </a:r>
          </a:p>
        </p:txBody>
      </p:sp>
      <p:sp>
        <p:nvSpPr>
          <p:cNvPr id="26" name="TextBox 25">
            <a:extLst>
              <a:ext uri="{FF2B5EF4-FFF2-40B4-BE49-F238E27FC236}">
                <a16:creationId xmlns:a16="http://schemas.microsoft.com/office/drawing/2014/main" id="{8AB79F06-5876-25B0-8487-944771D5EC9B}"/>
              </a:ext>
            </a:extLst>
          </p:cNvPr>
          <p:cNvSpPr txBox="1"/>
          <p:nvPr/>
        </p:nvSpPr>
        <p:spPr>
          <a:xfrm>
            <a:off x="822960" y="3405872"/>
            <a:ext cx="6136640" cy="353943"/>
          </a:xfrm>
          <a:prstGeom prst="rect">
            <a:avLst/>
          </a:prstGeom>
          <a:noFill/>
        </p:spPr>
        <p:txBody>
          <a:bodyPr wrap="square">
            <a:spAutoFit/>
          </a:bodyPr>
          <a:lstStyle/>
          <a:p>
            <a:r>
              <a:rPr lang="en-US" sz="1700" b="1" dirty="0">
                <a:solidFill>
                  <a:srgbClr val="172033"/>
                </a:solidFill>
                <a:latin typeface="Aptos Display"/>
              </a:rPr>
              <a:t>Visualization</a:t>
            </a:r>
          </a:p>
        </p:txBody>
      </p:sp>
      <p:sp>
        <p:nvSpPr>
          <p:cNvPr id="28" name="TextBox 27">
            <a:extLst>
              <a:ext uri="{FF2B5EF4-FFF2-40B4-BE49-F238E27FC236}">
                <a16:creationId xmlns:a16="http://schemas.microsoft.com/office/drawing/2014/main" id="{B112A4FA-AA16-3EBE-FCE0-3097A1BA2FD4}"/>
              </a:ext>
            </a:extLst>
          </p:cNvPr>
          <p:cNvSpPr txBox="1"/>
          <p:nvPr/>
        </p:nvSpPr>
        <p:spPr>
          <a:xfrm>
            <a:off x="822960" y="3903819"/>
            <a:ext cx="6136640" cy="323165"/>
          </a:xfrm>
          <a:prstGeom prst="rect">
            <a:avLst/>
          </a:prstGeom>
          <a:noFill/>
        </p:spPr>
        <p:txBody>
          <a:bodyPr wrap="square">
            <a:spAutoFit/>
          </a:bodyPr>
          <a:lstStyle/>
          <a:p>
            <a:r>
              <a:rPr lang="en-US" sz="1500" dirty="0">
                <a:solidFill>
                  <a:srgbClr val="64748B"/>
                </a:solidFill>
                <a:latin typeface="Aptos"/>
              </a:rPr>
              <a:t>Matplotlib • Seaborn • Interactive dashboard</a:t>
            </a:r>
          </a:p>
        </p:txBody>
      </p:sp>
      <p:sp>
        <p:nvSpPr>
          <p:cNvPr id="30" name="TextBox 29">
            <a:extLst>
              <a:ext uri="{FF2B5EF4-FFF2-40B4-BE49-F238E27FC236}">
                <a16:creationId xmlns:a16="http://schemas.microsoft.com/office/drawing/2014/main" id="{0FC44A20-1938-7D07-1B6A-867B97CF5FE0}"/>
              </a:ext>
            </a:extLst>
          </p:cNvPr>
          <p:cNvSpPr txBox="1"/>
          <p:nvPr/>
        </p:nvSpPr>
        <p:spPr>
          <a:xfrm>
            <a:off x="5740400" y="3408841"/>
            <a:ext cx="6136640" cy="353943"/>
          </a:xfrm>
          <a:prstGeom prst="rect">
            <a:avLst/>
          </a:prstGeom>
          <a:noFill/>
        </p:spPr>
        <p:txBody>
          <a:bodyPr wrap="square">
            <a:spAutoFit/>
          </a:bodyPr>
          <a:lstStyle/>
          <a:p>
            <a:r>
              <a:rPr lang="en-US" sz="1700" b="1" dirty="0">
                <a:solidFill>
                  <a:srgbClr val="172033"/>
                </a:solidFill>
                <a:latin typeface="Aptos Display"/>
              </a:rPr>
              <a:t>Explainable AI</a:t>
            </a:r>
          </a:p>
        </p:txBody>
      </p:sp>
      <p:sp>
        <p:nvSpPr>
          <p:cNvPr id="32" name="TextBox 31">
            <a:extLst>
              <a:ext uri="{FF2B5EF4-FFF2-40B4-BE49-F238E27FC236}">
                <a16:creationId xmlns:a16="http://schemas.microsoft.com/office/drawing/2014/main" id="{FB7DA619-4BE0-CAB7-B30B-D1F664D52724}"/>
              </a:ext>
            </a:extLst>
          </p:cNvPr>
          <p:cNvSpPr txBox="1"/>
          <p:nvPr/>
        </p:nvSpPr>
        <p:spPr>
          <a:xfrm>
            <a:off x="5740400" y="3898499"/>
            <a:ext cx="6136640" cy="323165"/>
          </a:xfrm>
          <a:prstGeom prst="rect">
            <a:avLst/>
          </a:prstGeom>
          <a:noFill/>
        </p:spPr>
        <p:txBody>
          <a:bodyPr wrap="square">
            <a:spAutoFit/>
          </a:bodyPr>
          <a:lstStyle/>
          <a:p>
            <a:r>
              <a:rPr lang="en-US" sz="1500" dirty="0">
                <a:solidFill>
                  <a:srgbClr val="64748B"/>
                </a:solidFill>
                <a:latin typeface="Aptos"/>
              </a:rPr>
              <a:t>SHAP • LIME • PDP • ICE </a:t>
            </a:r>
          </a:p>
        </p:txBody>
      </p:sp>
      <p:sp>
        <p:nvSpPr>
          <p:cNvPr id="34" name="TextBox 33">
            <a:extLst>
              <a:ext uri="{FF2B5EF4-FFF2-40B4-BE49-F238E27FC236}">
                <a16:creationId xmlns:a16="http://schemas.microsoft.com/office/drawing/2014/main" id="{5F4155D4-C63C-7037-85BB-80906CCB2F1A}"/>
              </a:ext>
            </a:extLst>
          </p:cNvPr>
          <p:cNvSpPr txBox="1"/>
          <p:nvPr/>
        </p:nvSpPr>
        <p:spPr>
          <a:xfrm>
            <a:off x="822960" y="4859983"/>
            <a:ext cx="6136640" cy="353943"/>
          </a:xfrm>
          <a:prstGeom prst="rect">
            <a:avLst/>
          </a:prstGeom>
          <a:noFill/>
        </p:spPr>
        <p:txBody>
          <a:bodyPr wrap="square">
            <a:spAutoFit/>
          </a:bodyPr>
          <a:lstStyle/>
          <a:p>
            <a:r>
              <a:rPr lang="en-US" sz="1700" b="1" dirty="0">
                <a:solidFill>
                  <a:srgbClr val="172033"/>
                </a:solidFill>
                <a:latin typeface="Aptos Display"/>
              </a:rPr>
              <a:t>Development</a:t>
            </a:r>
          </a:p>
        </p:txBody>
      </p:sp>
      <p:sp>
        <p:nvSpPr>
          <p:cNvPr id="36" name="TextBox 35">
            <a:extLst>
              <a:ext uri="{FF2B5EF4-FFF2-40B4-BE49-F238E27FC236}">
                <a16:creationId xmlns:a16="http://schemas.microsoft.com/office/drawing/2014/main" id="{38BEFFC6-3654-E37C-2DA6-D9518FD2041E}"/>
              </a:ext>
            </a:extLst>
          </p:cNvPr>
          <p:cNvSpPr txBox="1"/>
          <p:nvPr/>
        </p:nvSpPr>
        <p:spPr>
          <a:xfrm>
            <a:off x="822960" y="5287855"/>
            <a:ext cx="6136640" cy="323165"/>
          </a:xfrm>
          <a:prstGeom prst="rect">
            <a:avLst/>
          </a:prstGeom>
          <a:noFill/>
        </p:spPr>
        <p:txBody>
          <a:bodyPr wrap="square">
            <a:spAutoFit/>
          </a:bodyPr>
          <a:lstStyle/>
          <a:p>
            <a:r>
              <a:rPr lang="en-US" sz="1500" dirty="0">
                <a:solidFill>
                  <a:srgbClr val="64748B"/>
                </a:solidFill>
                <a:latin typeface="Aptos"/>
              </a:rPr>
              <a:t>VS Code • Python virtual environment</a:t>
            </a:r>
          </a:p>
        </p:txBody>
      </p:sp>
      <p:sp>
        <p:nvSpPr>
          <p:cNvPr id="38" name="TextBox 37">
            <a:extLst>
              <a:ext uri="{FF2B5EF4-FFF2-40B4-BE49-F238E27FC236}">
                <a16:creationId xmlns:a16="http://schemas.microsoft.com/office/drawing/2014/main" id="{8DD55B48-87E5-1158-634F-37E430DD5E78}"/>
              </a:ext>
            </a:extLst>
          </p:cNvPr>
          <p:cNvSpPr txBox="1"/>
          <p:nvPr/>
        </p:nvSpPr>
        <p:spPr>
          <a:xfrm>
            <a:off x="5740400" y="4839956"/>
            <a:ext cx="6136640" cy="353943"/>
          </a:xfrm>
          <a:prstGeom prst="rect">
            <a:avLst/>
          </a:prstGeom>
          <a:noFill/>
        </p:spPr>
        <p:txBody>
          <a:bodyPr wrap="square">
            <a:spAutoFit/>
          </a:bodyPr>
          <a:lstStyle/>
          <a:p>
            <a:r>
              <a:rPr lang="en-US" sz="1700" b="1" dirty="0">
                <a:solidFill>
                  <a:srgbClr val="172033"/>
                </a:solidFill>
                <a:latin typeface="Aptos Display"/>
              </a:rPr>
              <a:t>Project Output</a:t>
            </a:r>
          </a:p>
        </p:txBody>
      </p:sp>
      <p:sp>
        <p:nvSpPr>
          <p:cNvPr id="40" name="TextBox 39">
            <a:extLst>
              <a:ext uri="{FF2B5EF4-FFF2-40B4-BE49-F238E27FC236}">
                <a16:creationId xmlns:a16="http://schemas.microsoft.com/office/drawing/2014/main" id="{A4521F48-E5AA-772A-D55B-58D230DDAAB9}"/>
              </a:ext>
            </a:extLst>
          </p:cNvPr>
          <p:cNvSpPr txBox="1"/>
          <p:nvPr/>
        </p:nvSpPr>
        <p:spPr>
          <a:xfrm>
            <a:off x="5740400" y="5228448"/>
            <a:ext cx="3566160" cy="553998"/>
          </a:xfrm>
          <a:prstGeom prst="rect">
            <a:avLst/>
          </a:prstGeom>
          <a:noFill/>
        </p:spPr>
        <p:txBody>
          <a:bodyPr wrap="square">
            <a:spAutoFit/>
          </a:bodyPr>
          <a:lstStyle/>
          <a:p>
            <a:r>
              <a:rPr lang="en-US" sz="1500" dirty="0">
                <a:solidFill>
                  <a:srgbClr val="64748B"/>
                </a:solidFill>
                <a:latin typeface="Aptos"/>
              </a:rPr>
              <a:t>CSV results • PNG graphs • HTML LIME explanations • Web dashboard</a:t>
            </a:r>
          </a:p>
        </p:txBody>
      </p:sp>
    </p:spTree>
    <p:extLst>
      <p:ext uri="{BB962C8B-B14F-4D97-AF65-F5344CB8AC3E}">
        <p14:creationId xmlns:p14="http://schemas.microsoft.com/office/powerpoint/2010/main" val="11839902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C4ABF80-5723-3ACA-8C4D-876D420185A5}"/>
              </a:ext>
            </a:extLst>
          </p:cNvPr>
          <p:cNvSpPr/>
          <p:nvPr/>
        </p:nvSpPr>
        <p:spPr>
          <a:xfrm>
            <a:off x="305" y="351606"/>
            <a:ext cx="12191695" cy="1034143"/>
          </a:xfrm>
          <a:prstGeom prst="rect">
            <a:avLst/>
          </a:prstGeom>
          <a:solidFill>
            <a:srgbClr val="192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28DB38AF-8C94-3E9C-1FD0-E2183182044E}"/>
              </a:ext>
            </a:extLst>
          </p:cNvPr>
          <p:cNvSpPr txBox="1"/>
          <p:nvPr/>
        </p:nvSpPr>
        <p:spPr>
          <a:xfrm>
            <a:off x="619760" y="576289"/>
            <a:ext cx="6136640" cy="584775"/>
          </a:xfrm>
          <a:prstGeom prst="rect">
            <a:avLst/>
          </a:prstGeom>
          <a:noFill/>
        </p:spPr>
        <p:txBody>
          <a:bodyPr wrap="square">
            <a:spAutoFit/>
          </a:bodyPr>
          <a:lstStyle/>
          <a:p>
            <a:pPr>
              <a:defRPr sz="2500" b="1">
                <a:solidFill>
                  <a:srgbClr val="FFFFFF"/>
                </a:solidFill>
              </a:defRPr>
            </a:pPr>
            <a:r>
              <a:rPr lang="en-US" sz="3200" dirty="0"/>
              <a:t>15. Feature Engineering</a:t>
            </a:r>
          </a:p>
        </p:txBody>
      </p:sp>
      <p:sp>
        <p:nvSpPr>
          <p:cNvPr id="6" name="TextBox 5">
            <a:extLst>
              <a:ext uri="{FF2B5EF4-FFF2-40B4-BE49-F238E27FC236}">
                <a16:creationId xmlns:a16="http://schemas.microsoft.com/office/drawing/2014/main" id="{68C41271-7F38-3FE4-A8DD-F97BF13B0105}"/>
              </a:ext>
            </a:extLst>
          </p:cNvPr>
          <p:cNvSpPr txBox="1"/>
          <p:nvPr/>
        </p:nvSpPr>
        <p:spPr>
          <a:xfrm>
            <a:off x="873760" y="1755861"/>
            <a:ext cx="6136640" cy="4708981"/>
          </a:xfrm>
          <a:prstGeom prst="rect">
            <a:avLst/>
          </a:prstGeom>
          <a:noFill/>
        </p:spPr>
        <p:txBody>
          <a:bodyPr wrap="square">
            <a:spAutoFit/>
          </a:bodyPr>
          <a:lstStyle/>
          <a:p>
            <a:pPr>
              <a:buNone/>
            </a:pPr>
            <a:r>
              <a:rPr lang="en-US" sz="2000" b="1" dirty="0"/>
              <a:t>Bank</a:t>
            </a:r>
          </a:p>
          <a:p>
            <a:pPr marL="342900" lvl="0" indent="-342900">
              <a:buFont typeface="Arial" panose="020B0604020202020204" pitchFamily="34" charset="0"/>
              <a:buChar char="•"/>
            </a:pPr>
            <a:r>
              <a:rPr lang="en-US" sz="2000" dirty="0" err="1">
                <a:latin typeface="+mn-lt"/>
              </a:rPr>
              <a:t>previous_success</a:t>
            </a:r>
            <a:r>
              <a:rPr lang="en-US" sz="2000" dirty="0"/>
              <a:t> </a:t>
            </a:r>
          </a:p>
          <a:p>
            <a:pPr marL="342900" lvl="0" indent="-342900">
              <a:buFont typeface="Arial" panose="020B0604020202020204" pitchFamily="34" charset="0"/>
              <a:buChar char="•"/>
            </a:pPr>
            <a:r>
              <a:rPr lang="en-US" sz="2000" dirty="0" err="1">
                <a:latin typeface="+mn-lt"/>
              </a:rPr>
              <a:t>poutcome_success</a:t>
            </a:r>
            <a:r>
              <a:rPr lang="en-US" sz="2000" dirty="0"/>
              <a:t> </a:t>
            </a:r>
          </a:p>
          <a:p>
            <a:pPr marL="342900" lvl="0" indent="-342900">
              <a:buFont typeface="Arial" panose="020B0604020202020204" pitchFamily="34" charset="0"/>
              <a:buChar char="•"/>
            </a:pPr>
            <a:r>
              <a:rPr lang="en-US" sz="2000" dirty="0" err="1">
                <a:latin typeface="+mn-lt"/>
              </a:rPr>
              <a:t>housing_yes</a:t>
            </a:r>
            <a:r>
              <a:rPr lang="en-US" sz="2000" dirty="0"/>
              <a:t> </a:t>
            </a:r>
          </a:p>
          <a:p>
            <a:pPr marL="342900" lvl="0" indent="-342900">
              <a:buFont typeface="Arial" panose="020B0604020202020204" pitchFamily="34" charset="0"/>
              <a:buChar char="•"/>
            </a:pPr>
            <a:r>
              <a:rPr lang="en-US" sz="2000" dirty="0" err="1">
                <a:latin typeface="+mn-lt"/>
              </a:rPr>
              <a:t>campaign_intensity</a:t>
            </a:r>
            <a:r>
              <a:rPr lang="en-US" sz="2000" dirty="0"/>
              <a:t> </a:t>
            </a:r>
          </a:p>
          <a:p>
            <a:pPr marL="342900" lvl="0" indent="-342900">
              <a:buFont typeface="Arial" panose="020B0604020202020204" pitchFamily="34" charset="0"/>
              <a:buChar char="•"/>
            </a:pPr>
            <a:r>
              <a:rPr lang="en-US" sz="2000" dirty="0" err="1">
                <a:latin typeface="+mn-lt"/>
              </a:rPr>
              <a:t>contacted_before</a:t>
            </a:r>
            <a:r>
              <a:rPr lang="en-US" sz="2000" dirty="0"/>
              <a:t> </a:t>
            </a:r>
          </a:p>
          <a:p>
            <a:pPr marL="342900" lvl="0" indent="-342900">
              <a:buFont typeface="Arial" panose="020B0604020202020204" pitchFamily="34" charset="0"/>
              <a:buChar char="•"/>
            </a:pPr>
            <a:r>
              <a:rPr lang="en-US" sz="2000" dirty="0" err="1">
                <a:latin typeface="+mn-lt"/>
              </a:rPr>
              <a:t>balance_abs</a:t>
            </a:r>
            <a:r>
              <a:rPr lang="en-US" sz="2000" dirty="0"/>
              <a:t> </a:t>
            </a:r>
          </a:p>
          <a:p>
            <a:pPr marL="342900" lvl="0" indent="-342900">
              <a:buFont typeface="Arial" panose="020B0604020202020204" pitchFamily="34" charset="0"/>
              <a:buChar char="•"/>
            </a:pPr>
            <a:endParaRPr lang="en-US" sz="2000" dirty="0"/>
          </a:p>
          <a:p>
            <a:pPr>
              <a:buNone/>
            </a:pPr>
            <a:r>
              <a:rPr lang="en-US" sz="2000" b="1" dirty="0"/>
              <a:t>Retail</a:t>
            </a:r>
          </a:p>
          <a:p>
            <a:pPr marL="342900" lvl="0" indent="-342900">
              <a:buFont typeface="Arial" panose="020B0604020202020204" pitchFamily="34" charset="0"/>
              <a:buChar char="•"/>
            </a:pPr>
            <a:r>
              <a:rPr lang="en-US" sz="2000" dirty="0">
                <a:latin typeface="+mn-lt"/>
              </a:rPr>
              <a:t>Year</a:t>
            </a:r>
            <a:r>
              <a:rPr lang="en-US" sz="2000" dirty="0"/>
              <a:t> </a:t>
            </a:r>
          </a:p>
          <a:p>
            <a:pPr marL="342900" lvl="0" indent="-342900">
              <a:buFont typeface="Arial" panose="020B0604020202020204" pitchFamily="34" charset="0"/>
              <a:buChar char="•"/>
            </a:pPr>
            <a:r>
              <a:rPr lang="en-US" sz="2000" dirty="0">
                <a:latin typeface="+mn-lt"/>
              </a:rPr>
              <a:t>Month</a:t>
            </a:r>
            <a:r>
              <a:rPr lang="en-US" sz="2000" dirty="0"/>
              <a:t> </a:t>
            </a:r>
          </a:p>
          <a:p>
            <a:pPr marL="342900" lvl="0" indent="-342900">
              <a:buFont typeface="Arial" panose="020B0604020202020204" pitchFamily="34" charset="0"/>
              <a:buChar char="•"/>
            </a:pPr>
            <a:r>
              <a:rPr lang="en-US" sz="2000" dirty="0">
                <a:latin typeface="+mn-lt"/>
              </a:rPr>
              <a:t>Day</a:t>
            </a:r>
            <a:r>
              <a:rPr lang="en-US" sz="2000" dirty="0"/>
              <a:t> </a:t>
            </a:r>
          </a:p>
          <a:p>
            <a:pPr marL="342900" lvl="0" indent="-342900">
              <a:buFont typeface="Arial" panose="020B0604020202020204" pitchFamily="34" charset="0"/>
              <a:buChar char="•"/>
            </a:pPr>
            <a:r>
              <a:rPr lang="en-US" sz="2000" dirty="0">
                <a:latin typeface="+mn-lt"/>
              </a:rPr>
              <a:t>Hour</a:t>
            </a:r>
            <a:r>
              <a:rPr lang="en-US" sz="2000" dirty="0"/>
              <a:t> </a:t>
            </a:r>
          </a:p>
          <a:p>
            <a:pPr marL="342900" lvl="0" indent="-342900">
              <a:buFont typeface="Arial" panose="020B0604020202020204" pitchFamily="34" charset="0"/>
              <a:buChar char="•"/>
            </a:pPr>
            <a:r>
              <a:rPr lang="en-US" sz="2000" dirty="0" err="1">
                <a:latin typeface="+mn-lt"/>
              </a:rPr>
              <a:t>IsReturn</a:t>
            </a:r>
            <a:r>
              <a:rPr lang="en-US" sz="2000" dirty="0"/>
              <a:t> </a:t>
            </a:r>
          </a:p>
          <a:p>
            <a:pPr marL="342900" lvl="0" indent="-342900">
              <a:buFont typeface="Arial" panose="020B0604020202020204" pitchFamily="34" charset="0"/>
              <a:buChar char="•"/>
            </a:pPr>
            <a:r>
              <a:rPr lang="en-US" sz="2000" dirty="0" err="1">
                <a:latin typeface="+mn-lt"/>
              </a:rPr>
              <a:t>RepeatCustomer</a:t>
            </a:r>
            <a:r>
              <a:rPr lang="en-US" sz="2000" dirty="0"/>
              <a:t> </a:t>
            </a:r>
          </a:p>
        </p:txBody>
      </p:sp>
      <p:sp>
        <p:nvSpPr>
          <p:cNvPr id="8" name="TextBox 7">
            <a:extLst>
              <a:ext uri="{FF2B5EF4-FFF2-40B4-BE49-F238E27FC236}">
                <a16:creationId xmlns:a16="http://schemas.microsoft.com/office/drawing/2014/main" id="{8635BC5B-E1AC-8192-2ED0-6D785AB1EC2A}"/>
              </a:ext>
            </a:extLst>
          </p:cNvPr>
          <p:cNvSpPr txBox="1"/>
          <p:nvPr/>
        </p:nvSpPr>
        <p:spPr>
          <a:xfrm>
            <a:off x="5709920" y="1797784"/>
            <a:ext cx="6136640" cy="1631216"/>
          </a:xfrm>
          <a:prstGeom prst="rect">
            <a:avLst/>
          </a:prstGeom>
          <a:noFill/>
        </p:spPr>
        <p:txBody>
          <a:bodyPr wrap="square">
            <a:spAutoFit/>
          </a:bodyPr>
          <a:lstStyle/>
          <a:p>
            <a:pPr>
              <a:buNone/>
            </a:pPr>
            <a:r>
              <a:rPr lang="en-US" sz="2000" b="1" dirty="0"/>
              <a:t>Telco</a:t>
            </a:r>
          </a:p>
          <a:p>
            <a:pPr marL="342900" lvl="0" indent="-342900">
              <a:buFont typeface="Arial" panose="020B0604020202020204" pitchFamily="34" charset="0"/>
              <a:buChar char="•"/>
            </a:pPr>
            <a:r>
              <a:rPr lang="en-US" sz="2000" dirty="0" err="1">
                <a:latin typeface="+mn-lt"/>
              </a:rPr>
              <a:t>IsLongTermCustomer</a:t>
            </a:r>
            <a:r>
              <a:rPr lang="en-US" sz="2000" dirty="0"/>
              <a:t> </a:t>
            </a:r>
          </a:p>
          <a:p>
            <a:pPr marL="342900" lvl="0" indent="-342900">
              <a:buFont typeface="Arial" panose="020B0604020202020204" pitchFamily="34" charset="0"/>
              <a:buChar char="•"/>
            </a:pPr>
            <a:r>
              <a:rPr lang="en-US" sz="2000" dirty="0" err="1">
                <a:latin typeface="+mn-lt"/>
              </a:rPr>
              <a:t>AverageMonthlySpend</a:t>
            </a:r>
            <a:r>
              <a:rPr lang="en-US" sz="2000" dirty="0"/>
              <a:t> </a:t>
            </a:r>
          </a:p>
          <a:p>
            <a:pPr marL="342900" lvl="0" indent="-342900">
              <a:buFont typeface="Arial" panose="020B0604020202020204" pitchFamily="34" charset="0"/>
              <a:buChar char="•"/>
            </a:pPr>
            <a:r>
              <a:rPr lang="en-US" sz="2000" dirty="0" err="1">
                <a:latin typeface="+mn-lt"/>
              </a:rPr>
              <a:t>IsElectronicPayment</a:t>
            </a:r>
            <a:r>
              <a:rPr lang="en-US" sz="2000" dirty="0"/>
              <a:t> </a:t>
            </a:r>
          </a:p>
          <a:p>
            <a:pPr marL="342900" lvl="0" indent="-342900">
              <a:buFont typeface="Arial" panose="020B0604020202020204" pitchFamily="34" charset="0"/>
              <a:buChar char="•"/>
            </a:pPr>
            <a:r>
              <a:rPr lang="en-US" sz="2000" dirty="0" err="1">
                <a:latin typeface="+mn-lt"/>
              </a:rPr>
              <a:t>HasSecuritySupport</a:t>
            </a:r>
            <a:r>
              <a:rPr lang="en-US" sz="2000" dirty="0"/>
              <a:t> </a:t>
            </a:r>
          </a:p>
        </p:txBody>
      </p:sp>
    </p:spTree>
    <p:extLst>
      <p:ext uri="{BB962C8B-B14F-4D97-AF65-F5344CB8AC3E}">
        <p14:creationId xmlns:p14="http://schemas.microsoft.com/office/powerpoint/2010/main" val="37361920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B2DCE63-25B2-B4C7-FC4C-4F48EFB72510}"/>
              </a:ext>
            </a:extLst>
          </p:cNvPr>
          <p:cNvSpPr/>
          <p:nvPr/>
        </p:nvSpPr>
        <p:spPr>
          <a:xfrm>
            <a:off x="305" y="351606"/>
            <a:ext cx="12191695" cy="1034143"/>
          </a:xfrm>
          <a:prstGeom prst="rect">
            <a:avLst/>
          </a:prstGeom>
          <a:solidFill>
            <a:srgbClr val="192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54C79F2A-2F6F-B699-DE32-584DBA488188}"/>
              </a:ext>
            </a:extLst>
          </p:cNvPr>
          <p:cNvSpPr txBox="1"/>
          <p:nvPr/>
        </p:nvSpPr>
        <p:spPr>
          <a:xfrm>
            <a:off x="629920" y="576289"/>
            <a:ext cx="6136640" cy="584775"/>
          </a:xfrm>
          <a:prstGeom prst="rect">
            <a:avLst/>
          </a:prstGeom>
          <a:noFill/>
        </p:spPr>
        <p:txBody>
          <a:bodyPr wrap="square">
            <a:spAutoFit/>
          </a:bodyPr>
          <a:lstStyle/>
          <a:p>
            <a:pPr>
              <a:defRPr sz="2500" b="1">
                <a:solidFill>
                  <a:srgbClr val="FFFFFF"/>
                </a:solidFill>
              </a:defRPr>
            </a:pPr>
            <a:r>
              <a:rPr lang="en-US" sz="3200" dirty="0"/>
              <a:t>15. Feature Selection</a:t>
            </a:r>
          </a:p>
        </p:txBody>
      </p:sp>
      <p:sp>
        <p:nvSpPr>
          <p:cNvPr id="8" name="TextBox 7">
            <a:extLst>
              <a:ext uri="{FF2B5EF4-FFF2-40B4-BE49-F238E27FC236}">
                <a16:creationId xmlns:a16="http://schemas.microsoft.com/office/drawing/2014/main" id="{5265A857-E4C5-4BC3-2413-766076EDE638}"/>
              </a:ext>
            </a:extLst>
          </p:cNvPr>
          <p:cNvSpPr txBox="1"/>
          <p:nvPr/>
        </p:nvSpPr>
        <p:spPr>
          <a:xfrm>
            <a:off x="629920" y="2143065"/>
            <a:ext cx="6136640" cy="3539430"/>
          </a:xfrm>
          <a:prstGeom prst="rect">
            <a:avLst/>
          </a:prstGeom>
          <a:noFill/>
        </p:spPr>
        <p:txBody>
          <a:bodyPr wrap="square">
            <a:spAutoFit/>
          </a:bodyPr>
          <a:lstStyle/>
          <a:p>
            <a:r>
              <a:rPr lang="en-US" sz="2800" b="1" dirty="0"/>
              <a:t>Bank:</a:t>
            </a:r>
          </a:p>
          <a:p>
            <a:r>
              <a:rPr lang="en-US" sz="2800" dirty="0"/>
              <a:t>duration </a:t>
            </a:r>
          </a:p>
          <a:p>
            <a:r>
              <a:rPr lang="en-US" sz="2800" dirty="0" err="1"/>
              <a:t>previous_success</a:t>
            </a:r>
            <a:r>
              <a:rPr lang="en-US" sz="2800" dirty="0"/>
              <a:t> </a:t>
            </a:r>
          </a:p>
          <a:p>
            <a:r>
              <a:rPr lang="en-US" sz="2800" dirty="0" err="1"/>
              <a:t>poutcome_success</a:t>
            </a:r>
            <a:r>
              <a:rPr lang="en-US" sz="2800" dirty="0"/>
              <a:t> </a:t>
            </a:r>
          </a:p>
          <a:p>
            <a:r>
              <a:rPr lang="en-US" sz="2800" dirty="0" err="1"/>
              <a:t>housing_yes</a:t>
            </a:r>
            <a:r>
              <a:rPr lang="en-US" sz="2800" dirty="0"/>
              <a:t> </a:t>
            </a:r>
          </a:p>
          <a:p>
            <a:r>
              <a:rPr lang="en-US" sz="2800" dirty="0" err="1"/>
              <a:t>pdays</a:t>
            </a:r>
            <a:r>
              <a:rPr lang="en-US" sz="2800" dirty="0"/>
              <a:t> </a:t>
            </a:r>
          </a:p>
          <a:p>
            <a:r>
              <a:rPr lang="en-US" sz="2800" dirty="0" err="1"/>
              <a:t>campaign_intensity</a:t>
            </a:r>
            <a:r>
              <a:rPr lang="en-US" sz="2800" dirty="0"/>
              <a:t> </a:t>
            </a:r>
          </a:p>
          <a:p>
            <a:r>
              <a:rPr lang="en-US" sz="2800" dirty="0" err="1"/>
              <a:t>month_may</a:t>
            </a:r>
            <a:r>
              <a:rPr lang="en-US" sz="2800" dirty="0"/>
              <a:t> </a:t>
            </a:r>
          </a:p>
        </p:txBody>
      </p:sp>
      <p:sp>
        <p:nvSpPr>
          <p:cNvPr id="10" name="TextBox 9">
            <a:extLst>
              <a:ext uri="{FF2B5EF4-FFF2-40B4-BE49-F238E27FC236}">
                <a16:creationId xmlns:a16="http://schemas.microsoft.com/office/drawing/2014/main" id="{DE9B84E1-3BFF-7A13-95EB-0FF83E655FB5}"/>
              </a:ext>
            </a:extLst>
          </p:cNvPr>
          <p:cNvSpPr txBox="1"/>
          <p:nvPr/>
        </p:nvSpPr>
        <p:spPr>
          <a:xfrm>
            <a:off x="5334000" y="2143065"/>
            <a:ext cx="6136640" cy="3970318"/>
          </a:xfrm>
          <a:prstGeom prst="rect">
            <a:avLst/>
          </a:prstGeom>
          <a:noFill/>
        </p:spPr>
        <p:txBody>
          <a:bodyPr wrap="square">
            <a:spAutoFit/>
          </a:bodyPr>
          <a:lstStyle/>
          <a:p>
            <a:r>
              <a:rPr lang="en-US" sz="2800" dirty="0"/>
              <a:t>previous </a:t>
            </a:r>
          </a:p>
          <a:p>
            <a:r>
              <a:rPr lang="en-US" sz="2800" dirty="0" err="1"/>
              <a:t>month_mar</a:t>
            </a:r>
            <a:r>
              <a:rPr lang="en-US" sz="2800" dirty="0"/>
              <a:t> </a:t>
            </a:r>
          </a:p>
          <a:p>
            <a:r>
              <a:rPr lang="en-US" sz="2800" dirty="0" err="1"/>
              <a:t>month_oct</a:t>
            </a:r>
            <a:r>
              <a:rPr lang="en-US" sz="2800" dirty="0"/>
              <a:t> </a:t>
            </a:r>
          </a:p>
          <a:p>
            <a:r>
              <a:rPr lang="en-US" sz="2800" dirty="0"/>
              <a:t>balance </a:t>
            </a:r>
          </a:p>
          <a:p>
            <a:r>
              <a:rPr lang="en-US" sz="2800" dirty="0" err="1"/>
              <a:t>contacted_before</a:t>
            </a:r>
            <a:r>
              <a:rPr lang="en-US" sz="2800" dirty="0"/>
              <a:t> </a:t>
            </a:r>
          </a:p>
          <a:p>
            <a:r>
              <a:rPr lang="en-US" sz="2800" dirty="0" err="1"/>
              <a:t>balance_abs</a:t>
            </a:r>
            <a:r>
              <a:rPr lang="en-US" sz="2800" dirty="0"/>
              <a:t> </a:t>
            </a:r>
          </a:p>
          <a:p>
            <a:r>
              <a:rPr lang="en-US" sz="2800" dirty="0"/>
              <a:t>campaign </a:t>
            </a:r>
          </a:p>
          <a:p>
            <a:r>
              <a:rPr lang="en-US" sz="2800" dirty="0"/>
              <a:t>age </a:t>
            </a:r>
          </a:p>
          <a:p>
            <a:r>
              <a:rPr lang="en-US" sz="2800" dirty="0"/>
              <a:t>y</a:t>
            </a:r>
          </a:p>
        </p:txBody>
      </p:sp>
    </p:spTree>
    <p:extLst>
      <p:ext uri="{BB962C8B-B14F-4D97-AF65-F5344CB8AC3E}">
        <p14:creationId xmlns:p14="http://schemas.microsoft.com/office/powerpoint/2010/main" val="15144106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754A2B9-1EA2-2885-427F-9DC1DA684BF5}"/>
              </a:ext>
            </a:extLst>
          </p:cNvPr>
          <p:cNvSpPr/>
          <p:nvPr/>
        </p:nvSpPr>
        <p:spPr>
          <a:xfrm>
            <a:off x="305" y="351606"/>
            <a:ext cx="12191695" cy="1034143"/>
          </a:xfrm>
          <a:prstGeom prst="rect">
            <a:avLst/>
          </a:prstGeom>
          <a:solidFill>
            <a:srgbClr val="192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13130AF5-C7D5-0C67-3785-6919A6F167CC}"/>
              </a:ext>
            </a:extLst>
          </p:cNvPr>
          <p:cNvSpPr txBox="1"/>
          <p:nvPr/>
        </p:nvSpPr>
        <p:spPr>
          <a:xfrm>
            <a:off x="1056640" y="1805355"/>
            <a:ext cx="6136640" cy="4401205"/>
          </a:xfrm>
          <a:prstGeom prst="rect">
            <a:avLst/>
          </a:prstGeom>
          <a:noFill/>
        </p:spPr>
        <p:txBody>
          <a:bodyPr wrap="square">
            <a:spAutoFit/>
          </a:bodyPr>
          <a:lstStyle/>
          <a:p>
            <a:r>
              <a:rPr lang="en-US" sz="2800" b="1" dirty="0"/>
              <a:t>Online Retail:</a:t>
            </a:r>
          </a:p>
          <a:p>
            <a:r>
              <a:rPr lang="en-US" sz="2800" dirty="0"/>
              <a:t>Quantity </a:t>
            </a:r>
          </a:p>
          <a:p>
            <a:r>
              <a:rPr lang="en-US" sz="2800" dirty="0" err="1"/>
              <a:t>UnitPrice</a:t>
            </a:r>
            <a:r>
              <a:rPr lang="en-US" sz="2800" dirty="0"/>
              <a:t> </a:t>
            </a:r>
          </a:p>
          <a:p>
            <a:r>
              <a:rPr lang="en-US" sz="2800" dirty="0"/>
              <a:t>Year </a:t>
            </a:r>
          </a:p>
          <a:p>
            <a:r>
              <a:rPr lang="en-US" sz="2800" dirty="0"/>
              <a:t>Month </a:t>
            </a:r>
          </a:p>
          <a:p>
            <a:r>
              <a:rPr lang="en-US" sz="2800" dirty="0"/>
              <a:t>Day </a:t>
            </a:r>
          </a:p>
          <a:p>
            <a:r>
              <a:rPr lang="en-US" sz="2800" dirty="0"/>
              <a:t>Hour </a:t>
            </a:r>
          </a:p>
          <a:p>
            <a:r>
              <a:rPr lang="en-US" sz="2800" dirty="0" err="1"/>
              <a:t>IsReturn</a:t>
            </a:r>
            <a:r>
              <a:rPr lang="en-US" sz="2800" dirty="0"/>
              <a:t> </a:t>
            </a:r>
          </a:p>
          <a:p>
            <a:r>
              <a:rPr lang="en-US" sz="2800" dirty="0"/>
              <a:t>Country </a:t>
            </a:r>
          </a:p>
          <a:p>
            <a:r>
              <a:rPr lang="en-US" sz="2800" dirty="0" err="1"/>
              <a:t>RepeatCustomer</a:t>
            </a:r>
            <a:endParaRPr lang="en-US" sz="2800" dirty="0"/>
          </a:p>
        </p:txBody>
      </p:sp>
    </p:spTree>
    <p:extLst>
      <p:ext uri="{BB962C8B-B14F-4D97-AF65-F5344CB8AC3E}">
        <p14:creationId xmlns:p14="http://schemas.microsoft.com/office/powerpoint/2010/main" val="31803337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A8ABADF-B0A5-09D0-34AD-5A8E1885C751}"/>
              </a:ext>
            </a:extLst>
          </p:cNvPr>
          <p:cNvSpPr/>
          <p:nvPr/>
        </p:nvSpPr>
        <p:spPr>
          <a:xfrm>
            <a:off x="305" y="351606"/>
            <a:ext cx="12191695" cy="1034143"/>
          </a:xfrm>
          <a:prstGeom prst="rect">
            <a:avLst/>
          </a:prstGeom>
          <a:solidFill>
            <a:srgbClr val="192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88B5824B-063C-9C87-B5B2-D287451DF9C4}"/>
              </a:ext>
            </a:extLst>
          </p:cNvPr>
          <p:cNvSpPr txBox="1"/>
          <p:nvPr/>
        </p:nvSpPr>
        <p:spPr>
          <a:xfrm>
            <a:off x="589280" y="1612747"/>
            <a:ext cx="6136640" cy="4893647"/>
          </a:xfrm>
          <a:prstGeom prst="rect">
            <a:avLst/>
          </a:prstGeom>
          <a:noFill/>
        </p:spPr>
        <p:txBody>
          <a:bodyPr wrap="square">
            <a:spAutoFit/>
          </a:bodyPr>
          <a:lstStyle/>
          <a:p>
            <a:r>
              <a:rPr lang="en-US" sz="2400" b="1" dirty="0"/>
              <a:t>Telco Customer Churn:</a:t>
            </a:r>
          </a:p>
          <a:p>
            <a:r>
              <a:rPr lang="en-US" sz="2400" dirty="0"/>
              <a:t>tenure </a:t>
            </a:r>
          </a:p>
          <a:p>
            <a:r>
              <a:rPr lang="en-US" sz="2400" dirty="0" err="1"/>
              <a:t>Contract_Two</a:t>
            </a:r>
            <a:r>
              <a:rPr lang="en-US" sz="2400" dirty="0"/>
              <a:t> </a:t>
            </a:r>
          </a:p>
          <a:p>
            <a:r>
              <a:rPr lang="en-US" sz="2400" dirty="0"/>
              <a:t>year </a:t>
            </a:r>
          </a:p>
          <a:p>
            <a:r>
              <a:rPr lang="en-US" sz="2400" dirty="0" err="1"/>
              <a:t>IsLongTermCustomer</a:t>
            </a:r>
            <a:r>
              <a:rPr lang="en-US" sz="2400" dirty="0"/>
              <a:t> </a:t>
            </a:r>
          </a:p>
          <a:p>
            <a:r>
              <a:rPr lang="en-US" sz="2400" dirty="0" err="1"/>
              <a:t>InternetService_Fiber</a:t>
            </a:r>
            <a:r>
              <a:rPr lang="en-US" sz="2400" dirty="0"/>
              <a:t> </a:t>
            </a:r>
          </a:p>
          <a:p>
            <a:r>
              <a:rPr lang="en-US" sz="2400" dirty="0"/>
              <a:t>optic </a:t>
            </a:r>
          </a:p>
          <a:p>
            <a:r>
              <a:rPr lang="en-US" sz="2400" dirty="0" err="1"/>
              <a:t>PaymentMethod_Electronic</a:t>
            </a:r>
            <a:r>
              <a:rPr lang="en-US" sz="2400" dirty="0"/>
              <a:t> </a:t>
            </a:r>
          </a:p>
          <a:p>
            <a:r>
              <a:rPr lang="en-US" sz="2400" dirty="0"/>
              <a:t>check </a:t>
            </a:r>
          </a:p>
          <a:p>
            <a:r>
              <a:rPr lang="en-US" sz="2400" dirty="0" err="1"/>
              <a:t>IsElectronicPayment</a:t>
            </a:r>
            <a:r>
              <a:rPr lang="en-US" sz="2400" dirty="0"/>
              <a:t> </a:t>
            </a:r>
          </a:p>
          <a:p>
            <a:r>
              <a:rPr lang="en-US" sz="2400" dirty="0" err="1"/>
              <a:t>TotalCharges</a:t>
            </a:r>
            <a:r>
              <a:rPr lang="en-US" sz="2400" dirty="0"/>
              <a:t> </a:t>
            </a:r>
          </a:p>
          <a:p>
            <a:r>
              <a:rPr lang="en-US" sz="2400" dirty="0" err="1"/>
              <a:t>MonthlyCharges</a:t>
            </a:r>
            <a:r>
              <a:rPr lang="en-US" sz="2400" dirty="0"/>
              <a:t> </a:t>
            </a:r>
          </a:p>
          <a:p>
            <a:r>
              <a:rPr lang="en-US" sz="2400" dirty="0" err="1"/>
              <a:t>AverageMonthlySpend</a:t>
            </a:r>
            <a:r>
              <a:rPr lang="en-US" sz="2400" dirty="0"/>
              <a:t> </a:t>
            </a:r>
          </a:p>
        </p:txBody>
      </p:sp>
      <p:sp>
        <p:nvSpPr>
          <p:cNvPr id="6" name="TextBox 5">
            <a:extLst>
              <a:ext uri="{FF2B5EF4-FFF2-40B4-BE49-F238E27FC236}">
                <a16:creationId xmlns:a16="http://schemas.microsoft.com/office/drawing/2014/main" id="{A0488F04-EC5E-9186-7807-37376E7384C7}"/>
              </a:ext>
            </a:extLst>
          </p:cNvPr>
          <p:cNvSpPr txBox="1"/>
          <p:nvPr/>
        </p:nvSpPr>
        <p:spPr>
          <a:xfrm>
            <a:off x="5750560" y="2351410"/>
            <a:ext cx="6136640" cy="3416320"/>
          </a:xfrm>
          <a:prstGeom prst="rect">
            <a:avLst/>
          </a:prstGeom>
          <a:noFill/>
        </p:spPr>
        <p:txBody>
          <a:bodyPr wrap="square">
            <a:spAutoFit/>
          </a:bodyPr>
          <a:lstStyle/>
          <a:p>
            <a:r>
              <a:rPr lang="en-US" sz="2400" dirty="0" err="1"/>
              <a:t>TechSupport_No</a:t>
            </a:r>
            <a:r>
              <a:rPr lang="en-US" sz="2400" dirty="0"/>
              <a:t> </a:t>
            </a:r>
          </a:p>
          <a:p>
            <a:r>
              <a:rPr lang="en-US" sz="2400" dirty="0"/>
              <a:t>internet service </a:t>
            </a:r>
          </a:p>
          <a:p>
            <a:r>
              <a:rPr lang="en-US" sz="2400" dirty="0" err="1"/>
              <a:t>Contract_One</a:t>
            </a:r>
            <a:r>
              <a:rPr lang="en-US" sz="2400" dirty="0"/>
              <a:t> </a:t>
            </a:r>
          </a:p>
          <a:p>
            <a:r>
              <a:rPr lang="en-US" sz="2400" dirty="0"/>
              <a:t>year </a:t>
            </a:r>
          </a:p>
          <a:p>
            <a:r>
              <a:rPr lang="en-US" sz="2400" dirty="0" err="1"/>
              <a:t>InternetService_No</a:t>
            </a:r>
            <a:r>
              <a:rPr lang="en-US" sz="2400" dirty="0"/>
              <a:t> </a:t>
            </a:r>
          </a:p>
          <a:p>
            <a:r>
              <a:rPr lang="en-US" sz="2400" dirty="0" err="1"/>
              <a:t>HasSecuritySupport</a:t>
            </a:r>
            <a:r>
              <a:rPr lang="en-US" sz="2400" dirty="0"/>
              <a:t> </a:t>
            </a:r>
          </a:p>
          <a:p>
            <a:r>
              <a:rPr lang="en-US" sz="2400" dirty="0" err="1"/>
              <a:t>PaperlessBilling_Yes</a:t>
            </a:r>
            <a:r>
              <a:rPr lang="en-US" sz="2400" dirty="0"/>
              <a:t> </a:t>
            </a:r>
          </a:p>
          <a:p>
            <a:r>
              <a:rPr lang="en-US" sz="2400" dirty="0" err="1"/>
              <a:t>DeviceProtection_No</a:t>
            </a:r>
            <a:r>
              <a:rPr lang="en-US" sz="2400" dirty="0"/>
              <a:t> </a:t>
            </a:r>
          </a:p>
          <a:p>
            <a:r>
              <a:rPr lang="en-US" sz="2400" dirty="0"/>
              <a:t>internet service</a:t>
            </a:r>
          </a:p>
        </p:txBody>
      </p:sp>
    </p:spTree>
    <p:extLst>
      <p:ext uri="{BB962C8B-B14F-4D97-AF65-F5344CB8AC3E}">
        <p14:creationId xmlns:p14="http://schemas.microsoft.com/office/powerpoint/2010/main" val="22622474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CCEB907-647B-D0BD-2DDE-A270EC95FFC7}"/>
              </a:ext>
            </a:extLst>
          </p:cNvPr>
          <p:cNvSpPr/>
          <p:nvPr/>
        </p:nvSpPr>
        <p:spPr>
          <a:xfrm>
            <a:off x="305" y="351606"/>
            <a:ext cx="12191695" cy="1034143"/>
          </a:xfrm>
          <a:prstGeom prst="rect">
            <a:avLst/>
          </a:prstGeom>
          <a:solidFill>
            <a:srgbClr val="192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098B185B-F60E-2298-E9F5-EA00E6D8A3DB}"/>
              </a:ext>
            </a:extLst>
          </p:cNvPr>
          <p:cNvSpPr txBox="1"/>
          <p:nvPr/>
        </p:nvSpPr>
        <p:spPr>
          <a:xfrm>
            <a:off x="762000" y="1610432"/>
            <a:ext cx="10180320" cy="5355312"/>
          </a:xfrm>
          <a:prstGeom prst="rect">
            <a:avLst/>
          </a:prstGeom>
          <a:noFill/>
        </p:spPr>
        <p:txBody>
          <a:bodyPr wrap="square">
            <a:spAutoFit/>
          </a:bodyPr>
          <a:lstStyle/>
          <a:p>
            <a:pPr marL="285750" lvl="0" indent="-285750">
              <a:buFont typeface="Arial" panose="020B0604020202020204" pitchFamily="34" charset="0"/>
              <a:buChar char="•"/>
            </a:pPr>
            <a:r>
              <a:rPr lang="en-US" b="1" dirty="0"/>
              <a:t>Logistic Regression</a:t>
            </a:r>
            <a:r>
              <a:rPr lang="en-US" dirty="0"/>
              <a:t> </a:t>
            </a:r>
          </a:p>
          <a:p>
            <a:pPr lvl="1"/>
            <a:r>
              <a:rPr lang="en-US" dirty="0"/>
              <a:t>Used as an interpretable baseline model. </a:t>
            </a:r>
          </a:p>
          <a:p>
            <a:pPr lvl="1"/>
            <a:r>
              <a:rPr lang="en-US" dirty="0"/>
              <a:t>Helps compare linear performance with more complex models. </a:t>
            </a:r>
          </a:p>
          <a:p>
            <a:pPr marL="285750" lvl="0" indent="-285750">
              <a:buFont typeface="Arial" panose="020B0604020202020204" pitchFamily="34" charset="0"/>
              <a:buChar char="•"/>
            </a:pPr>
            <a:r>
              <a:rPr lang="en-US" b="1" dirty="0"/>
              <a:t>Decision Tree</a:t>
            </a:r>
            <a:r>
              <a:rPr lang="en-US" dirty="0"/>
              <a:t> </a:t>
            </a:r>
          </a:p>
          <a:p>
            <a:pPr lvl="1"/>
            <a:r>
              <a:rPr lang="en-US" dirty="0"/>
              <a:t>Captures nonlinear relationships in business data. </a:t>
            </a:r>
          </a:p>
          <a:p>
            <a:pPr lvl="1"/>
            <a:r>
              <a:rPr lang="en-US" dirty="0"/>
              <a:t>Provides simple rule-based predictions. </a:t>
            </a:r>
          </a:p>
          <a:p>
            <a:pPr marL="285750" lvl="0" indent="-285750">
              <a:buFont typeface="Arial" panose="020B0604020202020204" pitchFamily="34" charset="0"/>
              <a:buChar char="•"/>
            </a:pPr>
            <a:r>
              <a:rPr lang="en-US" b="1" dirty="0"/>
              <a:t>Random Forest</a:t>
            </a:r>
            <a:r>
              <a:rPr lang="en-US" dirty="0"/>
              <a:t> </a:t>
            </a:r>
          </a:p>
          <a:p>
            <a:pPr lvl="1"/>
            <a:r>
              <a:rPr lang="en-US" dirty="0"/>
              <a:t>Used as a strong ensemble baseline. </a:t>
            </a:r>
          </a:p>
          <a:p>
            <a:pPr lvl="1"/>
            <a:r>
              <a:rPr lang="en-US" dirty="0"/>
              <a:t>Also evaluated as a component of hybrid models. </a:t>
            </a:r>
          </a:p>
          <a:p>
            <a:pPr marL="285750" lvl="0" indent="-285750">
              <a:buFont typeface="Arial" panose="020B0604020202020204" pitchFamily="34" charset="0"/>
              <a:buChar char="•"/>
            </a:pPr>
            <a:r>
              <a:rPr lang="en-US" b="1" dirty="0" err="1"/>
              <a:t>XGBoost</a:t>
            </a:r>
            <a:r>
              <a:rPr lang="en-US" dirty="0"/>
              <a:t> </a:t>
            </a:r>
          </a:p>
          <a:p>
            <a:pPr lvl="1"/>
            <a:r>
              <a:rPr lang="en-US" dirty="0"/>
              <a:t>Captures complex nonlinear patterns. </a:t>
            </a:r>
          </a:p>
          <a:p>
            <a:pPr lvl="1"/>
            <a:r>
              <a:rPr lang="en-US" dirty="0"/>
              <a:t>Used as both a baseline model and a hybrid-model component. </a:t>
            </a:r>
          </a:p>
          <a:p>
            <a:pPr marL="285750" lvl="0" indent="-285750">
              <a:buFont typeface="Arial" panose="020B0604020202020204" pitchFamily="34" charset="0"/>
              <a:buChar char="•"/>
            </a:pPr>
            <a:r>
              <a:rPr lang="en-US" b="1" dirty="0"/>
              <a:t>SVM</a:t>
            </a:r>
            <a:r>
              <a:rPr lang="en-US" dirty="0"/>
              <a:t> </a:t>
            </a:r>
          </a:p>
          <a:p>
            <a:pPr lvl="1"/>
            <a:r>
              <a:rPr lang="en-US" dirty="0"/>
              <a:t>Provides a different classification approach and increases model diversity. </a:t>
            </a:r>
          </a:p>
          <a:p>
            <a:pPr lvl="1"/>
            <a:r>
              <a:rPr lang="en-US" dirty="0"/>
              <a:t>Used during experimentation with multiple hybrid combinations. </a:t>
            </a:r>
          </a:p>
          <a:p>
            <a:pPr marL="285750" lvl="0" indent="-285750">
              <a:buFont typeface="Arial" panose="020B0604020202020204" pitchFamily="34" charset="0"/>
              <a:buChar char="•"/>
            </a:pPr>
            <a:r>
              <a:rPr lang="en-US" b="1" dirty="0" err="1"/>
              <a:t>HistGradientBoosting</a:t>
            </a:r>
            <a:r>
              <a:rPr lang="en-US" dirty="0"/>
              <a:t> </a:t>
            </a:r>
          </a:p>
          <a:p>
            <a:pPr lvl="1"/>
            <a:r>
              <a:rPr lang="en-US" dirty="0"/>
              <a:t>Provides another strong boosting-based model. </a:t>
            </a:r>
          </a:p>
          <a:p>
            <a:pPr lvl="1"/>
            <a:r>
              <a:rPr lang="en-US" dirty="0"/>
              <a:t>Used for hybrid modeling and explainability experiments.</a:t>
            </a:r>
          </a:p>
          <a:p>
            <a:pPr>
              <a:buNone/>
            </a:pPr>
            <a:endParaRPr lang="en-US" dirty="0"/>
          </a:p>
        </p:txBody>
      </p:sp>
      <p:sp>
        <p:nvSpPr>
          <p:cNvPr id="8" name="TextBox 7">
            <a:extLst>
              <a:ext uri="{FF2B5EF4-FFF2-40B4-BE49-F238E27FC236}">
                <a16:creationId xmlns:a16="http://schemas.microsoft.com/office/drawing/2014/main" id="{53EF1561-F3CF-4AF4-4C00-142C11E08598}"/>
              </a:ext>
            </a:extLst>
          </p:cNvPr>
          <p:cNvSpPr txBox="1"/>
          <p:nvPr/>
        </p:nvSpPr>
        <p:spPr>
          <a:xfrm>
            <a:off x="599440" y="576289"/>
            <a:ext cx="8564880" cy="584775"/>
          </a:xfrm>
          <a:prstGeom prst="rect">
            <a:avLst/>
          </a:prstGeom>
          <a:noFill/>
        </p:spPr>
        <p:txBody>
          <a:bodyPr wrap="square">
            <a:spAutoFit/>
          </a:bodyPr>
          <a:lstStyle/>
          <a:p>
            <a:pPr>
              <a:defRPr sz="2500" b="1">
                <a:solidFill>
                  <a:srgbClr val="FFFFFF"/>
                </a:solidFill>
              </a:defRPr>
            </a:pPr>
            <a:r>
              <a:rPr lang="en-US" sz="3200" dirty="0"/>
              <a:t>16. Baseline Machine Learning Models</a:t>
            </a:r>
          </a:p>
        </p:txBody>
      </p:sp>
    </p:spTree>
    <p:extLst>
      <p:ext uri="{BB962C8B-B14F-4D97-AF65-F5344CB8AC3E}">
        <p14:creationId xmlns:p14="http://schemas.microsoft.com/office/powerpoint/2010/main" val="34696779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1D770DB-2993-8F3E-F0FB-2FD6127A8E2A}"/>
              </a:ext>
            </a:extLst>
          </p:cNvPr>
          <p:cNvSpPr/>
          <p:nvPr/>
        </p:nvSpPr>
        <p:spPr>
          <a:xfrm>
            <a:off x="305" y="351606"/>
            <a:ext cx="12191695" cy="1034143"/>
          </a:xfrm>
          <a:prstGeom prst="rect">
            <a:avLst/>
          </a:prstGeom>
          <a:solidFill>
            <a:srgbClr val="192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2" name="Table 1">
            <a:extLst>
              <a:ext uri="{FF2B5EF4-FFF2-40B4-BE49-F238E27FC236}">
                <a16:creationId xmlns:a16="http://schemas.microsoft.com/office/drawing/2014/main" id="{5E298369-3032-30BF-9E7B-7035249B4F6F}"/>
              </a:ext>
            </a:extLst>
          </p:cNvPr>
          <p:cNvGraphicFramePr>
            <a:graphicFrameLocks noGrp="1"/>
          </p:cNvGraphicFramePr>
          <p:nvPr>
            <p:extLst>
              <p:ext uri="{D42A27DB-BD31-4B8C-83A1-F6EECF244321}">
                <p14:modId xmlns:p14="http://schemas.microsoft.com/office/powerpoint/2010/main" val="1450228100"/>
              </p:ext>
            </p:extLst>
          </p:nvPr>
        </p:nvGraphicFramePr>
        <p:xfrm>
          <a:off x="934720" y="1757681"/>
          <a:ext cx="10271760" cy="4639331"/>
        </p:xfrm>
        <a:graphic>
          <a:graphicData uri="http://schemas.openxmlformats.org/drawingml/2006/table">
            <a:tbl>
              <a:tblPr>
                <a:tableStyleId>{5C22544A-7EE6-4342-B048-85BDC9FD1C3A}</a:tableStyleId>
              </a:tblPr>
              <a:tblGrid>
                <a:gridCol w="5135880">
                  <a:extLst>
                    <a:ext uri="{9D8B030D-6E8A-4147-A177-3AD203B41FA5}">
                      <a16:colId xmlns:a16="http://schemas.microsoft.com/office/drawing/2014/main" val="1741795687"/>
                    </a:ext>
                  </a:extLst>
                </a:gridCol>
                <a:gridCol w="5135880">
                  <a:extLst>
                    <a:ext uri="{9D8B030D-6E8A-4147-A177-3AD203B41FA5}">
                      <a16:colId xmlns:a16="http://schemas.microsoft.com/office/drawing/2014/main" val="1912048619"/>
                    </a:ext>
                  </a:extLst>
                </a:gridCol>
              </a:tblGrid>
              <a:tr h="463933">
                <a:tc>
                  <a:txBody>
                    <a:bodyPr/>
                    <a:lstStyle/>
                    <a:p>
                      <a:pPr>
                        <a:buNone/>
                      </a:pPr>
                      <a:r>
                        <a:rPr lang="en-US" b="1" dirty="0"/>
                        <a:t>Metric</a:t>
                      </a:r>
                    </a:p>
                  </a:txBody>
                  <a:tcPr anchor="ctr"/>
                </a:tc>
                <a:tc>
                  <a:txBody>
                    <a:bodyPr/>
                    <a:lstStyle/>
                    <a:p>
                      <a:pPr>
                        <a:buNone/>
                      </a:pPr>
                      <a:r>
                        <a:rPr lang="en-US" b="1" dirty="0"/>
                        <a:t>Purpose</a:t>
                      </a:r>
                    </a:p>
                  </a:txBody>
                  <a:tcPr anchor="ctr"/>
                </a:tc>
                <a:extLst>
                  <a:ext uri="{0D108BD9-81ED-4DB2-BD59-A6C34878D82A}">
                    <a16:rowId xmlns:a16="http://schemas.microsoft.com/office/drawing/2014/main" val="460354792"/>
                  </a:ext>
                </a:extLst>
              </a:tr>
              <a:tr h="811883">
                <a:tc>
                  <a:txBody>
                    <a:bodyPr/>
                    <a:lstStyle/>
                    <a:p>
                      <a:pPr>
                        <a:buNone/>
                      </a:pPr>
                      <a:r>
                        <a:rPr lang="en-US"/>
                        <a:t>Accuracy</a:t>
                      </a:r>
                    </a:p>
                  </a:txBody>
                  <a:tcPr anchor="ctr"/>
                </a:tc>
                <a:tc>
                  <a:txBody>
                    <a:bodyPr/>
                    <a:lstStyle/>
                    <a:p>
                      <a:pPr>
                        <a:buNone/>
                      </a:pPr>
                      <a:r>
                        <a:rPr lang="en-US" dirty="0"/>
                        <a:t>Measures the overall percentage of correct predictions</a:t>
                      </a:r>
                    </a:p>
                  </a:txBody>
                  <a:tcPr anchor="ctr"/>
                </a:tc>
                <a:extLst>
                  <a:ext uri="{0D108BD9-81ED-4DB2-BD59-A6C34878D82A}">
                    <a16:rowId xmlns:a16="http://schemas.microsoft.com/office/drawing/2014/main" val="366461294"/>
                  </a:ext>
                </a:extLst>
              </a:tr>
              <a:tr h="811883">
                <a:tc>
                  <a:txBody>
                    <a:bodyPr/>
                    <a:lstStyle/>
                    <a:p>
                      <a:pPr>
                        <a:buNone/>
                      </a:pPr>
                      <a:r>
                        <a:rPr lang="en-US"/>
                        <a:t>Precision</a:t>
                      </a:r>
                    </a:p>
                  </a:txBody>
                  <a:tcPr anchor="ctr"/>
                </a:tc>
                <a:tc>
                  <a:txBody>
                    <a:bodyPr/>
                    <a:lstStyle/>
                    <a:p>
                      <a:pPr>
                        <a:buNone/>
                      </a:pPr>
                      <a:r>
                        <a:rPr lang="en-US"/>
                        <a:t>Measures how many predicted positive cases are actually positive</a:t>
                      </a:r>
                    </a:p>
                  </a:txBody>
                  <a:tcPr anchor="ctr"/>
                </a:tc>
                <a:extLst>
                  <a:ext uri="{0D108BD9-81ED-4DB2-BD59-A6C34878D82A}">
                    <a16:rowId xmlns:a16="http://schemas.microsoft.com/office/drawing/2014/main" val="1701578707"/>
                  </a:ext>
                </a:extLst>
              </a:tr>
              <a:tr h="811883">
                <a:tc>
                  <a:txBody>
                    <a:bodyPr/>
                    <a:lstStyle/>
                    <a:p>
                      <a:pPr>
                        <a:buNone/>
                      </a:pPr>
                      <a:r>
                        <a:rPr lang="en-US"/>
                        <a:t>Recall</a:t>
                      </a:r>
                    </a:p>
                  </a:txBody>
                  <a:tcPr anchor="ctr"/>
                </a:tc>
                <a:tc>
                  <a:txBody>
                    <a:bodyPr/>
                    <a:lstStyle/>
                    <a:p>
                      <a:pPr>
                        <a:buNone/>
                      </a:pPr>
                      <a:r>
                        <a:rPr lang="en-US"/>
                        <a:t>Measures how many actual positive cases are correctly identified</a:t>
                      </a:r>
                    </a:p>
                  </a:txBody>
                  <a:tcPr anchor="ctr"/>
                </a:tc>
                <a:extLst>
                  <a:ext uri="{0D108BD9-81ED-4DB2-BD59-A6C34878D82A}">
                    <a16:rowId xmlns:a16="http://schemas.microsoft.com/office/drawing/2014/main" val="1244372789"/>
                  </a:ext>
                </a:extLst>
              </a:tr>
              <a:tr h="463933">
                <a:tc>
                  <a:txBody>
                    <a:bodyPr/>
                    <a:lstStyle/>
                    <a:p>
                      <a:pPr>
                        <a:buNone/>
                      </a:pPr>
                      <a:r>
                        <a:rPr lang="en-US"/>
                        <a:t>F1-Score</a:t>
                      </a:r>
                    </a:p>
                  </a:txBody>
                  <a:tcPr anchor="ctr"/>
                </a:tc>
                <a:tc>
                  <a:txBody>
                    <a:bodyPr/>
                    <a:lstStyle/>
                    <a:p>
                      <a:pPr>
                        <a:buNone/>
                      </a:pPr>
                      <a:r>
                        <a:rPr lang="en-US"/>
                        <a:t>Balances Precision and Recall</a:t>
                      </a:r>
                    </a:p>
                  </a:txBody>
                  <a:tcPr anchor="ctr"/>
                </a:tc>
                <a:extLst>
                  <a:ext uri="{0D108BD9-81ED-4DB2-BD59-A6C34878D82A}">
                    <a16:rowId xmlns:a16="http://schemas.microsoft.com/office/drawing/2014/main" val="1477392003"/>
                  </a:ext>
                </a:extLst>
              </a:tr>
              <a:tr h="811883">
                <a:tc>
                  <a:txBody>
                    <a:bodyPr/>
                    <a:lstStyle/>
                    <a:p>
                      <a:pPr>
                        <a:buNone/>
                      </a:pPr>
                      <a:r>
                        <a:rPr lang="en-US"/>
                        <a:t>ROC-AUC</a:t>
                      </a:r>
                    </a:p>
                  </a:txBody>
                  <a:tcPr anchor="ctr"/>
                </a:tc>
                <a:tc>
                  <a:txBody>
                    <a:bodyPr/>
                    <a:lstStyle/>
                    <a:p>
                      <a:pPr>
                        <a:buNone/>
                      </a:pPr>
                      <a:r>
                        <a:rPr lang="en-US"/>
                        <a:t>Measures the model's ability to distinguish between classes</a:t>
                      </a:r>
                    </a:p>
                  </a:txBody>
                  <a:tcPr anchor="ctr"/>
                </a:tc>
                <a:extLst>
                  <a:ext uri="{0D108BD9-81ED-4DB2-BD59-A6C34878D82A}">
                    <a16:rowId xmlns:a16="http://schemas.microsoft.com/office/drawing/2014/main" val="253598932"/>
                  </a:ext>
                </a:extLst>
              </a:tr>
              <a:tr h="463933">
                <a:tc>
                  <a:txBody>
                    <a:bodyPr/>
                    <a:lstStyle/>
                    <a:p>
                      <a:pPr>
                        <a:buNone/>
                      </a:pPr>
                      <a:r>
                        <a:rPr lang="en-US"/>
                        <a:t>Confusion Matrix</a:t>
                      </a:r>
                    </a:p>
                  </a:txBody>
                  <a:tcPr anchor="ctr"/>
                </a:tc>
                <a:tc>
                  <a:txBody>
                    <a:bodyPr/>
                    <a:lstStyle/>
                    <a:p>
                      <a:pPr>
                        <a:buNone/>
                      </a:pPr>
                      <a:r>
                        <a:rPr lang="en-US" dirty="0"/>
                        <a:t>Shows TP, TN, FP and FN predictions</a:t>
                      </a:r>
                    </a:p>
                  </a:txBody>
                  <a:tcPr anchor="ctr"/>
                </a:tc>
                <a:extLst>
                  <a:ext uri="{0D108BD9-81ED-4DB2-BD59-A6C34878D82A}">
                    <a16:rowId xmlns:a16="http://schemas.microsoft.com/office/drawing/2014/main" val="1875531715"/>
                  </a:ext>
                </a:extLst>
              </a:tr>
            </a:tbl>
          </a:graphicData>
        </a:graphic>
      </p:graphicFrame>
      <p:sp>
        <p:nvSpPr>
          <p:cNvPr id="7" name="TextBox 6">
            <a:extLst>
              <a:ext uri="{FF2B5EF4-FFF2-40B4-BE49-F238E27FC236}">
                <a16:creationId xmlns:a16="http://schemas.microsoft.com/office/drawing/2014/main" id="{4C6305BF-90A2-9A35-B5D1-5FC2515692B9}"/>
              </a:ext>
            </a:extLst>
          </p:cNvPr>
          <p:cNvSpPr txBox="1"/>
          <p:nvPr/>
        </p:nvSpPr>
        <p:spPr>
          <a:xfrm>
            <a:off x="629920" y="576289"/>
            <a:ext cx="6136640" cy="584775"/>
          </a:xfrm>
          <a:prstGeom prst="rect">
            <a:avLst/>
          </a:prstGeom>
          <a:noFill/>
        </p:spPr>
        <p:txBody>
          <a:bodyPr wrap="square">
            <a:spAutoFit/>
          </a:bodyPr>
          <a:lstStyle/>
          <a:p>
            <a:pPr>
              <a:defRPr sz="2500" b="1">
                <a:solidFill>
                  <a:srgbClr val="FFFFFF"/>
                </a:solidFill>
              </a:defRPr>
            </a:pPr>
            <a:r>
              <a:rPr lang="en-US" sz="3200" dirty="0"/>
              <a:t>17. Model Evaluation Metrics</a:t>
            </a:r>
          </a:p>
        </p:txBody>
      </p:sp>
    </p:spTree>
    <p:extLst>
      <p:ext uri="{BB962C8B-B14F-4D97-AF65-F5344CB8AC3E}">
        <p14:creationId xmlns:p14="http://schemas.microsoft.com/office/powerpoint/2010/main" val="37101857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1C79419-EAD9-7941-FEB9-74224B6E0221}"/>
              </a:ext>
            </a:extLst>
          </p:cNvPr>
          <p:cNvSpPr/>
          <p:nvPr/>
        </p:nvSpPr>
        <p:spPr>
          <a:xfrm>
            <a:off x="305" y="351606"/>
            <a:ext cx="12191695" cy="1034143"/>
          </a:xfrm>
          <a:prstGeom prst="rect">
            <a:avLst/>
          </a:prstGeom>
          <a:solidFill>
            <a:srgbClr val="192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15C0E061-4002-8B3C-C900-ECEA8E4EA8F0}"/>
              </a:ext>
            </a:extLst>
          </p:cNvPr>
          <p:cNvSpPr txBox="1"/>
          <p:nvPr/>
        </p:nvSpPr>
        <p:spPr>
          <a:xfrm>
            <a:off x="812800" y="1760572"/>
            <a:ext cx="9296400" cy="4524315"/>
          </a:xfrm>
          <a:prstGeom prst="rect">
            <a:avLst/>
          </a:prstGeom>
          <a:noFill/>
        </p:spPr>
        <p:txBody>
          <a:bodyPr wrap="square">
            <a:spAutoFit/>
          </a:bodyPr>
          <a:lstStyle/>
          <a:p>
            <a:pPr>
              <a:buNone/>
            </a:pPr>
            <a:r>
              <a:rPr lang="en-US" sz="2400" b="1" dirty="0"/>
              <a:t>Observations:</a:t>
            </a:r>
            <a:endParaRPr lang="en-US" sz="2400" dirty="0"/>
          </a:p>
          <a:p>
            <a:pPr marL="342900" lvl="0" indent="-342900">
              <a:buFont typeface="Arial" panose="020B0604020202020204" pitchFamily="34" charset="0"/>
              <a:buChar char="•"/>
            </a:pPr>
            <a:r>
              <a:rPr lang="en-US" sz="2400" dirty="0" err="1"/>
              <a:t>XGBoost</a:t>
            </a:r>
            <a:r>
              <a:rPr lang="en-US" sz="2400" dirty="0"/>
              <a:t> achieved the highest baseline ROC-AUC of approximately </a:t>
            </a:r>
            <a:r>
              <a:rPr lang="en-US" sz="2400" b="1" dirty="0"/>
              <a:t>0.906</a:t>
            </a:r>
            <a:r>
              <a:rPr lang="en-US" sz="2400" dirty="0"/>
              <a:t>. </a:t>
            </a:r>
          </a:p>
          <a:p>
            <a:pPr marL="342900" lvl="0" indent="-342900">
              <a:buFont typeface="Arial" panose="020B0604020202020204" pitchFamily="34" charset="0"/>
              <a:buChar char="•"/>
            </a:pPr>
            <a:r>
              <a:rPr lang="en-US" sz="2400" dirty="0" err="1"/>
              <a:t>XGBoost</a:t>
            </a:r>
            <a:r>
              <a:rPr lang="en-US" sz="2400" dirty="0"/>
              <a:t> also achieved the highest F1-Score of approximately </a:t>
            </a:r>
            <a:r>
              <a:rPr lang="en-US" sz="2400" b="1" dirty="0"/>
              <a:t>0.478</a:t>
            </a:r>
            <a:r>
              <a:rPr lang="en-US" sz="2400" dirty="0"/>
              <a:t>. </a:t>
            </a:r>
          </a:p>
          <a:p>
            <a:pPr marL="342900" lvl="0" indent="-342900">
              <a:buFont typeface="Arial" panose="020B0604020202020204" pitchFamily="34" charset="0"/>
              <a:buChar char="•"/>
            </a:pPr>
            <a:r>
              <a:rPr lang="en-US" sz="2400" dirty="0"/>
              <a:t>Logistic Regression achieved a comparable ROC-AUC of approximately </a:t>
            </a:r>
            <a:r>
              <a:rPr lang="en-US" sz="2400" b="1" dirty="0"/>
              <a:t>0.892</a:t>
            </a:r>
            <a:r>
              <a:rPr lang="en-US" sz="2400" dirty="0"/>
              <a:t>. </a:t>
            </a:r>
          </a:p>
          <a:p>
            <a:pPr marL="342900" lvl="0" indent="-342900">
              <a:buFont typeface="Arial" panose="020B0604020202020204" pitchFamily="34" charset="0"/>
              <a:buChar char="•"/>
            </a:pPr>
            <a:r>
              <a:rPr lang="en-US" sz="2400" dirty="0"/>
              <a:t>Random Forest provided competitive performance. </a:t>
            </a:r>
          </a:p>
          <a:p>
            <a:pPr marL="342900" lvl="0" indent="-342900">
              <a:buFont typeface="Arial" panose="020B0604020202020204" pitchFamily="34" charset="0"/>
              <a:buChar char="•"/>
            </a:pPr>
            <a:r>
              <a:rPr lang="en-US" sz="2400" dirty="0"/>
              <a:t>Decision Tree showed comparatively weaker performance. </a:t>
            </a:r>
          </a:p>
          <a:p>
            <a:pPr marL="342900" lvl="0" indent="-342900">
              <a:buFont typeface="Arial" panose="020B0604020202020204" pitchFamily="34" charset="0"/>
              <a:buChar char="•"/>
            </a:pPr>
            <a:r>
              <a:rPr lang="en-US" sz="2400" dirty="0"/>
              <a:t>Individual models showed a trade-off between </a:t>
            </a:r>
            <a:r>
              <a:rPr lang="en-US" sz="2400" b="1" dirty="0"/>
              <a:t>precision and recall</a:t>
            </a:r>
            <a:r>
              <a:rPr lang="en-US" sz="2400" dirty="0"/>
              <a:t>. </a:t>
            </a:r>
          </a:p>
          <a:p>
            <a:pPr>
              <a:buNone/>
            </a:pPr>
            <a:r>
              <a:rPr lang="en-US" sz="2400" b="1" dirty="0"/>
              <a:t>Problem identified:</a:t>
            </a:r>
          </a:p>
          <a:p>
            <a:pPr>
              <a:buNone/>
            </a:pPr>
            <a:r>
              <a:rPr lang="en-US" sz="2400" dirty="0"/>
              <a:t>No individual baseline model simultaneously provided a strong balance between precision, recall and F1-Score.</a:t>
            </a:r>
          </a:p>
        </p:txBody>
      </p:sp>
      <p:sp>
        <p:nvSpPr>
          <p:cNvPr id="8" name="TextBox 7">
            <a:extLst>
              <a:ext uri="{FF2B5EF4-FFF2-40B4-BE49-F238E27FC236}">
                <a16:creationId xmlns:a16="http://schemas.microsoft.com/office/drawing/2014/main" id="{D42D0DC0-A97F-B871-6E84-B8BCD28B576E}"/>
              </a:ext>
            </a:extLst>
          </p:cNvPr>
          <p:cNvSpPr txBox="1"/>
          <p:nvPr/>
        </p:nvSpPr>
        <p:spPr>
          <a:xfrm>
            <a:off x="548640" y="573113"/>
            <a:ext cx="7924800" cy="584775"/>
          </a:xfrm>
          <a:prstGeom prst="rect">
            <a:avLst/>
          </a:prstGeom>
          <a:noFill/>
        </p:spPr>
        <p:txBody>
          <a:bodyPr wrap="square">
            <a:spAutoFit/>
          </a:bodyPr>
          <a:lstStyle/>
          <a:p>
            <a:pPr>
              <a:defRPr sz="2500" b="1">
                <a:solidFill>
                  <a:srgbClr val="FFFFFF"/>
                </a:solidFill>
              </a:defRPr>
            </a:pPr>
            <a:r>
              <a:rPr lang="en-US" sz="3200" dirty="0"/>
              <a:t>18. Bank Marketing – Baseline Analysis</a:t>
            </a:r>
          </a:p>
        </p:txBody>
      </p:sp>
    </p:spTree>
    <p:extLst>
      <p:ext uri="{BB962C8B-B14F-4D97-AF65-F5344CB8AC3E}">
        <p14:creationId xmlns:p14="http://schemas.microsoft.com/office/powerpoint/2010/main" val="15109234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73F0E95-5F1D-99E7-7E86-90955A7B2BFD}"/>
              </a:ext>
            </a:extLst>
          </p:cNvPr>
          <p:cNvSpPr/>
          <p:nvPr/>
        </p:nvSpPr>
        <p:spPr>
          <a:xfrm>
            <a:off x="305" y="351606"/>
            <a:ext cx="12191695" cy="1034143"/>
          </a:xfrm>
          <a:prstGeom prst="rect">
            <a:avLst/>
          </a:prstGeom>
          <a:solidFill>
            <a:srgbClr val="192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879F33B5-76EC-9317-7428-638B4FCE8C6E}"/>
              </a:ext>
            </a:extLst>
          </p:cNvPr>
          <p:cNvSpPr txBox="1"/>
          <p:nvPr/>
        </p:nvSpPr>
        <p:spPr>
          <a:xfrm>
            <a:off x="904240" y="1779022"/>
            <a:ext cx="9966960" cy="4154984"/>
          </a:xfrm>
          <a:prstGeom prst="rect">
            <a:avLst/>
          </a:prstGeom>
          <a:noFill/>
        </p:spPr>
        <p:txBody>
          <a:bodyPr wrap="square">
            <a:spAutoFit/>
          </a:bodyPr>
          <a:lstStyle/>
          <a:p>
            <a:pPr>
              <a:buNone/>
            </a:pPr>
            <a:r>
              <a:rPr lang="en-US" sz="2400" b="1" dirty="0"/>
              <a:t>Major findings:</a:t>
            </a:r>
            <a:endParaRPr lang="en-US" sz="2400" dirty="0"/>
          </a:p>
          <a:p>
            <a:pPr marL="342900" lvl="0" indent="-342900">
              <a:buFont typeface="Arial" panose="020B0604020202020204" pitchFamily="34" charset="0"/>
              <a:buChar char="•"/>
            </a:pPr>
            <a:r>
              <a:rPr lang="en-US" sz="2400" dirty="0" err="1"/>
              <a:t>XGBoost</a:t>
            </a:r>
            <a:r>
              <a:rPr lang="en-US" sz="2400" dirty="0"/>
              <a:t> produced the strongest baseline </a:t>
            </a:r>
            <a:r>
              <a:rPr lang="en-US" sz="2400" b="1" dirty="0"/>
              <a:t>Accuracy = 92.04%</a:t>
            </a:r>
            <a:r>
              <a:rPr lang="en-US" sz="2400" dirty="0"/>
              <a:t>. </a:t>
            </a:r>
          </a:p>
          <a:p>
            <a:pPr marL="342900" lvl="0" indent="-342900">
              <a:buFont typeface="Arial" panose="020B0604020202020204" pitchFamily="34" charset="0"/>
              <a:buChar char="•"/>
            </a:pPr>
            <a:r>
              <a:rPr lang="en-US" sz="2400" dirty="0" err="1"/>
              <a:t>XGBoost</a:t>
            </a:r>
            <a:r>
              <a:rPr lang="en-US" sz="2400" dirty="0"/>
              <a:t> achieved almost </a:t>
            </a:r>
            <a:r>
              <a:rPr lang="en-US" sz="2400" b="1" dirty="0"/>
              <a:t>100% Recall</a:t>
            </a:r>
            <a:r>
              <a:rPr lang="en-US" sz="2400" dirty="0"/>
              <a:t>. </a:t>
            </a:r>
          </a:p>
          <a:p>
            <a:pPr marL="342900" lvl="0" indent="-342900">
              <a:buFont typeface="Arial" panose="020B0604020202020204" pitchFamily="34" charset="0"/>
              <a:buChar char="•"/>
            </a:pPr>
            <a:r>
              <a:rPr lang="en-US" sz="2400" dirty="0" err="1"/>
              <a:t>XGBoost</a:t>
            </a:r>
            <a:r>
              <a:rPr lang="en-US" sz="2400" dirty="0"/>
              <a:t> achieved an F1-Score of approximately </a:t>
            </a:r>
            <a:r>
              <a:rPr lang="en-US" sz="2400" b="1" dirty="0"/>
              <a:t>95.84%</a:t>
            </a:r>
            <a:r>
              <a:rPr lang="en-US" sz="2400" dirty="0"/>
              <a:t>. </a:t>
            </a:r>
          </a:p>
          <a:p>
            <a:pPr marL="342900" lvl="0" indent="-342900">
              <a:buFont typeface="Arial" panose="020B0604020202020204" pitchFamily="34" charset="0"/>
              <a:buChar char="•"/>
            </a:pPr>
            <a:r>
              <a:rPr lang="en-US" sz="2400" dirty="0"/>
              <a:t>Random Forest provided the highest ROC-AUC among the four baseline models. </a:t>
            </a:r>
          </a:p>
          <a:p>
            <a:pPr marL="342900" lvl="0" indent="-342900">
              <a:buFont typeface="Arial" panose="020B0604020202020204" pitchFamily="34" charset="0"/>
              <a:buChar char="•"/>
            </a:pPr>
            <a:r>
              <a:rPr lang="en-US" sz="2400" dirty="0"/>
              <a:t>The difference between F1 and ROC-AUC demonstrates why model evaluation should use multiple metrics. </a:t>
            </a:r>
          </a:p>
          <a:p>
            <a:pPr>
              <a:buNone/>
            </a:pPr>
            <a:r>
              <a:rPr lang="en-US" sz="2400" b="1" dirty="0"/>
              <a:t>Business interpretation:</a:t>
            </a:r>
          </a:p>
          <a:p>
            <a:pPr>
              <a:buNone/>
            </a:pPr>
            <a:r>
              <a:rPr lang="en-US" sz="2400" dirty="0"/>
              <a:t>The models were highly effective at identifying repeat customers, but the class imbalance required careful interpretation of precision, recall and ROC-AUC.</a:t>
            </a:r>
          </a:p>
        </p:txBody>
      </p:sp>
      <p:sp>
        <p:nvSpPr>
          <p:cNvPr id="8" name="TextBox 7">
            <a:extLst>
              <a:ext uri="{FF2B5EF4-FFF2-40B4-BE49-F238E27FC236}">
                <a16:creationId xmlns:a16="http://schemas.microsoft.com/office/drawing/2014/main" id="{66E8E852-AD30-B6AB-DCEA-6ED5E779D36A}"/>
              </a:ext>
            </a:extLst>
          </p:cNvPr>
          <p:cNvSpPr txBox="1"/>
          <p:nvPr/>
        </p:nvSpPr>
        <p:spPr>
          <a:xfrm>
            <a:off x="599440" y="554663"/>
            <a:ext cx="8260080" cy="584775"/>
          </a:xfrm>
          <a:prstGeom prst="rect">
            <a:avLst/>
          </a:prstGeom>
          <a:noFill/>
        </p:spPr>
        <p:txBody>
          <a:bodyPr wrap="square">
            <a:spAutoFit/>
          </a:bodyPr>
          <a:lstStyle/>
          <a:p>
            <a:pPr>
              <a:defRPr sz="2500" b="1">
                <a:solidFill>
                  <a:srgbClr val="FFFFFF"/>
                </a:solidFill>
              </a:defRPr>
            </a:pPr>
            <a:r>
              <a:rPr lang="en-US" sz="3200" dirty="0"/>
              <a:t>19. Online Retail – Baseline Analysis</a:t>
            </a:r>
          </a:p>
        </p:txBody>
      </p:sp>
    </p:spTree>
    <p:extLst>
      <p:ext uri="{BB962C8B-B14F-4D97-AF65-F5344CB8AC3E}">
        <p14:creationId xmlns:p14="http://schemas.microsoft.com/office/powerpoint/2010/main" val="31851921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667833D-5A47-422E-8E05-7BD79D492A86}"/>
              </a:ext>
            </a:extLst>
          </p:cNvPr>
          <p:cNvSpPr/>
          <p:nvPr/>
        </p:nvSpPr>
        <p:spPr>
          <a:xfrm>
            <a:off x="305" y="351606"/>
            <a:ext cx="12191695" cy="1034143"/>
          </a:xfrm>
          <a:prstGeom prst="rect">
            <a:avLst/>
          </a:prstGeom>
          <a:solidFill>
            <a:srgbClr val="192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F2E097E8-4328-3849-FF85-D562B827C7A7}"/>
              </a:ext>
            </a:extLst>
          </p:cNvPr>
          <p:cNvSpPr txBox="1"/>
          <p:nvPr/>
        </p:nvSpPr>
        <p:spPr>
          <a:xfrm>
            <a:off x="508000" y="1526599"/>
            <a:ext cx="10830560" cy="5324535"/>
          </a:xfrm>
          <a:prstGeom prst="rect">
            <a:avLst/>
          </a:prstGeom>
          <a:noFill/>
        </p:spPr>
        <p:txBody>
          <a:bodyPr wrap="square">
            <a:spAutoFit/>
          </a:bodyPr>
          <a:lstStyle/>
          <a:p>
            <a:pPr>
              <a:buNone/>
            </a:pPr>
            <a:r>
              <a:rPr lang="en-US" sz="2000" b="1" dirty="0"/>
              <a:t>Major findings:</a:t>
            </a:r>
            <a:endParaRPr lang="en-US" sz="2000" dirty="0"/>
          </a:p>
          <a:p>
            <a:pPr marL="342900" lvl="0" indent="-342900">
              <a:buFont typeface="Arial" panose="020B0604020202020204" pitchFamily="34" charset="0"/>
              <a:buChar char="•"/>
            </a:pPr>
            <a:r>
              <a:rPr lang="en-US" sz="2000" b="1" dirty="0" err="1"/>
              <a:t>XGBoost</a:t>
            </a:r>
            <a:r>
              <a:rPr lang="en-US" sz="2000" b="1" dirty="0"/>
              <a:t> produced the strongest baseline Accuracy = 79.57%</a:t>
            </a:r>
            <a:r>
              <a:rPr lang="en-US" sz="2000" dirty="0"/>
              <a:t>. </a:t>
            </a:r>
          </a:p>
          <a:p>
            <a:pPr marL="342900" lvl="0" indent="-342900">
              <a:buFont typeface="Arial" panose="020B0604020202020204" pitchFamily="34" charset="0"/>
              <a:buChar char="•"/>
            </a:pPr>
            <a:r>
              <a:rPr lang="en-US" sz="2000" b="1" dirty="0" err="1"/>
              <a:t>XGBoost</a:t>
            </a:r>
            <a:r>
              <a:rPr lang="en-US" sz="2000" b="1" dirty="0"/>
              <a:t> achieved the highest Precision = 63.75%</a:t>
            </a:r>
            <a:r>
              <a:rPr lang="en-US" sz="2000" dirty="0"/>
              <a:t>, indicating better identification of actual churn customers among predicted churners. </a:t>
            </a:r>
          </a:p>
          <a:p>
            <a:pPr marL="342900" lvl="0" indent="-342900">
              <a:buFont typeface="Arial" panose="020B0604020202020204" pitchFamily="34" charset="0"/>
              <a:buChar char="•"/>
            </a:pPr>
            <a:r>
              <a:rPr lang="en-US" sz="2000" b="1" dirty="0"/>
              <a:t>Logistic Regression achieved the highest Recall = 76.88%</a:t>
            </a:r>
            <a:r>
              <a:rPr lang="en-US" sz="2000" dirty="0"/>
              <a:t>, making it better at identifying customers who actually churn. </a:t>
            </a:r>
          </a:p>
          <a:p>
            <a:pPr marL="342900" lvl="0" indent="-342900">
              <a:buFont typeface="Arial" panose="020B0604020202020204" pitchFamily="34" charset="0"/>
              <a:buChar char="•"/>
            </a:pPr>
            <a:r>
              <a:rPr lang="en-US" sz="2000" b="1" dirty="0"/>
              <a:t>Logistic Regression and </a:t>
            </a:r>
            <a:r>
              <a:rPr lang="en-US" sz="2000" b="1" dirty="0" err="1"/>
              <a:t>XGBoost</a:t>
            </a:r>
            <a:r>
              <a:rPr lang="en-US" sz="2000" b="1" dirty="0"/>
              <a:t> achieved the highest ROC-AUC ≈ 83.86%</a:t>
            </a:r>
            <a:r>
              <a:rPr lang="en-US" sz="2000" dirty="0"/>
              <a:t>, showing good class-separation ability. </a:t>
            </a:r>
          </a:p>
          <a:p>
            <a:pPr marL="342900" lvl="0" indent="-342900">
              <a:buFont typeface="Arial" panose="020B0604020202020204" pitchFamily="34" charset="0"/>
              <a:buChar char="•"/>
            </a:pPr>
            <a:r>
              <a:rPr lang="en-US" sz="2000" b="1" dirty="0" err="1"/>
              <a:t>XGBoost</a:t>
            </a:r>
            <a:r>
              <a:rPr lang="en-US" sz="2000" b="1" dirty="0"/>
              <a:t> achieved the highest Accuracy and Precision</a:t>
            </a:r>
            <a:r>
              <a:rPr lang="en-US" sz="2000" dirty="0"/>
              <a:t>, while Logistic Regression provided better Recall. </a:t>
            </a:r>
          </a:p>
          <a:p>
            <a:pPr marL="342900" lvl="0" indent="-342900">
              <a:buFont typeface="Arial" panose="020B0604020202020204" pitchFamily="34" charset="0"/>
              <a:buChar char="•"/>
            </a:pPr>
            <a:r>
              <a:rPr lang="en-US" sz="2000" dirty="0"/>
              <a:t>The difference between Precision and Recall demonstrates the need to evaluate multiple metrics rather than relying only on Accuracy. </a:t>
            </a:r>
          </a:p>
          <a:p>
            <a:pPr>
              <a:buNone/>
            </a:pPr>
            <a:r>
              <a:rPr lang="en-US" sz="2000" b="1" dirty="0"/>
              <a:t>Business Interpretation:</a:t>
            </a:r>
          </a:p>
          <a:p>
            <a:pPr>
              <a:buNone/>
            </a:pPr>
            <a:r>
              <a:rPr lang="en-US" sz="2000" dirty="0"/>
              <a:t>The baseline models were reasonably effective at identifying customers at risk of churn. </a:t>
            </a:r>
            <a:r>
              <a:rPr lang="en-US" sz="2000" dirty="0" err="1"/>
              <a:t>XGBoost</a:t>
            </a:r>
            <a:r>
              <a:rPr lang="en-US" sz="2000" dirty="0"/>
              <a:t> provided the strongest overall predictive performance, while Logistic Regression was better at capturing a larger proportion of actual churn customers. This trade-off motivates the use of hybrid modeling to achieve a better balance between predictive performance and churn detection.</a:t>
            </a:r>
          </a:p>
        </p:txBody>
      </p:sp>
      <p:sp>
        <p:nvSpPr>
          <p:cNvPr id="8" name="TextBox 7">
            <a:extLst>
              <a:ext uri="{FF2B5EF4-FFF2-40B4-BE49-F238E27FC236}">
                <a16:creationId xmlns:a16="http://schemas.microsoft.com/office/drawing/2014/main" id="{17264ACE-8CD0-316F-BE4E-0B24F6CDA659}"/>
              </a:ext>
            </a:extLst>
          </p:cNvPr>
          <p:cNvSpPr txBox="1"/>
          <p:nvPr/>
        </p:nvSpPr>
        <p:spPr>
          <a:xfrm>
            <a:off x="680720" y="576289"/>
            <a:ext cx="8361680" cy="584775"/>
          </a:xfrm>
          <a:prstGeom prst="rect">
            <a:avLst/>
          </a:prstGeom>
          <a:noFill/>
        </p:spPr>
        <p:txBody>
          <a:bodyPr wrap="square">
            <a:spAutoFit/>
          </a:bodyPr>
          <a:lstStyle/>
          <a:p>
            <a:pPr>
              <a:defRPr sz="2500" b="1">
                <a:solidFill>
                  <a:srgbClr val="FFFFFF"/>
                </a:solidFill>
              </a:defRPr>
            </a:pPr>
            <a:r>
              <a:rPr lang="en-US" sz="3200" dirty="0"/>
              <a:t>20. Baseline Analysis – Telco Customer Churn</a:t>
            </a:r>
          </a:p>
        </p:txBody>
      </p:sp>
    </p:spTree>
    <p:extLst>
      <p:ext uri="{BB962C8B-B14F-4D97-AF65-F5344CB8AC3E}">
        <p14:creationId xmlns:p14="http://schemas.microsoft.com/office/powerpoint/2010/main" val="37671319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B2ED0AA-9BE7-A9F7-729D-5E5E0522DF1D}"/>
              </a:ext>
            </a:extLst>
          </p:cNvPr>
          <p:cNvSpPr/>
          <p:nvPr/>
        </p:nvSpPr>
        <p:spPr>
          <a:xfrm>
            <a:off x="305" y="351606"/>
            <a:ext cx="12191695" cy="1034143"/>
          </a:xfrm>
          <a:prstGeom prst="rect">
            <a:avLst/>
          </a:prstGeom>
          <a:solidFill>
            <a:srgbClr val="192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8814F74F-8622-291F-DEFD-07B5300374D3}"/>
              </a:ext>
            </a:extLst>
          </p:cNvPr>
          <p:cNvSpPr txBox="1"/>
          <p:nvPr/>
        </p:nvSpPr>
        <p:spPr>
          <a:xfrm>
            <a:off x="751840" y="1757396"/>
            <a:ext cx="10149840" cy="4524315"/>
          </a:xfrm>
          <a:prstGeom prst="rect">
            <a:avLst/>
          </a:prstGeom>
          <a:noFill/>
        </p:spPr>
        <p:txBody>
          <a:bodyPr wrap="square">
            <a:spAutoFit/>
          </a:bodyPr>
          <a:lstStyle/>
          <a:p>
            <a:pPr>
              <a:buNone/>
            </a:pPr>
            <a:r>
              <a:rPr lang="en-US" sz="2400" dirty="0"/>
              <a:t>Individual ML models have different strengths and weaknesses.</a:t>
            </a:r>
          </a:p>
          <a:p>
            <a:pPr>
              <a:buNone/>
            </a:pPr>
            <a:r>
              <a:rPr lang="en-US" sz="2400" dirty="0"/>
              <a:t>For example:</a:t>
            </a:r>
          </a:p>
          <a:p>
            <a:pPr marL="342900" lvl="0" indent="-342900">
              <a:buFont typeface="Arial" panose="020B0604020202020204" pitchFamily="34" charset="0"/>
              <a:buChar char="•"/>
            </a:pPr>
            <a:r>
              <a:rPr lang="en-US" sz="2400" dirty="0"/>
              <a:t>Logistic Regression → interpretability and linear relationships </a:t>
            </a:r>
          </a:p>
          <a:p>
            <a:pPr marL="342900" lvl="0" indent="-342900">
              <a:buFont typeface="Arial" panose="020B0604020202020204" pitchFamily="34" charset="0"/>
              <a:buChar char="•"/>
            </a:pPr>
            <a:r>
              <a:rPr lang="en-US" sz="2400" dirty="0"/>
              <a:t>Random Forest → robust tree-based ensemble </a:t>
            </a:r>
          </a:p>
          <a:p>
            <a:pPr marL="342900" lvl="0" indent="-342900">
              <a:buFont typeface="Arial" panose="020B0604020202020204" pitchFamily="34" charset="0"/>
              <a:buChar char="•"/>
            </a:pPr>
            <a:r>
              <a:rPr lang="en-US" sz="2400" dirty="0" err="1"/>
              <a:t>XGBoost</a:t>
            </a:r>
            <a:r>
              <a:rPr lang="en-US" sz="2400" dirty="0"/>
              <a:t> → powerful gradient boosting </a:t>
            </a:r>
          </a:p>
          <a:p>
            <a:pPr marL="342900" lvl="0" indent="-342900">
              <a:buFont typeface="Arial" panose="020B0604020202020204" pitchFamily="34" charset="0"/>
              <a:buChar char="•"/>
            </a:pPr>
            <a:r>
              <a:rPr lang="en-US" sz="2400" dirty="0" err="1"/>
              <a:t>HistGradientBoosting</a:t>
            </a:r>
            <a:r>
              <a:rPr lang="en-US" sz="2400" dirty="0"/>
              <a:t> → efficient gradient boosting </a:t>
            </a:r>
          </a:p>
          <a:p>
            <a:pPr marL="342900" lvl="0" indent="-342900">
              <a:buFont typeface="Arial" panose="020B0604020202020204" pitchFamily="34" charset="0"/>
              <a:buChar char="•"/>
            </a:pPr>
            <a:r>
              <a:rPr lang="en-US" sz="2400" dirty="0"/>
              <a:t>SVM → strong classification boundaries </a:t>
            </a:r>
          </a:p>
          <a:p>
            <a:pPr>
              <a:buNone/>
            </a:pPr>
            <a:r>
              <a:rPr lang="en-US" sz="2400" b="1" dirty="0"/>
              <a:t>Problem:</a:t>
            </a:r>
          </a:p>
          <a:p>
            <a:pPr>
              <a:buNone/>
            </a:pPr>
            <a:r>
              <a:rPr lang="en-US" sz="2400" dirty="0"/>
              <a:t>A single model may perform well on one metric but poorly on another.</a:t>
            </a:r>
          </a:p>
          <a:p>
            <a:pPr>
              <a:buNone/>
            </a:pPr>
            <a:r>
              <a:rPr lang="en-US" sz="2400" b="1" dirty="0"/>
              <a:t>Proposed idea:</a:t>
            </a:r>
          </a:p>
          <a:p>
            <a:pPr>
              <a:buNone/>
            </a:pPr>
            <a:r>
              <a:rPr lang="en-US" sz="2400" dirty="0"/>
              <a:t>Combine complementary models to obtain a more balanced and robust prediction.</a:t>
            </a:r>
          </a:p>
        </p:txBody>
      </p:sp>
      <p:sp>
        <p:nvSpPr>
          <p:cNvPr id="8" name="TextBox 7">
            <a:extLst>
              <a:ext uri="{FF2B5EF4-FFF2-40B4-BE49-F238E27FC236}">
                <a16:creationId xmlns:a16="http://schemas.microsoft.com/office/drawing/2014/main" id="{6FB384DC-F1D0-6A8F-F229-CC8AA5ECB585}"/>
              </a:ext>
            </a:extLst>
          </p:cNvPr>
          <p:cNvSpPr txBox="1"/>
          <p:nvPr/>
        </p:nvSpPr>
        <p:spPr>
          <a:xfrm>
            <a:off x="680720" y="576289"/>
            <a:ext cx="6136640" cy="584775"/>
          </a:xfrm>
          <a:prstGeom prst="rect">
            <a:avLst/>
          </a:prstGeom>
          <a:noFill/>
        </p:spPr>
        <p:txBody>
          <a:bodyPr wrap="square">
            <a:spAutoFit/>
          </a:bodyPr>
          <a:lstStyle/>
          <a:p>
            <a:pPr>
              <a:defRPr sz="2500" b="1">
                <a:solidFill>
                  <a:srgbClr val="FFFFFF"/>
                </a:solidFill>
              </a:defRPr>
            </a:pPr>
            <a:r>
              <a:rPr lang="en-US" sz="3200" dirty="0"/>
              <a:t>21. Need for Hybrid Modeling</a:t>
            </a:r>
          </a:p>
        </p:txBody>
      </p:sp>
    </p:spTree>
    <p:extLst>
      <p:ext uri="{BB962C8B-B14F-4D97-AF65-F5344CB8AC3E}">
        <p14:creationId xmlns:p14="http://schemas.microsoft.com/office/powerpoint/2010/main" val="16910021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27E8718-13AA-BF0B-CC57-F0DB7C6481AF}"/>
              </a:ext>
            </a:extLst>
          </p:cNvPr>
          <p:cNvSpPr/>
          <p:nvPr/>
        </p:nvSpPr>
        <p:spPr>
          <a:xfrm>
            <a:off x="305" y="351606"/>
            <a:ext cx="12191695" cy="1034143"/>
          </a:xfrm>
          <a:prstGeom prst="rect">
            <a:avLst/>
          </a:prstGeom>
          <a:solidFill>
            <a:srgbClr val="192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96D698EA-E6CC-9699-F8CA-74E712C3E4D8}"/>
              </a:ext>
            </a:extLst>
          </p:cNvPr>
          <p:cNvSpPr txBox="1"/>
          <p:nvPr/>
        </p:nvSpPr>
        <p:spPr>
          <a:xfrm>
            <a:off x="965200" y="1952397"/>
            <a:ext cx="6624320" cy="2677656"/>
          </a:xfrm>
          <a:prstGeom prst="rect">
            <a:avLst/>
          </a:prstGeom>
          <a:noFill/>
        </p:spPr>
        <p:txBody>
          <a:bodyPr wrap="square">
            <a:spAutoFit/>
          </a:bodyPr>
          <a:lstStyle/>
          <a:p>
            <a:pPr>
              <a:buNone/>
            </a:pPr>
            <a:r>
              <a:rPr lang="en-US" sz="2800" b="1" dirty="0"/>
              <a:t>Hybrid prediction:</a:t>
            </a:r>
          </a:p>
          <a:p>
            <a:pPr>
              <a:buNone/>
            </a:pPr>
            <a:r>
              <a:rPr lang="en-US" sz="2800" dirty="0"/>
              <a:t>The probability outputs of selected models are combined using weighted averaging.</a:t>
            </a:r>
          </a:p>
          <a:p>
            <a:pPr>
              <a:buNone/>
            </a:pPr>
            <a:r>
              <a:rPr lang="en-US" sz="2800" dirty="0"/>
              <a:t>Example:</a:t>
            </a:r>
          </a:p>
          <a:p>
            <a:pPr>
              <a:buNone/>
            </a:pPr>
            <a:r>
              <a:rPr lang="en-US" sz="2800" b="1" dirty="0"/>
              <a:t>Hybrid Probability = 0.25 × </a:t>
            </a:r>
            <a:r>
              <a:rPr lang="en-US" sz="2800" b="1" dirty="0" err="1"/>
              <a:t>XGBoost</a:t>
            </a:r>
            <a:r>
              <a:rPr lang="en-US" sz="2800" b="1" dirty="0"/>
              <a:t> + 0.75 × </a:t>
            </a:r>
            <a:r>
              <a:rPr lang="en-US" sz="2800" b="1" dirty="0" err="1"/>
              <a:t>HistGradientBoosting</a:t>
            </a:r>
            <a:endParaRPr lang="en-US" sz="2800" dirty="0"/>
          </a:p>
        </p:txBody>
      </p:sp>
      <p:sp>
        <p:nvSpPr>
          <p:cNvPr id="8" name="TextBox 7">
            <a:extLst>
              <a:ext uri="{FF2B5EF4-FFF2-40B4-BE49-F238E27FC236}">
                <a16:creationId xmlns:a16="http://schemas.microsoft.com/office/drawing/2014/main" id="{B6C24AC7-2DD6-0338-A7C0-59B459DCAC85}"/>
              </a:ext>
            </a:extLst>
          </p:cNvPr>
          <p:cNvSpPr txBox="1"/>
          <p:nvPr/>
        </p:nvSpPr>
        <p:spPr>
          <a:xfrm>
            <a:off x="579120" y="576289"/>
            <a:ext cx="8483600" cy="584775"/>
          </a:xfrm>
          <a:prstGeom prst="rect">
            <a:avLst/>
          </a:prstGeom>
          <a:noFill/>
        </p:spPr>
        <p:txBody>
          <a:bodyPr wrap="square">
            <a:spAutoFit/>
          </a:bodyPr>
          <a:lstStyle/>
          <a:p>
            <a:pPr>
              <a:defRPr sz="2500" b="1">
                <a:solidFill>
                  <a:srgbClr val="FFFFFF"/>
                </a:solidFill>
              </a:defRPr>
            </a:pPr>
            <a:r>
              <a:rPr lang="en-US" sz="3200" dirty="0"/>
              <a:t>22. Proposed Hybrid Modeling </a:t>
            </a:r>
            <a:r>
              <a:rPr lang="en-US" sz="3200" dirty="0" err="1"/>
              <a:t>Stratergy</a:t>
            </a:r>
            <a:endParaRPr lang="en-US" sz="3200" dirty="0"/>
          </a:p>
        </p:txBody>
      </p:sp>
    </p:spTree>
    <p:extLst>
      <p:ext uri="{BB962C8B-B14F-4D97-AF65-F5344CB8AC3E}">
        <p14:creationId xmlns:p14="http://schemas.microsoft.com/office/powerpoint/2010/main" val="41245737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CEA7B86-A8EC-212C-6306-52DDDB2C5F7D}"/>
              </a:ext>
            </a:extLst>
          </p:cNvPr>
          <p:cNvSpPr/>
          <p:nvPr/>
        </p:nvSpPr>
        <p:spPr>
          <a:xfrm>
            <a:off x="305" y="351606"/>
            <a:ext cx="12191695" cy="1034143"/>
          </a:xfrm>
          <a:prstGeom prst="rect">
            <a:avLst/>
          </a:prstGeom>
          <a:solidFill>
            <a:srgbClr val="192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05411A46-809E-35EA-4391-0E628D009648}"/>
              </a:ext>
            </a:extLst>
          </p:cNvPr>
          <p:cNvSpPr txBox="1"/>
          <p:nvPr/>
        </p:nvSpPr>
        <p:spPr>
          <a:xfrm>
            <a:off x="812800" y="1757396"/>
            <a:ext cx="9276080" cy="4524315"/>
          </a:xfrm>
          <a:prstGeom prst="rect">
            <a:avLst/>
          </a:prstGeom>
          <a:noFill/>
        </p:spPr>
        <p:txBody>
          <a:bodyPr wrap="square">
            <a:spAutoFit/>
          </a:bodyPr>
          <a:lstStyle/>
          <a:p>
            <a:pPr>
              <a:buNone/>
            </a:pPr>
            <a:r>
              <a:rPr lang="en-US" sz="2400" dirty="0"/>
              <a:t>Multiple heterogeneous combinations were experimentally evaluated.</a:t>
            </a:r>
          </a:p>
          <a:p>
            <a:pPr marL="342900" lvl="0" indent="-342900">
              <a:buFont typeface="+mj-lt"/>
              <a:buAutoNum type="arabicPeriod"/>
            </a:pPr>
            <a:r>
              <a:rPr lang="en-US" sz="2400" dirty="0"/>
              <a:t>Random Forest + </a:t>
            </a:r>
            <a:r>
              <a:rPr lang="en-US" sz="2400" dirty="0" err="1"/>
              <a:t>XGBoost</a:t>
            </a:r>
            <a:r>
              <a:rPr lang="en-US" sz="2400" dirty="0"/>
              <a:t> </a:t>
            </a:r>
          </a:p>
          <a:p>
            <a:pPr marL="342900" lvl="0" indent="-342900">
              <a:buFont typeface="+mj-lt"/>
              <a:buAutoNum type="arabicPeriod"/>
            </a:pPr>
            <a:r>
              <a:rPr lang="en-US" sz="2400" dirty="0"/>
              <a:t>Random Forest + </a:t>
            </a:r>
            <a:r>
              <a:rPr lang="en-US" sz="2400" dirty="0" err="1"/>
              <a:t>HistGradientBoosting</a:t>
            </a:r>
            <a:r>
              <a:rPr lang="en-US" sz="2400" dirty="0"/>
              <a:t> </a:t>
            </a:r>
          </a:p>
          <a:p>
            <a:pPr marL="342900" lvl="0" indent="-342900">
              <a:buFont typeface="+mj-lt"/>
              <a:buAutoNum type="arabicPeriod"/>
            </a:pPr>
            <a:r>
              <a:rPr lang="en-US" sz="2400" dirty="0" err="1"/>
              <a:t>XGBoost</a:t>
            </a:r>
            <a:r>
              <a:rPr lang="en-US" sz="2400" dirty="0"/>
              <a:t> + </a:t>
            </a:r>
            <a:r>
              <a:rPr lang="en-US" sz="2400" dirty="0" err="1"/>
              <a:t>HistGradientBoosting</a:t>
            </a:r>
            <a:r>
              <a:rPr lang="en-US" sz="2400" dirty="0"/>
              <a:t> </a:t>
            </a:r>
          </a:p>
          <a:p>
            <a:pPr marL="342900" lvl="0" indent="-342900">
              <a:buFont typeface="+mj-lt"/>
              <a:buAutoNum type="arabicPeriod"/>
            </a:pPr>
            <a:r>
              <a:rPr lang="en-US" sz="2400" dirty="0"/>
              <a:t>SVM + </a:t>
            </a:r>
            <a:r>
              <a:rPr lang="en-US" sz="2400" dirty="0" err="1"/>
              <a:t>XGBoost</a:t>
            </a:r>
            <a:r>
              <a:rPr lang="en-US" sz="2400" dirty="0"/>
              <a:t> </a:t>
            </a:r>
          </a:p>
          <a:p>
            <a:pPr marL="342900" lvl="0" indent="-342900">
              <a:buFont typeface="+mj-lt"/>
              <a:buAutoNum type="arabicPeriod"/>
            </a:pPr>
            <a:r>
              <a:rPr lang="en-US" sz="2400" dirty="0"/>
              <a:t>SVM + </a:t>
            </a:r>
            <a:r>
              <a:rPr lang="en-US" sz="2400" dirty="0" err="1"/>
              <a:t>HistGradientBoosting</a:t>
            </a:r>
            <a:r>
              <a:rPr lang="en-US" sz="2400" dirty="0"/>
              <a:t> </a:t>
            </a:r>
          </a:p>
          <a:p>
            <a:pPr marL="342900" lvl="0" indent="-342900">
              <a:buFont typeface="+mj-lt"/>
              <a:buAutoNum type="arabicPeriod"/>
            </a:pPr>
            <a:r>
              <a:rPr lang="en-US" sz="2400" dirty="0"/>
              <a:t>Random Forest + SVM + </a:t>
            </a:r>
            <a:r>
              <a:rPr lang="en-US" sz="2400" dirty="0" err="1"/>
              <a:t>XGBoost</a:t>
            </a:r>
            <a:r>
              <a:rPr lang="en-US" sz="2400" dirty="0"/>
              <a:t> </a:t>
            </a:r>
          </a:p>
          <a:p>
            <a:pPr marL="342900" lvl="0" indent="-342900">
              <a:buFont typeface="+mj-lt"/>
              <a:buAutoNum type="arabicPeriod"/>
            </a:pPr>
            <a:r>
              <a:rPr lang="en-US" sz="2400" dirty="0"/>
              <a:t>Random Forest + </a:t>
            </a:r>
            <a:r>
              <a:rPr lang="en-US" sz="2400" dirty="0" err="1"/>
              <a:t>XGBoost</a:t>
            </a:r>
            <a:r>
              <a:rPr lang="en-US" sz="2400" dirty="0"/>
              <a:t> + </a:t>
            </a:r>
            <a:r>
              <a:rPr lang="en-US" sz="2400" dirty="0" err="1"/>
              <a:t>HistGradientBoosting</a:t>
            </a:r>
            <a:r>
              <a:rPr lang="en-US" sz="2400" dirty="0"/>
              <a:t> </a:t>
            </a:r>
          </a:p>
          <a:p>
            <a:pPr marL="342900" lvl="0" indent="-342900">
              <a:buFont typeface="+mj-lt"/>
              <a:buAutoNum type="arabicPeriod"/>
            </a:pPr>
            <a:r>
              <a:rPr lang="en-US" sz="2400" dirty="0"/>
              <a:t>SVM + </a:t>
            </a:r>
            <a:r>
              <a:rPr lang="en-US" sz="2400" dirty="0" err="1"/>
              <a:t>XGBoost</a:t>
            </a:r>
            <a:r>
              <a:rPr lang="en-US" sz="2400" dirty="0"/>
              <a:t> + </a:t>
            </a:r>
            <a:r>
              <a:rPr lang="en-US" sz="2400" dirty="0" err="1"/>
              <a:t>HistGradientBoosting</a:t>
            </a:r>
            <a:r>
              <a:rPr lang="en-US" sz="2400" dirty="0"/>
              <a:t> </a:t>
            </a:r>
          </a:p>
          <a:p>
            <a:pPr>
              <a:buNone/>
            </a:pPr>
            <a:r>
              <a:rPr lang="en-US" sz="2400" b="1" dirty="0"/>
              <a:t>Why multiple combinations?</a:t>
            </a:r>
          </a:p>
          <a:p>
            <a:pPr>
              <a:buNone/>
            </a:pPr>
            <a:r>
              <a:rPr lang="en-US" sz="2400" dirty="0"/>
              <a:t>To avoid selecting a hybrid model arbitrarily and to identify the combination that provides the best validation performance.</a:t>
            </a:r>
          </a:p>
        </p:txBody>
      </p:sp>
      <p:sp>
        <p:nvSpPr>
          <p:cNvPr id="8" name="TextBox 7">
            <a:extLst>
              <a:ext uri="{FF2B5EF4-FFF2-40B4-BE49-F238E27FC236}">
                <a16:creationId xmlns:a16="http://schemas.microsoft.com/office/drawing/2014/main" id="{CE55B804-F269-C73C-9899-A4ACD19FD0C4}"/>
              </a:ext>
            </a:extLst>
          </p:cNvPr>
          <p:cNvSpPr txBox="1"/>
          <p:nvPr/>
        </p:nvSpPr>
        <p:spPr>
          <a:xfrm>
            <a:off x="711200" y="576289"/>
            <a:ext cx="6136640" cy="584775"/>
          </a:xfrm>
          <a:prstGeom prst="rect">
            <a:avLst/>
          </a:prstGeom>
          <a:noFill/>
        </p:spPr>
        <p:txBody>
          <a:bodyPr wrap="square">
            <a:spAutoFit/>
          </a:bodyPr>
          <a:lstStyle/>
          <a:p>
            <a:pPr>
              <a:defRPr sz="2500" b="1">
                <a:solidFill>
                  <a:srgbClr val="FFFFFF"/>
                </a:solidFill>
              </a:defRPr>
            </a:pPr>
            <a:r>
              <a:rPr lang="en-US" sz="3200" dirty="0"/>
              <a:t>23. Candidate Hybrid Models</a:t>
            </a:r>
          </a:p>
        </p:txBody>
      </p:sp>
    </p:spTree>
    <p:extLst>
      <p:ext uri="{BB962C8B-B14F-4D97-AF65-F5344CB8AC3E}">
        <p14:creationId xmlns:p14="http://schemas.microsoft.com/office/powerpoint/2010/main" val="37418408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EF4915F-EC6E-20D7-04BA-3D81A7F2539D}"/>
              </a:ext>
            </a:extLst>
          </p:cNvPr>
          <p:cNvSpPr/>
          <p:nvPr/>
        </p:nvSpPr>
        <p:spPr>
          <a:xfrm>
            <a:off x="305" y="351606"/>
            <a:ext cx="12191695" cy="1034143"/>
          </a:xfrm>
          <a:prstGeom prst="rect">
            <a:avLst/>
          </a:prstGeom>
          <a:solidFill>
            <a:srgbClr val="192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3077EF41-488F-9F99-353E-E2CAD085172A}"/>
              </a:ext>
            </a:extLst>
          </p:cNvPr>
          <p:cNvSpPr txBox="1"/>
          <p:nvPr/>
        </p:nvSpPr>
        <p:spPr>
          <a:xfrm>
            <a:off x="690880" y="1889760"/>
            <a:ext cx="10363200" cy="4154984"/>
          </a:xfrm>
          <a:prstGeom prst="rect">
            <a:avLst/>
          </a:prstGeom>
          <a:noFill/>
        </p:spPr>
        <p:txBody>
          <a:bodyPr wrap="square">
            <a:spAutoFit/>
          </a:bodyPr>
          <a:lstStyle/>
          <a:p>
            <a:pPr>
              <a:buNone/>
            </a:pPr>
            <a:r>
              <a:rPr lang="en-US" sz="2400" b="1" dirty="0"/>
              <a:t>Step 1:</a:t>
            </a:r>
            <a:r>
              <a:rPr lang="en-US" sz="2400" dirty="0"/>
              <a:t> Train individual candidate models.</a:t>
            </a:r>
          </a:p>
          <a:p>
            <a:pPr>
              <a:buNone/>
            </a:pPr>
            <a:r>
              <a:rPr lang="en-US" sz="2400" b="1" dirty="0"/>
              <a:t>Step 2:</a:t>
            </a:r>
            <a:r>
              <a:rPr lang="en-US" sz="2400" dirty="0"/>
              <a:t> Generate validation probabilities.</a:t>
            </a:r>
          </a:p>
          <a:p>
            <a:pPr>
              <a:buNone/>
            </a:pPr>
            <a:r>
              <a:rPr lang="en-US" sz="2400" b="1" dirty="0"/>
              <a:t>Step 3:</a:t>
            </a:r>
            <a:r>
              <a:rPr lang="en-US" sz="2400" dirty="0"/>
              <a:t> Construct multiple hybrid combinations.</a:t>
            </a:r>
          </a:p>
          <a:p>
            <a:pPr>
              <a:buNone/>
            </a:pPr>
            <a:r>
              <a:rPr lang="en-US" sz="2400" b="1" dirty="0"/>
              <a:t>Step 4:</a:t>
            </a:r>
            <a:r>
              <a:rPr lang="en-US" sz="2400" dirty="0"/>
              <a:t> Calculate hybrid validation metrics.</a:t>
            </a:r>
          </a:p>
          <a:p>
            <a:pPr>
              <a:buNone/>
            </a:pPr>
            <a:r>
              <a:rPr lang="en-US" sz="2400" b="1" dirty="0"/>
              <a:t>Step 5:</a:t>
            </a:r>
            <a:r>
              <a:rPr lang="en-US" sz="2400" dirty="0"/>
              <a:t> Measure prediction diversity between models.</a:t>
            </a:r>
          </a:p>
          <a:p>
            <a:pPr>
              <a:buNone/>
            </a:pPr>
            <a:r>
              <a:rPr lang="en-US" sz="2400" b="1" dirty="0"/>
              <a:t>Step 6:</a:t>
            </a:r>
            <a:r>
              <a:rPr lang="en-US" sz="2400" dirty="0"/>
              <a:t> Select promising combinations.</a:t>
            </a:r>
          </a:p>
          <a:p>
            <a:pPr>
              <a:buNone/>
            </a:pPr>
            <a:r>
              <a:rPr lang="en-US" sz="2400" b="1" dirty="0"/>
              <a:t>Step 7:</a:t>
            </a:r>
            <a:r>
              <a:rPr lang="en-US" sz="2400" dirty="0"/>
              <a:t> Optimize model weights.</a:t>
            </a:r>
          </a:p>
          <a:p>
            <a:pPr>
              <a:buNone/>
            </a:pPr>
            <a:r>
              <a:rPr lang="en-US" sz="2400" b="1" dirty="0"/>
              <a:t>Step 8:</a:t>
            </a:r>
            <a:r>
              <a:rPr lang="en-US" sz="2400" dirty="0"/>
              <a:t> Optimize classification threshold.</a:t>
            </a:r>
          </a:p>
          <a:p>
            <a:pPr>
              <a:buNone/>
            </a:pPr>
            <a:r>
              <a:rPr lang="en-US" sz="2400" b="1" dirty="0"/>
              <a:t>Step 9:</a:t>
            </a:r>
            <a:r>
              <a:rPr lang="en-US" sz="2400" dirty="0"/>
              <a:t> Evaluate the selected configuration once on the test set.</a:t>
            </a:r>
          </a:p>
          <a:p>
            <a:pPr>
              <a:buNone/>
            </a:pPr>
            <a:r>
              <a:rPr lang="en-US" sz="2400" b="1" dirty="0"/>
              <a:t>Important principle:</a:t>
            </a:r>
          </a:p>
          <a:p>
            <a:pPr>
              <a:buNone/>
            </a:pPr>
            <a:r>
              <a:rPr lang="en-US" sz="2400" b="1" dirty="0"/>
              <a:t>Test data is reserved for final evaluation and is not used for model selection.</a:t>
            </a:r>
            <a:endParaRPr lang="en-US" sz="2400" dirty="0"/>
          </a:p>
        </p:txBody>
      </p:sp>
      <p:sp>
        <p:nvSpPr>
          <p:cNvPr id="8" name="TextBox 7">
            <a:extLst>
              <a:ext uri="{FF2B5EF4-FFF2-40B4-BE49-F238E27FC236}">
                <a16:creationId xmlns:a16="http://schemas.microsoft.com/office/drawing/2014/main" id="{D9E677A3-CDB5-7C61-2F10-268ED71BD4A2}"/>
              </a:ext>
            </a:extLst>
          </p:cNvPr>
          <p:cNvSpPr txBox="1"/>
          <p:nvPr/>
        </p:nvSpPr>
        <p:spPr>
          <a:xfrm>
            <a:off x="690880" y="547738"/>
            <a:ext cx="8747760" cy="584775"/>
          </a:xfrm>
          <a:prstGeom prst="rect">
            <a:avLst/>
          </a:prstGeom>
          <a:noFill/>
        </p:spPr>
        <p:txBody>
          <a:bodyPr wrap="square">
            <a:spAutoFit/>
          </a:bodyPr>
          <a:lstStyle/>
          <a:p>
            <a:pPr>
              <a:defRPr sz="2500" b="1">
                <a:solidFill>
                  <a:srgbClr val="FFFFFF"/>
                </a:solidFill>
              </a:defRPr>
            </a:pPr>
            <a:r>
              <a:rPr lang="en-US" sz="3200" dirty="0"/>
              <a:t>24. Hybrid model Selection Framework</a:t>
            </a:r>
          </a:p>
        </p:txBody>
      </p:sp>
    </p:spTree>
    <p:extLst>
      <p:ext uri="{BB962C8B-B14F-4D97-AF65-F5344CB8AC3E}">
        <p14:creationId xmlns:p14="http://schemas.microsoft.com/office/powerpoint/2010/main" val="33040412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4916611-4875-45FA-AA2B-46CADB7DFF7C}"/>
              </a:ext>
            </a:extLst>
          </p:cNvPr>
          <p:cNvSpPr/>
          <p:nvPr/>
        </p:nvSpPr>
        <p:spPr>
          <a:xfrm>
            <a:off x="305" y="351606"/>
            <a:ext cx="12191695" cy="1034143"/>
          </a:xfrm>
          <a:prstGeom prst="rect">
            <a:avLst/>
          </a:prstGeom>
          <a:solidFill>
            <a:srgbClr val="192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2" name="Table 1">
            <a:extLst>
              <a:ext uri="{FF2B5EF4-FFF2-40B4-BE49-F238E27FC236}">
                <a16:creationId xmlns:a16="http://schemas.microsoft.com/office/drawing/2014/main" id="{073D20F8-AD0A-C564-93D3-37D19FC35C44}"/>
              </a:ext>
            </a:extLst>
          </p:cNvPr>
          <p:cNvGraphicFramePr>
            <a:graphicFrameLocks noGrp="1"/>
          </p:cNvGraphicFramePr>
          <p:nvPr>
            <p:extLst>
              <p:ext uri="{D42A27DB-BD31-4B8C-83A1-F6EECF244321}">
                <p14:modId xmlns:p14="http://schemas.microsoft.com/office/powerpoint/2010/main" val="2986269189"/>
              </p:ext>
            </p:extLst>
          </p:nvPr>
        </p:nvGraphicFramePr>
        <p:xfrm>
          <a:off x="853440" y="1925002"/>
          <a:ext cx="8229600" cy="1280160"/>
        </p:xfrm>
        <a:graphic>
          <a:graphicData uri="http://schemas.openxmlformats.org/drawingml/2006/table">
            <a:tbl>
              <a:tblPr>
                <a:tableStyleId>{5C22544A-7EE6-4342-B048-85BDC9FD1C3A}</a:tableStyleId>
              </a:tblPr>
              <a:tblGrid>
                <a:gridCol w="1371600">
                  <a:extLst>
                    <a:ext uri="{9D8B030D-6E8A-4147-A177-3AD203B41FA5}">
                      <a16:colId xmlns:a16="http://schemas.microsoft.com/office/drawing/2014/main" val="1492080252"/>
                    </a:ext>
                  </a:extLst>
                </a:gridCol>
                <a:gridCol w="1371600">
                  <a:extLst>
                    <a:ext uri="{9D8B030D-6E8A-4147-A177-3AD203B41FA5}">
                      <a16:colId xmlns:a16="http://schemas.microsoft.com/office/drawing/2014/main" val="561097490"/>
                    </a:ext>
                  </a:extLst>
                </a:gridCol>
                <a:gridCol w="1371600">
                  <a:extLst>
                    <a:ext uri="{9D8B030D-6E8A-4147-A177-3AD203B41FA5}">
                      <a16:colId xmlns:a16="http://schemas.microsoft.com/office/drawing/2014/main" val="2553377623"/>
                    </a:ext>
                  </a:extLst>
                </a:gridCol>
                <a:gridCol w="1371600">
                  <a:extLst>
                    <a:ext uri="{9D8B030D-6E8A-4147-A177-3AD203B41FA5}">
                      <a16:colId xmlns:a16="http://schemas.microsoft.com/office/drawing/2014/main" val="2140014804"/>
                    </a:ext>
                  </a:extLst>
                </a:gridCol>
                <a:gridCol w="1371600">
                  <a:extLst>
                    <a:ext uri="{9D8B030D-6E8A-4147-A177-3AD203B41FA5}">
                      <a16:colId xmlns:a16="http://schemas.microsoft.com/office/drawing/2014/main" val="626696543"/>
                    </a:ext>
                  </a:extLst>
                </a:gridCol>
                <a:gridCol w="1371600">
                  <a:extLst>
                    <a:ext uri="{9D8B030D-6E8A-4147-A177-3AD203B41FA5}">
                      <a16:colId xmlns:a16="http://schemas.microsoft.com/office/drawing/2014/main" val="2998570186"/>
                    </a:ext>
                  </a:extLst>
                </a:gridCol>
              </a:tblGrid>
              <a:tr h="0">
                <a:tc>
                  <a:txBody>
                    <a:bodyPr/>
                    <a:lstStyle/>
                    <a:p>
                      <a:pPr>
                        <a:buNone/>
                      </a:pPr>
                      <a:r>
                        <a:rPr lang="en-US"/>
                        <a:t>Hybrid</a:t>
                      </a:r>
                    </a:p>
                  </a:txBody>
                  <a:tcPr anchor="ctr"/>
                </a:tc>
                <a:tc>
                  <a:txBody>
                    <a:bodyPr/>
                    <a:lstStyle/>
                    <a:p>
                      <a:pPr algn="r">
                        <a:buNone/>
                      </a:pPr>
                      <a:r>
                        <a:rPr lang="en-US"/>
                        <a:t>Validation Accuracy</a:t>
                      </a:r>
                    </a:p>
                  </a:txBody>
                  <a:tcPr anchor="ctr"/>
                </a:tc>
                <a:tc>
                  <a:txBody>
                    <a:bodyPr/>
                    <a:lstStyle/>
                    <a:p>
                      <a:pPr algn="r">
                        <a:buNone/>
                      </a:pPr>
                      <a:r>
                        <a:rPr lang="en-US"/>
                        <a:t>Validation Precision</a:t>
                      </a:r>
                    </a:p>
                  </a:txBody>
                  <a:tcPr anchor="ctr"/>
                </a:tc>
                <a:tc>
                  <a:txBody>
                    <a:bodyPr/>
                    <a:lstStyle/>
                    <a:p>
                      <a:pPr algn="r">
                        <a:buNone/>
                      </a:pPr>
                      <a:r>
                        <a:rPr lang="en-US"/>
                        <a:t>Validation Recall</a:t>
                      </a:r>
                    </a:p>
                  </a:txBody>
                  <a:tcPr anchor="ctr"/>
                </a:tc>
                <a:tc>
                  <a:txBody>
                    <a:bodyPr/>
                    <a:lstStyle/>
                    <a:p>
                      <a:pPr algn="r">
                        <a:buNone/>
                      </a:pPr>
                      <a:r>
                        <a:rPr lang="en-US"/>
                        <a:t>Validation F1</a:t>
                      </a:r>
                    </a:p>
                  </a:txBody>
                  <a:tcPr anchor="ctr"/>
                </a:tc>
                <a:tc>
                  <a:txBody>
                    <a:bodyPr/>
                    <a:lstStyle/>
                    <a:p>
                      <a:pPr algn="r">
                        <a:buNone/>
                      </a:pPr>
                      <a:r>
                        <a:rPr lang="en-US"/>
                        <a:t>Validation ROC-AUC</a:t>
                      </a:r>
                    </a:p>
                  </a:txBody>
                  <a:tcPr anchor="ctr"/>
                </a:tc>
                <a:extLst>
                  <a:ext uri="{0D108BD9-81ED-4DB2-BD59-A6C34878D82A}">
                    <a16:rowId xmlns:a16="http://schemas.microsoft.com/office/drawing/2014/main" val="110777422"/>
                  </a:ext>
                </a:extLst>
              </a:tr>
              <a:tr h="0">
                <a:tc>
                  <a:txBody>
                    <a:bodyPr/>
                    <a:lstStyle/>
                    <a:p>
                      <a:pPr>
                        <a:buNone/>
                      </a:pPr>
                      <a:r>
                        <a:rPr lang="en-US"/>
                        <a:t>XGBoost + HGB</a:t>
                      </a:r>
                    </a:p>
                  </a:txBody>
                  <a:tcPr anchor="ctr"/>
                </a:tc>
                <a:tc>
                  <a:txBody>
                    <a:bodyPr/>
                    <a:lstStyle/>
                    <a:p>
                      <a:pPr algn="r">
                        <a:buNone/>
                      </a:pPr>
                      <a:r>
                        <a:rPr lang="en-US"/>
                        <a:t>90.64%</a:t>
                      </a:r>
                    </a:p>
                  </a:txBody>
                  <a:tcPr anchor="ctr"/>
                </a:tc>
                <a:tc>
                  <a:txBody>
                    <a:bodyPr/>
                    <a:lstStyle/>
                    <a:p>
                      <a:pPr algn="r">
                        <a:buNone/>
                      </a:pPr>
                      <a:r>
                        <a:rPr lang="en-US"/>
                        <a:t>65.23%</a:t>
                      </a:r>
                    </a:p>
                  </a:txBody>
                  <a:tcPr anchor="ctr"/>
                </a:tc>
                <a:tc>
                  <a:txBody>
                    <a:bodyPr/>
                    <a:lstStyle/>
                    <a:p>
                      <a:pPr algn="r">
                        <a:buNone/>
                      </a:pPr>
                      <a:r>
                        <a:rPr lang="en-US"/>
                        <a:t>42.79%</a:t>
                      </a:r>
                    </a:p>
                  </a:txBody>
                  <a:tcPr anchor="ctr"/>
                </a:tc>
                <a:tc>
                  <a:txBody>
                    <a:bodyPr/>
                    <a:lstStyle/>
                    <a:p>
                      <a:pPr algn="r">
                        <a:buNone/>
                      </a:pPr>
                      <a:r>
                        <a:rPr lang="en-US"/>
                        <a:t>51.68%</a:t>
                      </a:r>
                    </a:p>
                  </a:txBody>
                  <a:tcPr anchor="ctr"/>
                </a:tc>
                <a:tc>
                  <a:txBody>
                    <a:bodyPr/>
                    <a:lstStyle/>
                    <a:p>
                      <a:pPr algn="r">
                        <a:buNone/>
                      </a:pPr>
                      <a:r>
                        <a:rPr lang="en-US" dirty="0"/>
                        <a:t>91.13%</a:t>
                      </a:r>
                    </a:p>
                  </a:txBody>
                  <a:tcPr anchor="ctr"/>
                </a:tc>
                <a:extLst>
                  <a:ext uri="{0D108BD9-81ED-4DB2-BD59-A6C34878D82A}">
                    <a16:rowId xmlns:a16="http://schemas.microsoft.com/office/drawing/2014/main" val="1393121502"/>
                  </a:ext>
                </a:extLst>
              </a:tr>
            </a:tbl>
          </a:graphicData>
        </a:graphic>
      </p:graphicFrame>
      <p:sp>
        <p:nvSpPr>
          <p:cNvPr id="7" name="TextBox 6">
            <a:extLst>
              <a:ext uri="{FF2B5EF4-FFF2-40B4-BE49-F238E27FC236}">
                <a16:creationId xmlns:a16="http://schemas.microsoft.com/office/drawing/2014/main" id="{DD3683BF-C7A6-2B91-7CD4-6B1D38A716E0}"/>
              </a:ext>
            </a:extLst>
          </p:cNvPr>
          <p:cNvSpPr txBox="1"/>
          <p:nvPr/>
        </p:nvSpPr>
        <p:spPr>
          <a:xfrm>
            <a:off x="853440" y="3652839"/>
            <a:ext cx="9204960" cy="2308324"/>
          </a:xfrm>
          <a:prstGeom prst="rect">
            <a:avLst/>
          </a:prstGeom>
          <a:noFill/>
        </p:spPr>
        <p:txBody>
          <a:bodyPr wrap="square">
            <a:spAutoFit/>
          </a:bodyPr>
          <a:lstStyle/>
          <a:p>
            <a:pPr>
              <a:buNone/>
            </a:pPr>
            <a:r>
              <a:rPr lang="en-US" sz="2400" dirty="0"/>
              <a:t>The </a:t>
            </a:r>
            <a:r>
              <a:rPr lang="en-US" sz="2400" b="1" dirty="0"/>
              <a:t>SVM + </a:t>
            </a:r>
            <a:r>
              <a:rPr lang="en-US" sz="2400" b="1" dirty="0" err="1"/>
              <a:t>XGBoost</a:t>
            </a:r>
            <a:r>
              <a:rPr lang="en-US" sz="2400" b="1" dirty="0"/>
              <a:t> + HGB</a:t>
            </a:r>
            <a:r>
              <a:rPr lang="en-US" sz="2400" dirty="0"/>
              <a:t> combination achieved approximately </a:t>
            </a:r>
            <a:r>
              <a:rPr lang="en-US" sz="2400" b="1" dirty="0"/>
              <a:t>0.911 ROC-AUC</a:t>
            </a:r>
            <a:r>
              <a:rPr lang="en-US" sz="2400" dirty="0"/>
              <a:t>, showing that several combinations can perform competitively.</a:t>
            </a:r>
          </a:p>
          <a:p>
            <a:pPr>
              <a:buNone/>
            </a:pPr>
            <a:r>
              <a:rPr lang="en-US" sz="2400" b="1" dirty="0"/>
              <a:t>Selection:</a:t>
            </a:r>
          </a:p>
          <a:p>
            <a:pPr>
              <a:buNone/>
            </a:pPr>
            <a:r>
              <a:rPr lang="en-US" sz="2400" b="1" dirty="0" err="1"/>
              <a:t>XGBoost</a:t>
            </a:r>
            <a:r>
              <a:rPr lang="en-US" sz="2400" b="1" dirty="0"/>
              <a:t> + </a:t>
            </a:r>
            <a:r>
              <a:rPr lang="en-US" sz="2400" b="1" dirty="0" err="1"/>
              <a:t>HistGradientBoosting</a:t>
            </a:r>
            <a:r>
              <a:rPr lang="en-US" sz="2400" dirty="0"/>
              <a:t> was selected because it provided the strongest overall validation performance among the evaluated candidates.</a:t>
            </a:r>
          </a:p>
        </p:txBody>
      </p:sp>
      <p:sp>
        <p:nvSpPr>
          <p:cNvPr id="9" name="TextBox 8">
            <a:extLst>
              <a:ext uri="{FF2B5EF4-FFF2-40B4-BE49-F238E27FC236}">
                <a16:creationId xmlns:a16="http://schemas.microsoft.com/office/drawing/2014/main" id="{7F45B5E4-60E0-C4BD-434C-DB010CF8F614}"/>
              </a:ext>
            </a:extLst>
          </p:cNvPr>
          <p:cNvSpPr txBox="1"/>
          <p:nvPr/>
        </p:nvSpPr>
        <p:spPr>
          <a:xfrm>
            <a:off x="762000" y="576289"/>
            <a:ext cx="8412480" cy="584775"/>
          </a:xfrm>
          <a:prstGeom prst="rect">
            <a:avLst/>
          </a:prstGeom>
          <a:noFill/>
        </p:spPr>
        <p:txBody>
          <a:bodyPr wrap="square">
            <a:spAutoFit/>
          </a:bodyPr>
          <a:lstStyle/>
          <a:p>
            <a:pPr>
              <a:defRPr sz="2500" b="1">
                <a:solidFill>
                  <a:srgbClr val="FFFFFF"/>
                </a:solidFill>
              </a:defRPr>
            </a:pPr>
            <a:r>
              <a:rPr lang="en-US" sz="3200" dirty="0"/>
              <a:t>25. Bank Marketing – Hybrid Model Comparison</a:t>
            </a:r>
          </a:p>
        </p:txBody>
      </p:sp>
    </p:spTree>
    <p:extLst>
      <p:ext uri="{BB962C8B-B14F-4D97-AF65-F5344CB8AC3E}">
        <p14:creationId xmlns:p14="http://schemas.microsoft.com/office/powerpoint/2010/main" val="29945217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E12D712-444F-F370-664C-8DC92AF133D0}"/>
              </a:ext>
            </a:extLst>
          </p:cNvPr>
          <p:cNvSpPr/>
          <p:nvPr/>
        </p:nvSpPr>
        <p:spPr>
          <a:xfrm>
            <a:off x="305" y="351606"/>
            <a:ext cx="12191695" cy="1034143"/>
          </a:xfrm>
          <a:prstGeom prst="rect">
            <a:avLst/>
          </a:prstGeom>
          <a:solidFill>
            <a:srgbClr val="192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3C85C2C3-4363-BDF6-F6EF-F12592FE6300}"/>
              </a:ext>
            </a:extLst>
          </p:cNvPr>
          <p:cNvSpPr txBox="1"/>
          <p:nvPr/>
        </p:nvSpPr>
        <p:spPr>
          <a:xfrm>
            <a:off x="707390" y="1610432"/>
            <a:ext cx="12110720" cy="4708981"/>
          </a:xfrm>
          <a:prstGeom prst="rect">
            <a:avLst/>
          </a:prstGeom>
          <a:noFill/>
        </p:spPr>
        <p:txBody>
          <a:bodyPr wrap="square">
            <a:spAutoFit/>
          </a:bodyPr>
          <a:lstStyle/>
          <a:p>
            <a:pPr>
              <a:buNone/>
            </a:pPr>
            <a:r>
              <a:rPr lang="en-US" sz="2000" b="1" dirty="0" err="1"/>
              <a:t>XGBoost</a:t>
            </a:r>
            <a:endParaRPr lang="en-US" sz="2000" dirty="0"/>
          </a:p>
          <a:p>
            <a:pPr marL="342900" lvl="0" indent="-342900">
              <a:buFont typeface="Arial" panose="020B0604020202020204" pitchFamily="34" charset="0"/>
              <a:buChar char="•"/>
            </a:pPr>
            <a:r>
              <a:rPr lang="en-US" sz="2000" dirty="0"/>
              <a:t>Gradient boosting </a:t>
            </a:r>
          </a:p>
          <a:p>
            <a:pPr marL="342900" lvl="0" indent="-342900">
              <a:buFont typeface="Arial" panose="020B0604020202020204" pitchFamily="34" charset="0"/>
              <a:buChar char="•"/>
            </a:pPr>
            <a:r>
              <a:rPr lang="en-US" sz="2000" dirty="0"/>
              <a:t>Captures complex nonlinear relationships </a:t>
            </a:r>
          </a:p>
          <a:p>
            <a:pPr marL="342900" lvl="0" indent="-342900">
              <a:buFont typeface="Arial" panose="020B0604020202020204" pitchFamily="34" charset="0"/>
              <a:buChar char="•"/>
            </a:pPr>
            <a:r>
              <a:rPr lang="en-US" sz="2000" dirty="0"/>
              <a:t>Strong predictive performance </a:t>
            </a:r>
          </a:p>
          <a:p>
            <a:pPr>
              <a:buNone/>
            </a:pPr>
            <a:r>
              <a:rPr lang="en-US" sz="2000" b="1" dirty="0" err="1"/>
              <a:t>HistGradientBoosting</a:t>
            </a:r>
            <a:endParaRPr lang="en-US" sz="2000" dirty="0"/>
          </a:p>
          <a:p>
            <a:pPr marL="342900" lvl="0" indent="-342900">
              <a:buFont typeface="Arial" panose="020B0604020202020204" pitchFamily="34" charset="0"/>
              <a:buChar char="•"/>
            </a:pPr>
            <a:r>
              <a:rPr lang="en-US" sz="2000" dirty="0"/>
              <a:t>Histogram-based gradient boosting </a:t>
            </a:r>
          </a:p>
          <a:p>
            <a:pPr marL="342900" lvl="0" indent="-342900">
              <a:buFont typeface="Arial" panose="020B0604020202020204" pitchFamily="34" charset="0"/>
              <a:buChar char="•"/>
            </a:pPr>
            <a:r>
              <a:rPr lang="en-US" sz="2000" dirty="0"/>
              <a:t>Efficient training </a:t>
            </a:r>
          </a:p>
          <a:p>
            <a:pPr marL="342900" lvl="0" indent="-342900">
              <a:buFont typeface="Arial" panose="020B0604020202020204" pitchFamily="34" charset="0"/>
              <a:buChar char="•"/>
            </a:pPr>
            <a:r>
              <a:rPr lang="en-US" sz="2000" dirty="0"/>
              <a:t>Captures complementary decision patterns </a:t>
            </a:r>
          </a:p>
          <a:p>
            <a:pPr>
              <a:buNone/>
            </a:pPr>
            <a:r>
              <a:rPr lang="en-US" sz="2000" b="1" dirty="0"/>
              <a:t>Proposed Hybrid:</a:t>
            </a:r>
          </a:p>
          <a:p>
            <a:pPr>
              <a:buNone/>
            </a:pPr>
            <a:r>
              <a:rPr lang="en-US" sz="2000" b="1" dirty="0" err="1"/>
              <a:t>XGBoost</a:t>
            </a:r>
            <a:r>
              <a:rPr lang="en-US" sz="2000" b="1" dirty="0"/>
              <a:t> + </a:t>
            </a:r>
            <a:r>
              <a:rPr lang="en-US" sz="2000" b="1" dirty="0" err="1"/>
              <a:t>HistGradientBoosting</a:t>
            </a:r>
            <a:endParaRPr lang="en-US" sz="2000" dirty="0"/>
          </a:p>
          <a:p>
            <a:pPr>
              <a:buNone/>
            </a:pPr>
            <a:r>
              <a:rPr lang="en-US" sz="2000" b="1" dirty="0"/>
              <a:t>Why this combination?</a:t>
            </a:r>
          </a:p>
          <a:p>
            <a:pPr marL="342900" lvl="0" indent="-342900">
              <a:buFont typeface="Arial" panose="020B0604020202020204" pitchFamily="34" charset="0"/>
              <a:buChar char="•"/>
            </a:pPr>
            <a:r>
              <a:rPr lang="en-US" sz="2000" dirty="0"/>
              <a:t>Both models are strong individual learners. </a:t>
            </a:r>
          </a:p>
          <a:p>
            <a:pPr marL="342900" lvl="0" indent="-342900">
              <a:buFont typeface="Arial" panose="020B0604020202020204" pitchFamily="34" charset="0"/>
              <a:buChar char="•"/>
            </a:pPr>
            <a:r>
              <a:rPr lang="en-US" sz="2000" dirty="0"/>
              <a:t>They use different boosting implementations. </a:t>
            </a:r>
          </a:p>
          <a:p>
            <a:pPr marL="342900" lvl="0" indent="-342900">
              <a:buFont typeface="Arial" panose="020B0604020202020204" pitchFamily="34" charset="0"/>
              <a:buChar char="•"/>
            </a:pPr>
            <a:r>
              <a:rPr lang="en-US" sz="2000" dirty="0"/>
              <a:t>Their prediction patterns are not completely identical. </a:t>
            </a:r>
          </a:p>
          <a:p>
            <a:pPr marL="342900" lvl="0" indent="-342900">
              <a:buFont typeface="Arial" panose="020B0604020202020204" pitchFamily="34" charset="0"/>
              <a:buChar char="•"/>
            </a:pPr>
            <a:r>
              <a:rPr lang="en-US" sz="2000" dirty="0"/>
              <a:t>Combining them can provide a better balance between precision and recall. </a:t>
            </a:r>
          </a:p>
        </p:txBody>
      </p:sp>
      <p:sp>
        <p:nvSpPr>
          <p:cNvPr id="8" name="TextBox 7">
            <a:extLst>
              <a:ext uri="{FF2B5EF4-FFF2-40B4-BE49-F238E27FC236}">
                <a16:creationId xmlns:a16="http://schemas.microsoft.com/office/drawing/2014/main" id="{33FF2B60-3BFE-C335-0F2E-BD7915504272}"/>
              </a:ext>
            </a:extLst>
          </p:cNvPr>
          <p:cNvSpPr txBox="1"/>
          <p:nvPr/>
        </p:nvSpPr>
        <p:spPr>
          <a:xfrm>
            <a:off x="707390" y="576289"/>
            <a:ext cx="10777220" cy="584775"/>
          </a:xfrm>
          <a:prstGeom prst="rect">
            <a:avLst/>
          </a:prstGeom>
          <a:noFill/>
        </p:spPr>
        <p:txBody>
          <a:bodyPr wrap="square">
            <a:spAutoFit/>
          </a:bodyPr>
          <a:lstStyle/>
          <a:p>
            <a:pPr>
              <a:defRPr sz="2500" b="1">
                <a:solidFill>
                  <a:srgbClr val="FFFFFF"/>
                </a:solidFill>
              </a:defRPr>
            </a:pPr>
            <a:r>
              <a:rPr lang="en-US" sz="3200" dirty="0"/>
              <a:t>26. Proposed Bank Hybrid – </a:t>
            </a:r>
            <a:r>
              <a:rPr lang="en-US" sz="3200" dirty="0" err="1"/>
              <a:t>XGBoost</a:t>
            </a:r>
            <a:r>
              <a:rPr lang="en-US" sz="3200" dirty="0"/>
              <a:t> + </a:t>
            </a:r>
            <a:r>
              <a:rPr lang="en-US" sz="3200" dirty="0" err="1"/>
              <a:t>HistGradientBoosting</a:t>
            </a:r>
            <a:endParaRPr lang="en-US" sz="3200" dirty="0"/>
          </a:p>
        </p:txBody>
      </p:sp>
    </p:spTree>
    <p:extLst>
      <p:ext uri="{BB962C8B-B14F-4D97-AF65-F5344CB8AC3E}">
        <p14:creationId xmlns:p14="http://schemas.microsoft.com/office/powerpoint/2010/main" val="133260503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726741E-0AEB-BA49-9511-C1AD322979C8}"/>
              </a:ext>
            </a:extLst>
          </p:cNvPr>
          <p:cNvSpPr/>
          <p:nvPr/>
        </p:nvSpPr>
        <p:spPr>
          <a:xfrm>
            <a:off x="305" y="351606"/>
            <a:ext cx="12191695" cy="1034143"/>
          </a:xfrm>
          <a:prstGeom prst="rect">
            <a:avLst/>
          </a:prstGeom>
          <a:solidFill>
            <a:srgbClr val="192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a:extLst>
              <a:ext uri="{FF2B5EF4-FFF2-40B4-BE49-F238E27FC236}">
                <a16:creationId xmlns:a16="http://schemas.microsoft.com/office/drawing/2014/main" id="{580AB559-F2A0-C1A8-BFF6-EF6B41FB00EE}"/>
              </a:ext>
            </a:extLst>
          </p:cNvPr>
          <p:cNvGraphicFramePr>
            <a:graphicFrameLocks noGrp="1"/>
          </p:cNvGraphicFramePr>
          <p:nvPr>
            <p:extLst>
              <p:ext uri="{D42A27DB-BD31-4B8C-83A1-F6EECF244321}">
                <p14:modId xmlns:p14="http://schemas.microsoft.com/office/powerpoint/2010/main" val="2861973172"/>
              </p:ext>
            </p:extLst>
          </p:nvPr>
        </p:nvGraphicFramePr>
        <p:xfrm>
          <a:off x="995680" y="1706439"/>
          <a:ext cx="8229600" cy="3291840"/>
        </p:xfrm>
        <a:graphic>
          <a:graphicData uri="http://schemas.openxmlformats.org/drawingml/2006/table">
            <a:tbl>
              <a:tblPr>
                <a:tableStyleId>{5C22544A-7EE6-4342-B048-85BDC9FD1C3A}</a:tableStyleId>
              </a:tblPr>
              <a:tblGrid>
                <a:gridCol w="1371600">
                  <a:extLst>
                    <a:ext uri="{9D8B030D-6E8A-4147-A177-3AD203B41FA5}">
                      <a16:colId xmlns:a16="http://schemas.microsoft.com/office/drawing/2014/main" val="4189797606"/>
                    </a:ext>
                  </a:extLst>
                </a:gridCol>
                <a:gridCol w="1371600">
                  <a:extLst>
                    <a:ext uri="{9D8B030D-6E8A-4147-A177-3AD203B41FA5}">
                      <a16:colId xmlns:a16="http://schemas.microsoft.com/office/drawing/2014/main" val="3451635929"/>
                    </a:ext>
                  </a:extLst>
                </a:gridCol>
                <a:gridCol w="1371600">
                  <a:extLst>
                    <a:ext uri="{9D8B030D-6E8A-4147-A177-3AD203B41FA5}">
                      <a16:colId xmlns:a16="http://schemas.microsoft.com/office/drawing/2014/main" val="1325152996"/>
                    </a:ext>
                  </a:extLst>
                </a:gridCol>
                <a:gridCol w="1371600">
                  <a:extLst>
                    <a:ext uri="{9D8B030D-6E8A-4147-A177-3AD203B41FA5}">
                      <a16:colId xmlns:a16="http://schemas.microsoft.com/office/drawing/2014/main" val="609348868"/>
                    </a:ext>
                  </a:extLst>
                </a:gridCol>
                <a:gridCol w="1371600">
                  <a:extLst>
                    <a:ext uri="{9D8B030D-6E8A-4147-A177-3AD203B41FA5}">
                      <a16:colId xmlns:a16="http://schemas.microsoft.com/office/drawing/2014/main" val="3202737559"/>
                    </a:ext>
                  </a:extLst>
                </a:gridCol>
                <a:gridCol w="1371600">
                  <a:extLst>
                    <a:ext uri="{9D8B030D-6E8A-4147-A177-3AD203B41FA5}">
                      <a16:colId xmlns:a16="http://schemas.microsoft.com/office/drawing/2014/main" val="16824087"/>
                    </a:ext>
                  </a:extLst>
                </a:gridCol>
              </a:tblGrid>
              <a:tr h="0">
                <a:tc>
                  <a:txBody>
                    <a:bodyPr/>
                    <a:lstStyle/>
                    <a:p>
                      <a:pPr>
                        <a:buNone/>
                      </a:pPr>
                      <a:r>
                        <a:rPr lang="en-US"/>
                        <a:t>Model</a:t>
                      </a:r>
                    </a:p>
                  </a:txBody>
                  <a:tcPr anchor="ctr"/>
                </a:tc>
                <a:tc>
                  <a:txBody>
                    <a:bodyPr/>
                    <a:lstStyle/>
                    <a:p>
                      <a:pPr algn="r">
                        <a:buNone/>
                      </a:pPr>
                      <a:r>
                        <a:rPr lang="en-US"/>
                        <a:t>Accuracy</a:t>
                      </a:r>
                    </a:p>
                  </a:txBody>
                  <a:tcPr anchor="ctr"/>
                </a:tc>
                <a:tc>
                  <a:txBody>
                    <a:bodyPr/>
                    <a:lstStyle/>
                    <a:p>
                      <a:pPr algn="r">
                        <a:buNone/>
                      </a:pPr>
                      <a:r>
                        <a:rPr lang="en-US"/>
                        <a:t>Precision</a:t>
                      </a:r>
                    </a:p>
                  </a:txBody>
                  <a:tcPr anchor="ctr"/>
                </a:tc>
                <a:tc>
                  <a:txBody>
                    <a:bodyPr/>
                    <a:lstStyle/>
                    <a:p>
                      <a:pPr algn="r">
                        <a:buNone/>
                      </a:pPr>
                      <a:r>
                        <a:rPr lang="en-US"/>
                        <a:t>Recall</a:t>
                      </a:r>
                    </a:p>
                  </a:txBody>
                  <a:tcPr anchor="ctr"/>
                </a:tc>
                <a:tc>
                  <a:txBody>
                    <a:bodyPr/>
                    <a:lstStyle/>
                    <a:p>
                      <a:pPr algn="r">
                        <a:buNone/>
                      </a:pPr>
                      <a:r>
                        <a:rPr lang="en-US"/>
                        <a:t>F1-Score</a:t>
                      </a:r>
                    </a:p>
                  </a:txBody>
                  <a:tcPr anchor="ctr"/>
                </a:tc>
                <a:tc>
                  <a:txBody>
                    <a:bodyPr/>
                    <a:lstStyle/>
                    <a:p>
                      <a:pPr algn="r">
                        <a:buNone/>
                      </a:pPr>
                      <a:r>
                        <a:rPr lang="en-US"/>
                        <a:t>ROC-AUC</a:t>
                      </a:r>
                    </a:p>
                  </a:txBody>
                  <a:tcPr anchor="ctr"/>
                </a:tc>
                <a:extLst>
                  <a:ext uri="{0D108BD9-81ED-4DB2-BD59-A6C34878D82A}">
                    <a16:rowId xmlns:a16="http://schemas.microsoft.com/office/drawing/2014/main" val="3928123452"/>
                  </a:ext>
                </a:extLst>
              </a:tr>
              <a:tr h="0">
                <a:tc>
                  <a:txBody>
                    <a:bodyPr/>
                    <a:lstStyle/>
                    <a:p>
                      <a:pPr>
                        <a:buNone/>
                      </a:pPr>
                      <a:r>
                        <a:rPr lang="en-US"/>
                        <a:t>Logistic Regression</a:t>
                      </a:r>
                    </a:p>
                  </a:txBody>
                  <a:tcPr anchor="ctr"/>
                </a:tc>
                <a:tc>
                  <a:txBody>
                    <a:bodyPr/>
                    <a:lstStyle/>
                    <a:p>
                      <a:pPr algn="r">
                        <a:buNone/>
                      </a:pPr>
                      <a:r>
                        <a:rPr lang="en-US"/>
                        <a:t>89.93%</a:t>
                      </a:r>
                    </a:p>
                  </a:txBody>
                  <a:tcPr anchor="ctr"/>
                </a:tc>
                <a:tc>
                  <a:txBody>
                    <a:bodyPr/>
                    <a:lstStyle/>
                    <a:p>
                      <a:pPr algn="r">
                        <a:buNone/>
                      </a:pPr>
                      <a:r>
                        <a:rPr lang="en-US"/>
                        <a:t>64.00%</a:t>
                      </a:r>
                    </a:p>
                  </a:txBody>
                  <a:tcPr anchor="ctr"/>
                </a:tc>
                <a:tc>
                  <a:txBody>
                    <a:bodyPr/>
                    <a:lstStyle/>
                    <a:p>
                      <a:pPr algn="r">
                        <a:buNone/>
                      </a:pPr>
                      <a:r>
                        <a:rPr lang="en-US"/>
                        <a:t>31.76%</a:t>
                      </a:r>
                    </a:p>
                  </a:txBody>
                  <a:tcPr anchor="ctr"/>
                </a:tc>
                <a:tc>
                  <a:txBody>
                    <a:bodyPr/>
                    <a:lstStyle/>
                    <a:p>
                      <a:pPr algn="r">
                        <a:buNone/>
                      </a:pPr>
                      <a:r>
                        <a:rPr lang="en-US"/>
                        <a:t>42.45%</a:t>
                      </a:r>
                    </a:p>
                  </a:txBody>
                  <a:tcPr anchor="ctr"/>
                </a:tc>
                <a:tc>
                  <a:txBody>
                    <a:bodyPr/>
                    <a:lstStyle/>
                    <a:p>
                      <a:pPr algn="r">
                        <a:buNone/>
                      </a:pPr>
                      <a:r>
                        <a:rPr lang="en-US"/>
                        <a:t>89.20%</a:t>
                      </a:r>
                    </a:p>
                  </a:txBody>
                  <a:tcPr anchor="ctr"/>
                </a:tc>
                <a:extLst>
                  <a:ext uri="{0D108BD9-81ED-4DB2-BD59-A6C34878D82A}">
                    <a16:rowId xmlns:a16="http://schemas.microsoft.com/office/drawing/2014/main" val="487227841"/>
                  </a:ext>
                </a:extLst>
              </a:tr>
              <a:tr h="0">
                <a:tc>
                  <a:txBody>
                    <a:bodyPr/>
                    <a:lstStyle/>
                    <a:p>
                      <a:pPr>
                        <a:buNone/>
                      </a:pPr>
                      <a:r>
                        <a:rPr lang="en-US"/>
                        <a:t>Decision Tree</a:t>
                      </a:r>
                    </a:p>
                  </a:txBody>
                  <a:tcPr anchor="ctr"/>
                </a:tc>
                <a:tc>
                  <a:txBody>
                    <a:bodyPr/>
                    <a:lstStyle/>
                    <a:p>
                      <a:pPr algn="r">
                        <a:buNone/>
                      </a:pPr>
                      <a:r>
                        <a:rPr lang="en-US"/>
                        <a:t>85.97%</a:t>
                      </a:r>
                    </a:p>
                  </a:txBody>
                  <a:tcPr anchor="ctr"/>
                </a:tc>
                <a:tc>
                  <a:txBody>
                    <a:bodyPr/>
                    <a:lstStyle/>
                    <a:p>
                      <a:pPr algn="r">
                        <a:buNone/>
                      </a:pPr>
                      <a:r>
                        <a:rPr lang="en-US"/>
                        <a:t>40.52%</a:t>
                      </a:r>
                    </a:p>
                  </a:txBody>
                  <a:tcPr anchor="ctr"/>
                </a:tc>
                <a:tc>
                  <a:txBody>
                    <a:bodyPr/>
                    <a:lstStyle/>
                    <a:p>
                      <a:pPr algn="r">
                        <a:buNone/>
                      </a:pPr>
                      <a:r>
                        <a:rPr lang="en-US"/>
                        <a:t>42.63%</a:t>
                      </a:r>
                    </a:p>
                  </a:txBody>
                  <a:tcPr anchor="ctr"/>
                </a:tc>
                <a:tc>
                  <a:txBody>
                    <a:bodyPr/>
                    <a:lstStyle/>
                    <a:p>
                      <a:pPr algn="r">
                        <a:buNone/>
                      </a:pPr>
                      <a:r>
                        <a:rPr lang="en-US"/>
                        <a:t>41.55%</a:t>
                      </a:r>
                    </a:p>
                  </a:txBody>
                  <a:tcPr anchor="ctr"/>
                </a:tc>
                <a:tc>
                  <a:txBody>
                    <a:bodyPr/>
                    <a:lstStyle/>
                    <a:p>
                      <a:pPr algn="r">
                        <a:buNone/>
                      </a:pPr>
                      <a:r>
                        <a:rPr lang="en-US" dirty="0"/>
                        <a:t>67.17%</a:t>
                      </a:r>
                    </a:p>
                  </a:txBody>
                  <a:tcPr anchor="ctr"/>
                </a:tc>
                <a:extLst>
                  <a:ext uri="{0D108BD9-81ED-4DB2-BD59-A6C34878D82A}">
                    <a16:rowId xmlns:a16="http://schemas.microsoft.com/office/drawing/2014/main" val="3547146739"/>
                  </a:ext>
                </a:extLst>
              </a:tr>
              <a:tr h="0">
                <a:tc>
                  <a:txBody>
                    <a:bodyPr/>
                    <a:lstStyle/>
                    <a:p>
                      <a:pPr>
                        <a:buNone/>
                      </a:pPr>
                      <a:r>
                        <a:rPr lang="en-US"/>
                        <a:t>Random Forest</a:t>
                      </a:r>
                    </a:p>
                  </a:txBody>
                  <a:tcPr anchor="ctr"/>
                </a:tc>
                <a:tc>
                  <a:txBody>
                    <a:bodyPr/>
                    <a:lstStyle/>
                    <a:p>
                      <a:pPr algn="r">
                        <a:buNone/>
                      </a:pPr>
                      <a:r>
                        <a:rPr lang="en-US"/>
                        <a:t>89.64%</a:t>
                      </a:r>
                    </a:p>
                  </a:txBody>
                  <a:tcPr anchor="ctr"/>
                </a:tc>
                <a:tc>
                  <a:txBody>
                    <a:bodyPr/>
                    <a:lstStyle/>
                    <a:p>
                      <a:pPr algn="r">
                        <a:buNone/>
                      </a:pPr>
                      <a:r>
                        <a:rPr lang="en-US"/>
                        <a:t>59.07%</a:t>
                      </a:r>
                    </a:p>
                  </a:txBody>
                  <a:tcPr anchor="ctr"/>
                </a:tc>
                <a:tc>
                  <a:txBody>
                    <a:bodyPr/>
                    <a:lstStyle/>
                    <a:p>
                      <a:pPr algn="r">
                        <a:buNone/>
                      </a:pPr>
                      <a:r>
                        <a:rPr lang="en-US"/>
                        <a:t>37.24%</a:t>
                      </a:r>
                    </a:p>
                  </a:txBody>
                  <a:tcPr anchor="ctr"/>
                </a:tc>
                <a:tc>
                  <a:txBody>
                    <a:bodyPr/>
                    <a:lstStyle/>
                    <a:p>
                      <a:pPr algn="r">
                        <a:buNone/>
                      </a:pPr>
                      <a:r>
                        <a:rPr lang="en-US"/>
                        <a:t>45.68%</a:t>
                      </a:r>
                    </a:p>
                  </a:txBody>
                  <a:tcPr anchor="ctr"/>
                </a:tc>
                <a:tc>
                  <a:txBody>
                    <a:bodyPr/>
                    <a:lstStyle/>
                    <a:p>
                      <a:pPr algn="r">
                        <a:buNone/>
                      </a:pPr>
                      <a:r>
                        <a:rPr lang="en-US"/>
                        <a:t>88.75%</a:t>
                      </a:r>
                    </a:p>
                  </a:txBody>
                  <a:tcPr anchor="ctr"/>
                </a:tc>
                <a:extLst>
                  <a:ext uri="{0D108BD9-81ED-4DB2-BD59-A6C34878D82A}">
                    <a16:rowId xmlns:a16="http://schemas.microsoft.com/office/drawing/2014/main" val="652785221"/>
                  </a:ext>
                </a:extLst>
              </a:tr>
              <a:tr h="0">
                <a:tc>
                  <a:txBody>
                    <a:bodyPr/>
                    <a:lstStyle/>
                    <a:p>
                      <a:pPr>
                        <a:buNone/>
                      </a:pPr>
                      <a:r>
                        <a:rPr lang="en-US"/>
                        <a:t>XGBoost</a:t>
                      </a:r>
                    </a:p>
                  </a:txBody>
                  <a:tcPr anchor="ctr"/>
                </a:tc>
                <a:tc>
                  <a:txBody>
                    <a:bodyPr/>
                    <a:lstStyle/>
                    <a:p>
                      <a:pPr algn="r">
                        <a:buNone/>
                      </a:pPr>
                      <a:r>
                        <a:rPr lang="en-US"/>
                        <a:t>90.04%</a:t>
                      </a:r>
                    </a:p>
                  </a:txBody>
                  <a:tcPr anchor="ctr"/>
                </a:tc>
                <a:tc>
                  <a:txBody>
                    <a:bodyPr/>
                    <a:lstStyle/>
                    <a:p>
                      <a:pPr algn="r">
                        <a:buNone/>
                      </a:pPr>
                      <a:r>
                        <a:rPr lang="en-US"/>
                        <a:t>61.77%</a:t>
                      </a:r>
                    </a:p>
                  </a:txBody>
                  <a:tcPr anchor="ctr"/>
                </a:tc>
                <a:tc>
                  <a:txBody>
                    <a:bodyPr/>
                    <a:lstStyle/>
                    <a:p>
                      <a:pPr algn="r">
                        <a:buNone/>
                      </a:pPr>
                      <a:r>
                        <a:rPr lang="en-US"/>
                        <a:t>38.94%</a:t>
                      </a:r>
                    </a:p>
                  </a:txBody>
                  <a:tcPr anchor="ctr"/>
                </a:tc>
                <a:tc>
                  <a:txBody>
                    <a:bodyPr/>
                    <a:lstStyle/>
                    <a:p>
                      <a:pPr algn="r">
                        <a:buNone/>
                      </a:pPr>
                      <a:r>
                        <a:rPr lang="en-US"/>
                        <a:t>47.77%</a:t>
                      </a:r>
                    </a:p>
                  </a:txBody>
                  <a:tcPr anchor="ctr"/>
                </a:tc>
                <a:tc>
                  <a:txBody>
                    <a:bodyPr/>
                    <a:lstStyle/>
                    <a:p>
                      <a:pPr algn="r">
                        <a:buNone/>
                      </a:pPr>
                      <a:r>
                        <a:rPr lang="en-US"/>
                        <a:t>90.61%</a:t>
                      </a:r>
                    </a:p>
                  </a:txBody>
                  <a:tcPr anchor="ctr"/>
                </a:tc>
                <a:extLst>
                  <a:ext uri="{0D108BD9-81ED-4DB2-BD59-A6C34878D82A}">
                    <a16:rowId xmlns:a16="http://schemas.microsoft.com/office/drawing/2014/main" val="2965522571"/>
                  </a:ext>
                </a:extLst>
              </a:tr>
              <a:tr h="0">
                <a:tc>
                  <a:txBody>
                    <a:bodyPr/>
                    <a:lstStyle/>
                    <a:p>
                      <a:pPr>
                        <a:buNone/>
                      </a:pPr>
                      <a:r>
                        <a:rPr lang="en-US"/>
                        <a:t>Proposed H3</a:t>
                      </a:r>
                    </a:p>
                  </a:txBody>
                  <a:tcPr anchor="ctr"/>
                </a:tc>
                <a:tc>
                  <a:txBody>
                    <a:bodyPr/>
                    <a:lstStyle/>
                    <a:p>
                      <a:pPr algn="r">
                        <a:buNone/>
                      </a:pPr>
                      <a:r>
                        <a:rPr lang="en-US"/>
                        <a:t>88.94%</a:t>
                      </a:r>
                    </a:p>
                  </a:txBody>
                  <a:tcPr anchor="ctr"/>
                </a:tc>
                <a:tc>
                  <a:txBody>
                    <a:bodyPr/>
                    <a:lstStyle/>
                    <a:p>
                      <a:pPr algn="r">
                        <a:buNone/>
                      </a:pPr>
                      <a:r>
                        <a:rPr lang="en-US"/>
                        <a:t>52.26%</a:t>
                      </a:r>
                    </a:p>
                  </a:txBody>
                  <a:tcPr anchor="ctr"/>
                </a:tc>
                <a:tc>
                  <a:txBody>
                    <a:bodyPr/>
                    <a:lstStyle/>
                    <a:p>
                      <a:pPr algn="r">
                        <a:buNone/>
                      </a:pPr>
                      <a:r>
                        <a:rPr lang="en-US"/>
                        <a:t>63.42%</a:t>
                      </a:r>
                    </a:p>
                  </a:txBody>
                  <a:tcPr anchor="ctr"/>
                </a:tc>
                <a:tc>
                  <a:txBody>
                    <a:bodyPr/>
                    <a:lstStyle/>
                    <a:p>
                      <a:pPr algn="r">
                        <a:buNone/>
                      </a:pPr>
                      <a:r>
                        <a:rPr lang="en-US"/>
                        <a:t>57.30%</a:t>
                      </a:r>
                    </a:p>
                  </a:txBody>
                  <a:tcPr anchor="ctr"/>
                </a:tc>
                <a:tc>
                  <a:txBody>
                    <a:bodyPr/>
                    <a:lstStyle/>
                    <a:p>
                      <a:pPr algn="r">
                        <a:buNone/>
                      </a:pPr>
                      <a:r>
                        <a:rPr lang="en-US" dirty="0"/>
                        <a:t>90.67%</a:t>
                      </a:r>
                    </a:p>
                  </a:txBody>
                  <a:tcPr anchor="ctr"/>
                </a:tc>
                <a:extLst>
                  <a:ext uri="{0D108BD9-81ED-4DB2-BD59-A6C34878D82A}">
                    <a16:rowId xmlns:a16="http://schemas.microsoft.com/office/drawing/2014/main" val="1379833695"/>
                  </a:ext>
                </a:extLst>
              </a:tr>
            </a:tbl>
          </a:graphicData>
        </a:graphic>
      </p:graphicFrame>
      <p:sp>
        <p:nvSpPr>
          <p:cNvPr id="9" name="TextBox 8">
            <a:extLst>
              <a:ext uri="{FF2B5EF4-FFF2-40B4-BE49-F238E27FC236}">
                <a16:creationId xmlns:a16="http://schemas.microsoft.com/office/drawing/2014/main" id="{B56811D0-0CC3-A049-E994-8867D8400C89}"/>
              </a:ext>
            </a:extLst>
          </p:cNvPr>
          <p:cNvSpPr txBox="1"/>
          <p:nvPr/>
        </p:nvSpPr>
        <p:spPr>
          <a:xfrm>
            <a:off x="873760" y="5140002"/>
            <a:ext cx="10332720" cy="1631216"/>
          </a:xfrm>
          <a:prstGeom prst="rect">
            <a:avLst/>
          </a:prstGeom>
          <a:noFill/>
        </p:spPr>
        <p:txBody>
          <a:bodyPr wrap="square">
            <a:spAutoFit/>
          </a:bodyPr>
          <a:lstStyle/>
          <a:p>
            <a:pPr>
              <a:buNone/>
            </a:pPr>
            <a:r>
              <a:rPr lang="en-US" sz="2000" dirty="0"/>
              <a:t>The proposed hybrid sacrifices some overall accuracy but provides a </a:t>
            </a:r>
            <a:r>
              <a:rPr lang="en-US" sz="2000" b="1" dirty="0"/>
              <a:t>much stronger recall and F1 balance</a:t>
            </a:r>
            <a:r>
              <a:rPr lang="en-US" sz="2000" dirty="0"/>
              <a:t>.</a:t>
            </a:r>
          </a:p>
          <a:p>
            <a:pPr>
              <a:buNone/>
            </a:pPr>
            <a:r>
              <a:rPr lang="en-US" sz="2000" b="1" dirty="0"/>
              <a:t>Business meaning:</a:t>
            </a:r>
          </a:p>
          <a:p>
            <a:pPr>
              <a:buNone/>
            </a:pPr>
            <a:r>
              <a:rPr lang="en-US" sz="2000" dirty="0"/>
              <a:t>For bank marketing, identifying potential customers who may subscribe can be more important than maximizing raw accuracy alone.</a:t>
            </a:r>
          </a:p>
        </p:txBody>
      </p:sp>
      <p:sp>
        <p:nvSpPr>
          <p:cNvPr id="11" name="TextBox 10">
            <a:extLst>
              <a:ext uri="{FF2B5EF4-FFF2-40B4-BE49-F238E27FC236}">
                <a16:creationId xmlns:a16="http://schemas.microsoft.com/office/drawing/2014/main" id="{3EB92E3C-78BD-69D3-A645-755CB7F12144}"/>
              </a:ext>
            </a:extLst>
          </p:cNvPr>
          <p:cNvSpPr txBox="1"/>
          <p:nvPr/>
        </p:nvSpPr>
        <p:spPr>
          <a:xfrm>
            <a:off x="762000" y="558092"/>
            <a:ext cx="10099040" cy="584775"/>
          </a:xfrm>
          <a:prstGeom prst="rect">
            <a:avLst/>
          </a:prstGeom>
          <a:noFill/>
        </p:spPr>
        <p:txBody>
          <a:bodyPr wrap="square">
            <a:spAutoFit/>
          </a:bodyPr>
          <a:lstStyle/>
          <a:p>
            <a:pPr>
              <a:defRPr sz="2500" b="1">
                <a:solidFill>
                  <a:srgbClr val="FFFFFF"/>
                </a:solidFill>
              </a:defRPr>
            </a:pPr>
            <a:r>
              <a:rPr lang="en-US" sz="3200" dirty="0"/>
              <a:t>27. Bank Marketing – proposed Hybrid Final Test Results</a:t>
            </a:r>
          </a:p>
        </p:txBody>
      </p:sp>
    </p:spTree>
    <p:extLst>
      <p:ext uri="{BB962C8B-B14F-4D97-AF65-F5344CB8AC3E}">
        <p14:creationId xmlns:p14="http://schemas.microsoft.com/office/powerpoint/2010/main" val="39059360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A28F949-2067-D2FF-0418-CBFE30850B3C}"/>
              </a:ext>
            </a:extLst>
          </p:cNvPr>
          <p:cNvSpPr/>
          <p:nvPr/>
        </p:nvSpPr>
        <p:spPr>
          <a:xfrm>
            <a:off x="305" y="351606"/>
            <a:ext cx="12191695" cy="1034143"/>
          </a:xfrm>
          <a:prstGeom prst="rect">
            <a:avLst/>
          </a:prstGeom>
          <a:solidFill>
            <a:srgbClr val="192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DC07C11C-6214-9CCE-DC5B-9B46C1F38F46}"/>
              </a:ext>
            </a:extLst>
          </p:cNvPr>
          <p:cNvSpPr txBox="1"/>
          <p:nvPr/>
        </p:nvSpPr>
        <p:spPr>
          <a:xfrm>
            <a:off x="822960" y="1797413"/>
            <a:ext cx="8890000" cy="4708981"/>
          </a:xfrm>
          <a:prstGeom prst="rect">
            <a:avLst/>
          </a:prstGeom>
          <a:noFill/>
        </p:spPr>
        <p:txBody>
          <a:bodyPr wrap="square">
            <a:spAutoFit/>
          </a:bodyPr>
          <a:lstStyle/>
          <a:p>
            <a:pPr>
              <a:buNone/>
            </a:pPr>
            <a:r>
              <a:rPr lang="en-US" sz="2000" b="1" dirty="0"/>
              <a:t>Proposed Hybrid advantages:</a:t>
            </a:r>
          </a:p>
          <a:p>
            <a:pPr marL="342900" lvl="0" indent="-342900">
              <a:buFont typeface="Arial" panose="020B0604020202020204" pitchFamily="34" charset="0"/>
              <a:buChar char="•"/>
            </a:pPr>
            <a:r>
              <a:rPr lang="en-US" sz="2000" dirty="0"/>
              <a:t>Recall increased substantially compared with individual models. </a:t>
            </a:r>
          </a:p>
          <a:p>
            <a:pPr marL="342900" lvl="0" indent="-342900">
              <a:buFont typeface="Arial" panose="020B0604020202020204" pitchFamily="34" charset="0"/>
              <a:buChar char="•"/>
            </a:pPr>
            <a:r>
              <a:rPr lang="en-US" sz="2000" dirty="0"/>
              <a:t>F1-Score improved over all four baseline models. </a:t>
            </a:r>
          </a:p>
          <a:p>
            <a:pPr marL="342900" lvl="0" indent="-342900">
              <a:buFont typeface="Arial" panose="020B0604020202020204" pitchFamily="34" charset="0"/>
              <a:buChar char="•"/>
            </a:pPr>
            <a:r>
              <a:rPr lang="en-US" sz="2000" dirty="0"/>
              <a:t>ROC-AUC remained competitive with </a:t>
            </a:r>
            <a:r>
              <a:rPr lang="en-US" sz="2000" dirty="0" err="1"/>
              <a:t>XGBoost</a:t>
            </a:r>
            <a:r>
              <a:rPr lang="en-US" sz="2000" dirty="0"/>
              <a:t>. </a:t>
            </a:r>
          </a:p>
          <a:p>
            <a:pPr marL="342900" lvl="0" indent="-342900">
              <a:buFont typeface="Arial" panose="020B0604020202020204" pitchFamily="34" charset="0"/>
              <a:buChar char="•"/>
            </a:pPr>
            <a:r>
              <a:rPr lang="en-US" sz="2000" dirty="0"/>
              <a:t>The hybrid provides a better precision-recall balance. </a:t>
            </a:r>
          </a:p>
          <a:p>
            <a:pPr>
              <a:buNone/>
            </a:pPr>
            <a:r>
              <a:rPr lang="en-US" sz="2000" b="1" dirty="0"/>
              <a:t>Key comparison:</a:t>
            </a:r>
          </a:p>
          <a:p>
            <a:pPr>
              <a:buNone/>
            </a:pPr>
            <a:r>
              <a:rPr lang="en-US" sz="2000" b="1" dirty="0" err="1"/>
              <a:t>XGBoost</a:t>
            </a:r>
            <a:endParaRPr lang="en-US" sz="2000" dirty="0"/>
          </a:p>
          <a:p>
            <a:pPr marL="342900" lvl="0" indent="-342900">
              <a:buFont typeface="Arial" panose="020B0604020202020204" pitchFamily="34" charset="0"/>
              <a:buChar char="•"/>
            </a:pPr>
            <a:r>
              <a:rPr lang="en-US" sz="2000" dirty="0"/>
              <a:t>Recall: 38.94% </a:t>
            </a:r>
          </a:p>
          <a:p>
            <a:pPr marL="342900" lvl="0" indent="-342900">
              <a:buFont typeface="Arial" panose="020B0604020202020204" pitchFamily="34" charset="0"/>
              <a:buChar char="•"/>
            </a:pPr>
            <a:r>
              <a:rPr lang="en-US" sz="2000" dirty="0"/>
              <a:t>F1: 47.77% </a:t>
            </a:r>
          </a:p>
          <a:p>
            <a:pPr>
              <a:buNone/>
            </a:pPr>
            <a:r>
              <a:rPr lang="en-US" sz="2000" b="1" dirty="0"/>
              <a:t>Proposed Hybrid</a:t>
            </a:r>
            <a:endParaRPr lang="en-US" sz="2000" dirty="0"/>
          </a:p>
          <a:p>
            <a:pPr marL="342900" lvl="0" indent="-342900">
              <a:buFont typeface="Arial" panose="020B0604020202020204" pitchFamily="34" charset="0"/>
              <a:buChar char="•"/>
            </a:pPr>
            <a:r>
              <a:rPr lang="en-US" sz="2000" dirty="0"/>
              <a:t>Recall: </a:t>
            </a:r>
            <a:r>
              <a:rPr lang="en-US" sz="2000" b="1" dirty="0"/>
              <a:t>63.42%</a:t>
            </a:r>
            <a:r>
              <a:rPr lang="en-US" sz="2000" dirty="0"/>
              <a:t> </a:t>
            </a:r>
          </a:p>
          <a:p>
            <a:pPr marL="342900" lvl="0" indent="-342900">
              <a:buFont typeface="Arial" panose="020B0604020202020204" pitchFamily="34" charset="0"/>
              <a:buChar char="•"/>
            </a:pPr>
            <a:r>
              <a:rPr lang="en-US" sz="2000" dirty="0"/>
              <a:t>F1: </a:t>
            </a:r>
            <a:r>
              <a:rPr lang="en-US" sz="2000" b="1" dirty="0"/>
              <a:t>57.30%</a:t>
            </a:r>
            <a:r>
              <a:rPr lang="en-US" sz="2000" dirty="0"/>
              <a:t> </a:t>
            </a:r>
          </a:p>
          <a:p>
            <a:pPr>
              <a:buNone/>
            </a:pPr>
            <a:r>
              <a:rPr lang="en-US" sz="2000" b="1" dirty="0"/>
              <a:t>Conclusion:</a:t>
            </a:r>
          </a:p>
          <a:p>
            <a:pPr>
              <a:buNone/>
            </a:pPr>
            <a:r>
              <a:rPr lang="en-US" sz="2000" dirty="0"/>
              <a:t>The proposed hybrid is particularly beneficial when correctly identifying positive customers is important.</a:t>
            </a:r>
          </a:p>
        </p:txBody>
      </p:sp>
      <p:sp>
        <p:nvSpPr>
          <p:cNvPr id="8" name="TextBox 7">
            <a:extLst>
              <a:ext uri="{FF2B5EF4-FFF2-40B4-BE49-F238E27FC236}">
                <a16:creationId xmlns:a16="http://schemas.microsoft.com/office/drawing/2014/main" id="{2EA8FB9B-7400-0299-AF27-6872BD49B6E1}"/>
              </a:ext>
            </a:extLst>
          </p:cNvPr>
          <p:cNvSpPr txBox="1"/>
          <p:nvPr/>
        </p:nvSpPr>
        <p:spPr>
          <a:xfrm>
            <a:off x="721360" y="570415"/>
            <a:ext cx="7538720" cy="584775"/>
          </a:xfrm>
          <a:prstGeom prst="rect">
            <a:avLst/>
          </a:prstGeom>
          <a:noFill/>
        </p:spPr>
        <p:txBody>
          <a:bodyPr wrap="square">
            <a:spAutoFit/>
          </a:bodyPr>
          <a:lstStyle/>
          <a:p>
            <a:pPr>
              <a:defRPr sz="2500" b="1">
                <a:solidFill>
                  <a:srgbClr val="FFFFFF"/>
                </a:solidFill>
              </a:defRPr>
            </a:pPr>
            <a:r>
              <a:rPr lang="en-US" sz="3200" dirty="0"/>
              <a:t>28. Proposed Hybrid vs Individual Models</a:t>
            </a:r>
          </a:p>
        </p:txBody>
      </p:sp>
    </p:spTree>
    <p:extLst>
      <p:ext uri="{BB962C8B-B14F-4D97-AF65-F5344CB8AC3E}">
        <p14:creationId xmlns:p14="http://schemas.microsoft.com/office/powerpoint/2010/main" val="24302766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3B3F260-D55E-12F2-8B67-D520B609A9DB}"/>
              </a:ext>
            </a:extLst>
          </p:cNvPr>
          <p:cNvSpPr/>
          <p:nvPr/>
        </p:nvSpPr>
        <p:spPr>
          <a:xfrm>
            <a:off x="305" y="351606"/>
            <a:ext cx="12191695" cy="1034143"/>
          </a:xfrm>
          <a:prstGeom prst="rect">
            <a:avLst/>
          </a:prstGeom>
          <a:solidFill>
            <a:srgbClr val="192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2" name="Table 1">
            <a:extLst>
              <a:ext uri="{FF2B5EF4-FFF2-40B4-BE49-F238E27FC236}">
                <a16:creationId xmlns:a16="http://schemas.microsoft.com/office/drawing/2014/main" id="{7902DFB1-5099-490C-AFFA-075D456AC625}"/>
              </a:ext>
            </a:extLst>
          </p:cNvPr>
          <p:cNvGraphicFramePr>
            <a:graphicFrameLocks noGrp="1"/>
          </p:cNvGraphicFramePr>
          <p:nvPr>
            <p:extLst>
              <p:ext uri="{D42A27DB-BD31-4B8C-83A1-F6EECF244321}">
                <p14:modId xmlns:p14="http://schemas.microsoft.com/office/powerpoint/2010/main" val="1697966142"/>
              </p:ext>
            </p:extLst>
          </p:nvPr>
        </p:nvGraphicFramePr>
        <p:xfrm>
          <a:off x="904240" y="1760061"/>
          <a:ext cx="8229600" cy="2560320"/>
        </p:xfrm>
        <a:graphic>
          <a:graphicData uri="http://schemas.openxmlformats.org/drawingml/2006/table">
            <a:tbl>
              <a:tblPr>
                <a:tableStyleId>{5C22544A-7EE6-4342-B048-85BDC9FD1C3A}</a:tableStyleId>
              </a:tblPr>
              <a:tblGrid>
                <a:gridCol w="2743200">
                  <a:extLst>
                    <a:ext uri="{9D8B030D-6E8A-4147-A177-3AD203B41FA5}">
                      <a16:colId xmlns:a16="http://schemas.microsoft.com/office/drawing/2014/main" val="2660563825"/>
                    </a:ext>
                  </a:extLst>
                </a:gridCol>
                <a:gridCol w="2743200">
                  <a:extLst>
                    <a:ext uri="{9D8B030D-6E8A-4147-A177-3AD203B41FA5}">
                      <a16:colId xmlns:a16="http://schemas.microsoft.com/office/drawing/2014/main" val="3868037864"/>
                    </a:ext>
                  </a:extLst>
                </a:gridCol>
                <a:gridCol w="2743200">
                  <a:extLst>
                    <a:ext uri="{9D8B030D-6E8A-4147-A177-3AD203B41FA5}">
                      <a16:colId xmlns:a16="http://schemas.microsoft.com/office/drawing/2014/main" val="1162263631"/>
                    </a:ext>
                  </a:extLst>
                </a:gridCol>
              </a:tblGrid>
              <a:tr h="0">
                <a:tc>
                  <a:txBody>
                    <a:bodyPr/>
                    <a:lstStyle/>
                    <a:p>
                      <a:pPr>
                        <a:buNone/>
                      </a:pPr>
                      <a:r>
                        <a:rPr lang="en-US"/>
                        <a:t>Metric</a:t>
                      </a:r>
                    </a:p>
                  </a:txBody>
                  <a:tcPr anchor="ctr"/>
                </a:tc>
                <a:tc>
                  <a:txBody>
                    <a:bodyPr/>
                    <a:lstStyle/>
                    <a:p>
                      <a:pPr algn="r">
                        <a:buNone/>
                      </a:pPr>
                      <a:r>
                        <a:rPr lang="en-US"/>
                        <a:t>Existing EHEM</a:t>
                      </a:r>
                    </a:p>
                  </a:txBody>
                  <a:tcPr anchor="ctr"/>
                </a:tc>
                <a:tc>
                  <a:txBody>
                    <a:bodyPr/>
                    <a:lstStyle/>
                    <a:p>
                      <a:pPr algn="r">
                        <a:buNone/>
                      </a:pPr>
                      <a:r>
                        <a:rPr lang="en-US"/>
                        <a:t>Proposed H3</a:t>
                      </a:r>
                    </a:p>
                  </a:txBody>
                  <a:tcPr anchor="ctr"/>
                </a:tc>
                <a:extLst>
                  <a:ext uri="{0D108BD9-81ED-4DB2-BD59-A6C34878D82A}">
                    <a16:rowId xmlns:a16="http://schemas.microsoft.com/office/drawing/2014/main" val="4198785285"/>
                  </a:ext>
                </a:extLst>
              </a:tr>
              <a:tr h="0">
                <a:tc>
                  <a:txBody>
                    <a:bodyPr/>
                    <a:lstStyle/>
                    <a:p>
                      <a:pPr>
                        <a:buNone/>
                      </a:pPr>
                      <a:r>
                        <a:rPr lang="en-US"/>
                        <a:t>Accuracy</a:t>
                      </a:r>
                    </a:p>
                  </a:txBody>
                  <a:tcPr anchor="ctr"/>
                </a:tc>
                <a:tc>
                  <a:txBody>
                    <a:bodyPr/>
                    <a:lstStyle/>
                    <a:p>
                      <a:pPr algn="r">
                        <a:buNone/>
                      </a:pPr>
                      <a:r>
                        <a:rPr lang="en-US"/>
                        <a:t>88.84%</a:t>
                      </a:r>
                    </a:p>
                  </a:txBody>
                  <a:tcPr anchor="ctr"/>
                </a:tc>
                <a:tc>
                  <a:txBody>
                    <a:bodyPr/>
                    <a:lstStyle/>
                    <a:p>
                      <a:pPr algn="r">
                        <a:buNone/>
                      </a:pPr>
                      <a:r>
                        <a:rPr lang="en-US"/>
                        <a:t>88.94%</a:t>
                      </a:r>
                    </a:p>
                  </a:txBody>
                  <a:tcPr anchor="ctr"/>
                </a:tc>
                <a:extLst>
                  <a:ext uri="{0D108BD9-81ED-4DB2-BD59-A6C34878D82A}">
                    <a16:rowId xmlns:a16="http://schemas.microsoft.com/office/drawing/2014/main" val="4038380920"/>
                  </a:ext>
                </a:extLst>
              </a:tr>
              <a:tr h="0">
                <a:tc>
                  <a:txBody>
                    <a:bodyPr/>
                    <a:lstStyle/>
                    <a:p>
                      <a:pPr>
                        <a:buNone/>
                      </a:pPr>
                      <a:r>
                        <a:rPr lang="en-US"/>
                        <a:t>Precision</a:t>
                      </a:r>
                    </a:p>
                  </a:txBody>
                  <a:tcPr anchor="ctr"/>
                </a:tc>
                <a:tc>
                  <a:txBody>
                    <a:bodyPr/>
                    <a:lstStyle/>
                    <a:p>
                      <a:pPr algn="r">
                        <a:buNone/>
                      </a:pPr>
                      <a:r>
                        <a:rPr lang="en-US"/>
                        <a:t>51.89%</a:t>
                      </a:r>
                    </a:p>
                  </a:txBody>
                  <a:tcPr anchor="ctr"/>
                </a:tc>
                <a:tc>
                  <a:txBody>
                    <a:bodyPr/>
                    <a:lstStyle/>
                    <a:p>
                      <a:pPr algn="r">
                        <a:buNone/>
                      </a:pPr>
                      <a:r>
                        <a:rPr lang="en-US"/>
                        <a:t>52.26%</a:t>
                      </a:r>
                    </a:p>
                  </a:txBody>
                  <a:tcPr anchor="ctr"/>
                </a:tc>
                <a:extLst>
                  <a:ext uri="{0D108BD9-81ED-4DB2-BD59-A6C34878D82A}">
                    <a16:rowId xmlns:a16="http://schemas.microsoft.com/office/drawing/2014/main" val="1299352497"/>
                  </a:ext>
                </a:extLst>
              </a:tr>
              <a:tr h="0">
                <a:tc>
                  <a:txBody>
                    <a:bodyPr/>
                    <a:lstStyle/>
                    <a:p>
                      <a:pPr>
                        <a:buNone/>
                      </a:pPr>
                      <a:r>
                        <a:rPr lang="en-US"/>
                        <a:t>Recall</a:t>
                      </a:r>
                    </a:p>
                  </a:txBody>
                  <a:tcPr anchor="ctr"/>
                </a:tc>
                <a:tc>
                  <a:txBody>
                    <a:bodyPr/>
                    <a:lstStyle/>
                    <a:p>
                      <a:pPr algn="r">
                        <a:buNone/>
                      </a:pPr>
                      <a:r>
                        <a:rPr lang="en-US"/>
                        <a:t>63.61%</a:t>
                      </a:r>
                    </a:p>
                  </a:txBody>
                  <a:tcPr anchor="ctr"/>
                </a:tc>
                <a:tc>
                  <a:txBody>
                    <a:bodyPr/>
                    <a:lstStyle/>
                    <a:p>
                      <a:pPr algn="r">
                        <a:buNone/>
                      </a:pPr>
                      <a:r>
                        <a:rPr lang="en-US" dirty="0"/>
                        <a:t>63.42%</a:t>
                      </a:r>
                    </a:p>
                  </a:txBody>
                  <a:tcPr anchor="ctr"/>
                </a:tc>
                <a:extLst>
                  <a:ext uri="{0D108BD9-81ED-4DB2-BD59-A6C34878D82A}">
                    <a16:rowId xmlns:a16="http://schemas.microsoft.com/office/drawing/2014/main" val="581006762"/>
                  </a:ext>
                </a:extLst>
              </a:tr>
              <a:tr h="0">
                <a:tc>
                  <a:txBody>
                    <a:bodyPr/>
                    <a:lstStyle/>
                    <a:p>
                      <a:pPr>
                        <a:buNone/>
                      </a:pPr>
                      <a:r>
                        <a:rPr lang="en-US"/>
                        <a:t>F1-Score</a:t>
                      </a:r>
                    </a:p>
                  </a:txBody>
                  <a:tcPr anchor="ctr"/>
                </a:tc>
                <a:tc>
                  <a:txBody>
                    <a:bodyPr/>
                    <a:lstStyle/>
                    <a:p>
                      <a:pPr algn="r">
                        <a:buNone/>
                      </a:pPr>
                      <a:r>
                        <a:rPr lang="en-US"/>
                        <a:t>57.15%</a:t>
                      </a:r>
                    </a:p>
                  </a:txBody>
                  <a:tcPr anchor="ctr"/>
                </a:tc>
                <a:tc>
                  <a:txBody>
                    <a:bodyPr/>
                    <a:lstStyle/>
                    <a:p>
                      <a:pPr algn="r">
                        <a:buNone/>
                      </a:pPr>
                      <a:r>
                        <a:rPr lang="en-US"/>
                        <a:t>57.30%</a:t>
                      </a:r>
                    </a:p>
                  </a:txBody>
                  <a:tcPr anchor="ctr"/>
                </a:tc>
                <a:extLst>
                  <a:ext uri="{0D108BD9-81ED-4DB2-BD59-A6C34878D82A}">
                    <a16:rowId xmlns:a16="http://schemas.microsoft.com/office/drawing/2014/main" val="1362081050"/>
                  </a:ext>
                </a:extLst>
              </a:tr>
              <a:tr h="0">
                <a:tc>
                  <a:txBody>
                    <a:bodyPr/>
                    <a:lstStyle/>
                    <a:p>
                      <a:pPr>
                        <a:buNone/>
                      </a:pPr>
                      <a:r>
                        <a:rPr lang="en-US"/>
                        <a:t>ROC-AUC</a:t>
                      </a:r>
                    </a:p>
                  </a:txBody>
                  <a:tcPr anchor="ctr"/>
                </a:tc>
                <a:tc>
                  <a:txBody>
                    <a:bodyPr/>
                    <a:lstStyle/>
                    <a:p>
                      <a:pPr algn="r">
                        <a:buNone/>
                      </a:pPr>
                      <a:r>
                        <a:rPr lang="en-US"/>
                        <a:t>90.27%</a:t>
                      </a:r>
                    </a:p>
                  </a:txBody>
                  <a:tcPr anchor="ctr"/>
                </a:tc>
                <a:tc>
                  <a:txBody>
                    <a:bodyPr/>
                    <a:lstStyle/>
                    <a:p>
                      <a:pPr algn="r">
                        <a:buNone/>
                      </a:pPr>
                      <a:r>
                        <a:rPr lang="en-US"/>
                        <a:t>90.67%</a:t>
                      </a:r>
                    </a:p>
                  </a:txBody>
                  <a:tcPr anchor="ctr"/>
                </a:tc>
                <a:extLst>
                  <a:ext uri="{0D108BD9-81ED-4DB2-BD59-A6C34878D82A}">
                    <a16:rowId xmlns:a16="http://schemas.microsoft.com/office/drawing/2014/main" val="697207870"/>
                  </a:ext>
                </a:extLst>
              </a:tr>
              <a:tr h="0">
                <a:tc>
                  <a:txBody>
                    <a:bodyPr/>
                    <a:lstStyle/>
                    <a:p>
                      <a:pPr>
                        <a:buNone/>
                      </a:pPr>
                      <a:r>
                        <a:rPr lang="en-US"/>
                        <a:t>Threshold</a:t>
                      </a:r>
                    </a:p>
                  </a:txBody>
                  <a:tcPr anchor="ctr"/>
                </a:tc>
                <a:tc>
                  <a:txBody>
                    <a:bodyPr/>
                    <a:lstStyle/>
                    <a:p>
                      <a:pPr algn="r">
                        <a:buNone/>
                      </a:pPr>
                      <a:r>
                        <a:rPr lang="en-US"/>
                        <a:t>0.33</a:t>
                      </a:r>
                    </a:p>
                  </a:txBody>
                  <a:tcPr anchor="ctr"/>
                </a:tc>
                <a:tc>
                  <a:txBody>
                    <a:bodyPr/>
                    <a:lstStyle/>
                    <a:p>
                      <a:pPr algn="r">
                        <a:buNone/>
                      </a:pPr>
                      <a:r>
                        <a:rPr lang="en-US" dirty="0"/>
                        <a:t>0.29</a:t>
                      </a:r>
                    </a:p>
                  </a:txBody>
                  <a:tcPr anchor="ctr"/>
                </a:tc>
                <a:extLst>
                  <a:ext uri="{0D108BD9-81ED-4DB2-BD59-A6C34878D82A}">
                    <a16:rowId xmlns:a16="http://schemas.microsoft.com/office/drawing/2014/main" val="3366180351"/>
                  </a:ext>
                </a:extLst>
              </a:tr>
            </a:tbl>
          </a:graphicData>
        </a:graphic>
      </p:graphicFrame>
      <p:sp>
        <p:nvSpPr>
          <p:cNvPr id="8" name="TextBox 7">
            <a:extLst>
              <a:ext uri="{FF2B5EF4-FFF2-40B4-BE49-F238E27FC236}">
                <a16:creationId xmlns:a16="http://schemas.microsoft.com/office/drawing/2014/main" id="{76348327-4C7F-3F87-8F92-9FFEDB7D1B39}"/>
              </a:ext>
            </a:extLst>
          </p:cNvPr>
          <p:cNvSpPr txBox="1"/>
          <p:nvPr/>
        </p:nvSpPr>
        <p:spPr>
          <a:xfrm>
            <a:off x="904240" y="4694693"/>
            <a:ext cx="9072880" cy="1200329"/>
          </a:xfrm>
          <a:prstGeom prst="rect">
            <a:avLst/>
          </a:prstGeom>
          <a:noFill/>
        </p:spPr>
        <p:txBody>
          <a:bodyPr wrap="square">
            <a:spAutoFit/>
          </a:bodyPr>
          <a:lstStyle/>
          <a:p>
            <a:pPr>
              <a:buNone/>
            </a:pPr>
            <a:r>
              <a:rPr lang="en-US" sz="2400" dirty="0"/>
              <a:t>The proposed hybrid provides a small but consistent improvement in overall predictive quality compared with the existing EHEM configuration.</a:t>
            </a:r>
          </a:p>
        </p:txBody>
      </p:sp>
      <p:sp>
        <p:nvSpPr>
          <p:cNvPr id="10" name="TextBox 9">
            <a:extLst>
              <a:ext uri="{FF2B5EF4-FFF2-40B4-BE49-F238E27FC236}">
                <a16:creationId xmlns:a16="http://schemas.microsoft.com/office/drawing/2014/main" id="{813BA3E3-BF4E-9205-F002-F47ED2BECEB7}"/>
              </a:ext>
            </a:extLst>
          </p:cNvPr>
          <p:cNvSpPr txBox="1"/>
          <p:nvPr/>
        </p:nvSpPr>
        <p:spPr>
          <a:xfrm>
            <a:off x="680720" y="576289"/>
            <a:ext cx="8676640" cy="584775"/>
          </a:xfrm>
          <a:prstGeom prst="rect">
            <a:avLst/>
          </a:prstGeom>
          <a:noFill/>
        </p:spPr>
        <p:txBody>
          <a:bodyPr wrap="square">
            <a:spAutoFit/>
          </a:bodyPr>
          <a:lstStyle/>
          <a:p>
            <a:pPr>
              <a:defRPr sz="2500" b="1">
                <a:solidFill>
                  <a:srgbClr val="FFFFFF"/>
                </a:solidFill>
              </a:defRPr>
            </a:pPr>
            <a:r>
              <a:rPr lang="en-US" sz="3200" dirty="0"/>
              <a:t>29. Proposed Hybrid vs Existing Hybrid – Bank </a:t>
            </a:r>
          </a:p>
        </p:txBody>
      </p:sp>
    </p:spTree>
    <p:extLst>
      <p:ext uri="{BB962C8B-B14F-4D97-AF65-F5344CB8AC3E}">
        <p14:creationId xmlns:p14="http://schemas.microsoft.com/office/powerpoint/2010/main" val="384238439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DFF8F36-724F-9D51-B7FF-0E6ED6F0E2DB}"/>
              </a:ext>
            </a:extLst>
          </p:cNvPr>
          <p:cNvSpPr/>
          <p:nvPr/>
        </p:nvSpPr>
        <p:spPr>
          <a:xfrm>
            <a:off x="305" y="351606"/>
            <a:ext cx="12191695" cy="1034143"/>
          </a:xfrm>
          <a:prstGeom prst="rect">
            <a:avLst/>
          </a:prstGeom>
          <a:solidFill>
            <a:srgbClr val="192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a:extLst>
              <a:ext uri="{FF2B5EF4-FFF2-40B4-BE49-F238E27FC236}">
                <a16:creationId xmlns:a16="http://schemas.microsoft.com/office/drawing/2014/main" id="{E558C83B-28AA-F041-602E-AA418E06EC39}"/>
              </a:ext>
            </a:extLst>
          </p:cNvPr>
          <p:cNvGraphicFramePr>
            <a:graphicFrameLocks noGrp="1"/>
          </p:cNvGraphicFramePr>
          <p:nvPr>
            <p:extLst>
              <p:ext uri="{D42A27DB-BD31-4B8C-83A1-F6EECF244321}">
                <p14:modId xmlns:p14="http://schemas.microsoft.com/office/powerpoint/2010/main" val="3013227920"/>
              </p:ext>
            </p:extLst>
          </p:nvPr>
        </p:nvGraphicFramePr>
        <p:xfrm>
          <a:off x="680720" y="1783080"/>
          <a:ext cx="8229600" cy="3291840"/>
        </p:xfrm>
        <a:graphic>
          <a:graphicData uri="http://schemas.openxmlformats.org/drawingml/2006/table">
            <a:tbl>
              <a:tblPr>
                <a:tableStyleId>{5C22544A-7EE6-4342-B048-85BDC9FD1C3A}</a:tableStyleId>
              </a:tblPr>
              <a:tblGrid>
                <a:gridCol w="2057400">
                  <a:extLst>
                    <a:ext uri="{9D8B030D-6E8A-4147-A177-3AD203B41FA5}">
                      <a16:colId xmlns:a16="http://schemas.microsoft.com/office/drawing/2014/main" val="4124482730"/>
                    </a:ext>
                  </a:extLst>
                </a:gridCol>
                <a:gridCol w="2057400">
                  <a:extLst>
                    <a:ext uri="{9D8B030D-6E8A-4147-A177-3AD203B41FA5}">
                      <a16:colId xmlns:a16="http://schemas.microsoft.com/office/drawing/2014/main" val="2005826914"/>
                    </a:ext>
                  </a:extLst>
                </a:gridCol>
                <a:gridCol w="2057400">
                  <a:extLst>
                    <a:ext uri="{9D8B030D-6E8A-4147-A177-3AD203B41FA5}">
                      <a16:colId xmlns:a16="http://schemas.microsoft.com/office/drawing/2014/main" val="1376145003"/>
                    </a:ext>
                  </a:extLst>
                </a:gridCol>
                <a:gridCol w="2057400">
                  <a:extLst>
                    <a:ext uri="{9D8B030D-6E8A-4147-A177-3AD203B41FA5}">
                      <a16:colId xmlns:a16="http://schemas.microsoft.com/office/drawing/2014/main" val="500033975"/>
                    </a:ext>
                  </a:extLst>
                </a:gridCol>
              </a:tblGrid>
              <a:tr h="0">
                <a:tc>
                  <a:txBody>
                    <a:bodyPr/>
                    <a:lstStyle/>
                    <a:p>
                      <a:pPr>
                        <a:buNone/>
                      </a:pPr>
                      <a:r>
                        <a:rPr lang="en-US"/>
                        <a:t>Hybrid</a:t>
                      </a:r>
                    </a:p>
                  </a:txBody>
                  <a:tcPr anchor="ctr"/>
                </a:tc>
                <a:tc>
                  <a:txBody>
                    <a:bodyPr/>
                    <a:lstStyle/>
                    <a:p>
                      <a:pPr algn="r">
                        <a:buNone/>
                      </a:pPr>
                      <a:r>
                        <a:rPr lang="en-US"/>
                        <a:t>Test F1</a:t>
                      </a:r>
                    </a:p>
                  </a:txBody>
                  <a:tcPr anchor="ctr"/>
                </a:tc>
                <a:tc>
                  <a:txBody>
                    <a:bodyPr/>
                    <a:lstStyle/>
                    <a:p>
                      <a:pPr algn="r">
                        <a:buNone/>
                      </a:pPr>
                      <a:r>
                        <a:rPr lang="en-US"/>
                        <a:t>Test ROC-AUC</a:t>
                      </a:r>
                    </a:p>
                  </a:txBody>
                  <a:tcPr anchor="ctr"/>
                </a:tc>
                <a:tc>
                  <a:txBody>
                    <a:bodyPr/>
                    <a:lstStyle/>
                    <a:p>
                      <a:pPr algn="r">
                        <a:buNone/>
                      </a:pPr>
                      <a:r>
                        <a:rPr lang="en-US"/>
                        <a:t>Diversity</a:t>
                      </a:r>
                    </a:p>
                  </a:txBody>
                  <a:tcPr anchor="ctr"/>
                </a:tc>
                <a:extLst>
                  <a:ext uri="{0D108BD9-81ED-4DB2-BD59-A6C34878D82A}">
                    <a16:rowId xmlns:a16="http://schemas.microsoft.com/office/drawing/2014/main" val="3951929158"/>
                  </a:ext>
                </a:extLst>
              </a:tr>
              <a:tr h="0">
                <a:tc>
                  <a:txBody>
                    <a:bodyPr/>
                    <a:lstStyle/>
                    <a:p>
                      <a:pPr>
                        <a:buNone/>
                      </a:pPr>
                      <a:r>
                        <a:rPr lang="en-US"/>
                        <a:t>RF + XGB</a:t>
                      </a:r>
                    </a:p>
                  </a:txBody>
                  <a:tcPr anchor="ctr"/>
                </a:tc>
                <a:tc>
                  <a:txBody>
                    <a:bodyPr/>
                    <a:lstStyle/>
                    <a:p>
                      <a:pPr algn="r">
                        <a:buNone/>
                      </a:pPr>
                      <a:r>
                        <a:rPr lang="en-US"/>
                        <a:t>95.90%</a:t>
                      </a:r>
                    </a:p>
                  </a:txBody>
                  <a:tcPr anchor="ctr"/>
                </a:tc>
                <a:tc>
                  <a:txBody>
                    <a:bodyPr/>
                    <a:lstStyle/>
                    <a:p>
                      <a:pPr algn="r">
                        <a:buNone/>
                      </a:pPr>
                      <a:r>
                        <a:rPr lang="en-US"/>
                        <a:t>77.24%</a:t>
                      </a:r>
                    </a:p>
                  </a:txBody>
                  <a:tcPr anchor="ctr"/>
                </a:tc>
                <a:tc>
                  <a:txBody>
                    <a:bodyPr/>
                    <a:lstStyle/>
                    <a:p>
                      <a:pPr algn="r">
                        <a:buNone/>
                      </a:pPr>
                      <a:r>
                        <a:rPr lang="en-US"/>
                        <a:t>0.322</a:t>
                      </a:r>
                    </a:p>
                  </a:txBody>
                  <a:tcPr anchor="ctr"/>
                </a:tc>
                <a:extLst>
                  <a:ext uri="{0D108BD9-81ED-4DB2-BD59-A6C34878D82A}">
                    <a16:rowId xmlns:a16="http://schemas.microsoft.com/office/drawing/2014/main" val="1603709049"/>
                  </a:ext>
                </a:extLst>
              </a:tr>
              <a:tr h="0">
                <a:tc>
                  <a:txBody>
                    <a:bodyPr/>
                    <a:lstStyle/>
                    <a:p>
                      <a:pPr>
                        <a:buNone/>
                      </a:pPr>
                      <a:r>
                        <a:rPr lang="en-US"/>
                        <a:t>RF + HGB</a:t>
                      </a:r>
                    </a:p>
                  </a:txBody>
                  <a:tcPr anchor="ctr"/>
                </a:tc>
                <a:tc>
                  <a:txBody>
                    <a:bodyPr/>
                    <a:lstStyle/>
                    <a:p>
                      <a:pPr algn="r">
                        <a:buNone/>
                      </a:pPr>
                      <a:r>
                        <a:rPr lang="en-US"/>
                        <a:t>96.11%</a:t>
                      </a:r>
                    </a:p>
                  </a:txBody>
                  <a:tcPr anchor="ctr"/>
                </a:tc>
                <a:tc>
                  <a:txBody>
                    <a:bodyPr/>
                    <a:lstStyle/>
                    <a:p>
                      <a:pPr algn="r">
                        <a:buNone/>
                      </a:pPr>
                      <a:r>
                        <a:rPr lang="en-US"/>
                        <a:t>81.12%</a:t>
                      </a:r>
                    </a:p>
                  </a:txBody>
                  <a:tcPr anchor="ctr"/>
                </a:tc>
                <a:tc>
                  <a:txBody>
                    <a:bodyPr/>
                    <a:lstStyle/>
                    <a:p>
                      <a:pPr algn="r">
                        <a:buNone/>
                      </a:pPr>
                      <a:r>
                        <a:rPr lang="en-US"/>
                        <a:t>0.370</a:t>
                      </a:r>
                    </a:p>
                  </a:txBody>
                  <a:tcPr anchor="ctr"/>
                </a:tc>
                <a:extLst>
                  <a:ext uri="{0D108BD9-81ED-4DB2-BD59-A6C34878D82A}">
                    <a16:rowId xmlns:a16="http://schemas.microsoft.com/office/drawing/2014/main" val="2122095878"/>
                  </a:ext>
                </a:extLst>
              </a:tr>
              <a:tr h="0">
                <a:tc>
                  <a:txBody>
                    <a:bodyPr/>
                    <a:lstStyle/>
                    <a:p>
                      <a:pPr>
                        <a:buNone/>
                      </a:pPr>
                      <a:r>
                        <a:rPr lang="en-US"/>
                        <a:t>XGB + HGB</a:t>
                      </a:r>
                    </a:p>
                  </a:txBody>
                  <a:tcPr anchor="ctr"/>
                </a:tc>
                <a:tc>
                  <a:txBody>
                    <a:bodyPr/>
                    <a:lstStyle/>
                    <a:p>
                      <a:pPr algn="r">
                        <a:buNone/>
                      </a:pPr>
                      <a:r>
                        <a:rPr lang="en-US"/>
                        <a:t>95.89%</a:t>
                      </a:r>
                    </a:p>
                  </a:txBody>
                  <a:tcPr anchor="ctr"/>
                </a:tc>
                <a:tc>
                  <a:txBody>
                    <a:bodyPr/>
                    <a:lstStyle/>
                    <a:p>
                      <a:pPr algn="r">
                        <a:buNone/>
                      </a:pPr>
                      <a:r>
                        <a:rPr lang="en-US"/>
                        <a:t>80.25%</a:t>
                      </a:r>
                    </a:p>
                  </a:txBody>
                  <a:tcPr anchor="ctr"/>
                </a:tc>
                <a:tc>
                  <a:txBody>
                    <a:bodyPr/>
                    <a:lstStyle/>
                    <a:p>
                      <a:pPr algn="r">
                        <a:buNone/>
                      </a:pPr>
                      <a:r>
                        <a:rPr lang="en-US" dirty="0"/>
                        <a:t>0.127</a:t>
                      </a:r>
                    </a:p>
                  </a:txBody>
                  <a:tcPr anchor="ctr"/>
                </a:tc>
                <a:extLst>
                  <a:ext uri="{0D108BD9-81ED-4DB2-BD59-A6C34878D82A}">
                    <a16:rowId xmlns:a16="http://schemas.microsoft.com/office/drawing/2014/main" val="1380543990"/>
                  </a:ext>
                </a:extLst>
              </a:tr>
              <a:tr h="0">
                <a:tc>
                  <a:txBody>
                    <a:bodyPr/>
                    <a:lstStyle/>
                    <a:p>
                      <a:pPr>
                        <a:buNone/>
                      </a:pPr>
                      <a:r>
                        <a:rPr lang="en-US"/>
                        <a:t>SVM + XGB</a:t>
                      </a:r>
                    </a:p>
                  </a:txBody>
                  <a:tcPr anchor="ctr"/>
                </a:tc>
                <a:tc>
                  <a:txBody>
                    <a:bodyPr/>
                    <a:lstStyle/>
                    <a:p>
                      <a:pPr algn="r">
                        <a:buNone/>
                      </a:pPr>
                      <a:r>
                        <a:rPr lang="en-US"/>
                        <a:t>95.78%</a:t>
                      </a:r>
                    </a:p>
                  </a:txBody>
                  <a:tcPr anchor="ctr"/>
                </a:tc>
                <a:tc>
                  <a:txBody>
                    <a:bodyPr/>
                    <a:lstStyle/>
                    <a:p>
                      <a:pPr algn="r">
                        <a:buNone/>
                      </a:pPr>
                      <a:r>
                        <a:rPr lang="en-US"/>
                        <a:t>72.33%</a:t>
                      </a:r>
                    </a:p>
                  </a:txBody>
                  <a:tcPr anchor="ctr"/>
                </a:tc>
                <a:tc>
                  <a:txBody>
                    <a:bodyPr/>
                    <a:lstStyle/>
                    <a:p>
                      <a:pPr algn="r">
                        <a:buNone/>
                      </a:pPr>
                      <a:r>
                        <a:rPr lang="en-US"/>
                        <a:t>0.395</a:t>
                      </a:r>
                    </a:p>
                  </a:txBody>
                  <a:tcPr anchor="ctr"/>
                </a:tc>
                <a:extLst>
                  <a:ext uri="{0D108BD9-81ED-4DB2-BD59-A6C34878D82A}">
                    <a16:rowId xmlns:a16="http://schemas.microsoft.com/office/drawing/2014/main" val="1510565212"/>
                  </a:ext>
                </a:extLst>
              </a:tr>
              <a:tr h="0">
                <a:tc>
                  <a:txBody>
                    <a:bodyPr/>
                    <a:lstStyle/>
                    <a:p>
                      <a:pPr>
                        <a:buNone/>
                      </a:pPr>
                      <a:r>
                        <a:rPr lang="en-US"/>
                        <a:t>SVM + HGB</a:t>
                      </a:r>
                    </a:p>
                  </a:txBody>
                  <a:tcPr anchor="ctr"/>
                </a:tc>
                <a:tc>
                  <a:txBody>
                    <a:bodyPr/>
                    <a:lstStyle/>
                    <a:p>
                      <a:pPr algn="r">
                        <a:buNone/>
                      </a:pPr>
                      <a:r>
                        <a:rPr lang="en-US"/>
                        <a:t>95.81%</a:t>
                      </a:r>
                    </a:p>
                  </a:txBody>
                  <a:tcPr anchor="ctr"/>
                </a:tc>
                <a:tc>
                  <a:txBody>
                    <a:bodyPr/>
                    <a:lstStyle/>
                    <a:p>
                      <a:pPr algn="r">
                        <a:buNone/>
                      </a:pPr>
                      <a:r>
                        <a:rPr lang="en-US"/>
                        <a:t>80.55%</a:t>
                      </a:r>
                    </a:p>
                  </a:txBody>
                  <a:tcPr anchor="ctr"/>
                </a:tc>
                <a:tc>
                  <a:txBody>
                    <a:bodyPr/>
                    <a:lstStyle/>
                    <a:p>
                      <a:pPr algn="r">
                        <a:buNone/>
                      </a:pPr>
                      <a:r>
                        <a:rPr lang="en-US"/>
                        <a:t>0.515</a:t>
                      </a:r>
                    </a:p>
                  </a:txBody>
                  <a:tcPr anchor="ctr"/>
                </a:tc>
                <a:extLst>
                  <a:ext uri="{0D108BD9-81ED-4DB2-BD59-A6C34878D82A}">
                    <a16:rowId xmlns:a16="http://schemas.microsoft.com/office/drawing/2014/main" val="1864471576"/>
                  </a:ext>
                </a:extLst>
              </a:tr>
              <a:tr h="0">
                <a:tc>
                  <a:txBody>
                    <a:bodyPr/>
                    <a:lstStyle/>
                    <a:p>
                      <a:pPr>
                        <a:buNone/>
                      </a:pPr>
                      <a:r>
                        <a:rPr lang="en-US"/>
                        <a:t>RF + SVM + XGB</a:t>
                      </a:r>
                    </a:p>
                  </a:txBody>
                  <a:tcPr anchor="ctr"/>
                </a:tc>
                <a:tc>
                  <a:txBody>
                    <a:bodyPr/>
                    <a:lstStyle/>
                    <a:p>
                      <a:pPr algn="r">
                        <a:buNone/>
                      </a:pPr>
                      <a:r>
                        <a:rPr lang="en-US"/>
                        <a:t>95.84%</a:t>
                      </a:r>
                    </a:p>
                  </a:txBody>
                  <a:tcPr anchor="ctr"/>
                </a:tc>
                <a:tc>
                  <a:txBody>
                    <a:bodyPr/>
                    <a:lstStyle/>
                    <a:p>
                      <a:pPr algn="r">
                        <a:buNone/>
                      </a:pPr>
                      <a:r>
                        <a:rPr lang="en-US"/>
                        <a:t>76.35%</a:t>
                      </a:r>
                    </a:p>
                  </a:txBody>
                  <a:tcPr anchor="ctr"/>
                </a:tc>
                <a:tc>
                  <a:txBody>
                    <a:bodyPr/>
                    <a:lstStyle/>
                    <a:p>
                      <a:pPr algn="r">
                        <a:buNone/>
                      </a:pPr>
                      <a:r>
                        <a:rPr lang="en-US"/>
                        <a:t>0.433</a:t>
                      </a:r>
                    </a:p>
                  </a:txBody>
                  <a:tcPr anchor="ctr"/>
                </a:tc>
                <a:extLst>
                  <a:ext uri="{0D108BD9-81ED-4DB2-BD59-A6C34878D82A}">
                    <a16:rowId xmlns:a16="http://schemas.microsoft.com/office/drawing/2014/main" val="1853303997"/>
                  </a:ext>
                </a:extLst>
              </a:tr>
              <a:tr h="0">
                <a:tc>
                  <a:txBody>
                    <a:bodyPr/>
                    <a:lstStyle/>
                    <a:p>
                      <a:pPr>
                        <a:buNone/>
                      </a:pPr>
                      <a:r>
                        <a:rPr lang="en-US"/>
                        <a:t>RF + XGB + HGB</a:t>
                      </a:r>
                    </a:p>
                  </a:txBody>
                  <a:tcPr anchor="ctr"/>
                </a:tc>
                <a:tc>
                  <a:txBody>
                    <a:bodyPr/>
                    <a:lstStyle/>
                    <a:p>
                      <a:pPr algn="r">
                        <a:buNone/>
                      </a:pPr>
                      <a:r>
                        <a:rPr lang="en-US"/>
                        <a:t>95.93%</a:t>
                      </a:r>
                    </a:p>
                  </a:txBody>
                  <a:tcPr anchor="ctr"/>
                </a:tc>
                <a:tc>
                  <a:txBody>
                    <a:bodyPr/>
                    <a:lstStyle/>
                    <a:p>
                      <a:pPr algn="r">
                        <a:buNone/>
                      </a:pPr>
                      <a:r>
                        <a:rPr lang="en-US"/>
                        <a:t>80.16%</a:t>
                      </a:r>
                    </a:p>
                  </a:txBody>
                  <a:tcPr anchor="ctr"/>
                </a:tc>
                <a:tc>
                  <a:txBody>
                    <a:bodyPr/>
                    <a:lstStyle/>
                    <a:p>
                      <a:pPr algn="r">
                        <a:buNone/>
                      </a:pPr>
                      <a:r>
                        <a:rPr lang="en-US"/>
                        <a:t>0.273</a:t>
                      </a:r>
                    </a:p>
                  </a:txBody>
                  <a:tcPr anchor="ctr"/>
                </a:tc>
                <a:extLst>
                  <a:ext uri="{0D108BD9-81ED-4DB2-BD59-A6C34878D82A}">
                    <a16:rowId xmlns:a16="http://schemas.microsoft.com/office/drawing/2014/main" val="1492242427"/>
                  </a:ext>
                </a:extLst>
              </a:tr>
              <a:tr h="0">
                <a:tc>
                  <a:txBody>
                    <a:bodyPr/>
                    <a:lstStyle/>
                    <a:p>
                      <a:pPr>
                        <a:buNone/>
                      </a:pPr>
                      <a:r>
                        <a:rPr lang="en-US"/>
                        <a:t>SVM + XGB + HGB</a:t>
                      </a:r>
                    </a:p>
                  </a:txBody>
                  <a:tcPr anchor="ctr"/>
                </a:tc>
                <a:tc>
                  <a:txBody>
                    <a:bodyPr/>
                    <a:lstStyle/>
                    <a:p>
                      <a:pPr algn="r">
                        <a:buNone/>
                      </a:pPr>
                      <a:r>
                        <a:rPr lang="en-US"/>
                        <a:t>95.83%</a:t>
                      </a:r>
                    </a:p>
                  </a:txBody>
                  <a:tcPr anchor="ctr"/>
                </a:tc>
                <a:tc>
                  <a:txBody>
                    <a:bodyPr/>
                    <a:lstStyle/>
                    <a:p>
                      <a:pPr algn="r">
                        <a:buNone/>
                      </a:pPr>
                      <a:r>
                        <a:rPr lang="en-US"/>
                        <a:t>79.27%</a:t>
                      </a:r>
                    </a:p>
                  </a:txBody>
                  <a:tcPr anchor="ctr"/>
                </a:tc>
                <a:tc>
                  <a:txBody>
                    <a:bodyPr/>
                    <a:lstStyle/>
                    <a:p>
                      <a:pPr algn="r">
                        <a:buNone/>
                      </a:pPr>
                      <a:r>
                        <a:rPr lang="en-US" dirty="0"/>
                        <a:t>0.345</a:t>
                      </a:r>
                    </a:p>
                  </a:txBody>
                  <a:tcPr anchor="ctr"/>
                </a:tc>
                <a:extLst>
                  <a:ext uri="{0D108BD9-81ED-4DB2-BD59-A6C34878D82A}">
                    <a16:rowId xmlns:a16="http://schemas.microsoft.com/office/drawing/2014/main" val="75658056"/>
                  </a:ext>
                </a:extLst>
              </a:tr>
            </a:tbl>
          </a:graphicData>
        </a:graphic>
      </p:graphicFrame>
      <p:sp>
        <p:nvSpPr>
          <p:cNvPr id="7" name="TextBox 6">
            <a:extLst>
              <a:ext uri="{FF2B5EF4-FFF2-40B4-BE49-F238E27FC236}">
                <a16:creationId xmlns:a16="http://schemas.microsoft.com/office/drawing/2014/main" id="{3BDD7724-15A4-73D3-87C3-9BA16397FD77}"/>
              </a:ext>
            </a:extLst>
          </p:cNvPr>
          <p:cNvSpPr txBox="1"/>
          <p:nvPr/>
        </p:nvSpPr>
        <p:spPr>
          <a:xfrm>
            <a:off x="812800" y="5472251"/>
            <a:ext cx="10251440" cy="830997"/>
          </a:xfrm>
          <a:prstGeom prst="rect">
            <a:avLst/>
          </a:prstGeom>
          <a:noFill/>
        </p:spPr>
        <p:txBody>
          <a:bodyPr wrap="square">
            <a:spAutoFit/>
          </a:bodyPr>
          <a:lstStyle/>
          <a:p>
            <a:pPr>
              <a:buNone/>
            </a:pPr>
            <a:r>
              <a:rPr lang="en-US" sz="2400" b="1" dirty="0"/>
              <a:t>Random Forest + </a:t>
            </a:r>
            <a:r>
              <a:rPr lang="en-US" sz="2400" b="1" dirty="0" err="1"/>
              <a:t>HistGradientBoosting</a:t>
            </a:r>
            <a:endParaRPr lang="en-US" sz="2400" dirty="0"/>
          </a:p>
          <a:p>
            <a:pPr>
              <a:buNone/>
            </a:pPr>
            <a:r>
              <a:rPr lang="en-US" sz="2400" dirty="0"/>
              <a:t>was selected based on the validation results</a:t>
            </a:r>
            <a:r>
              <a:rPr lang="en-US" dirty="0"/>
              <a:t>.</a:t>
            </a:r>
          </a:p>
        </p:txBody>
      </p:sp>
      <p:sp>
        <p:nvSpPr>
          <p:cNvPr id="9" name="TextBox 8">
            <a:extLst>
              <a:ext uri="{FF2B5EF4-FFF2-40B4-BE49-F238E27FC236}">
                <a16:creationId xmlns:a16="http://schemas.microsoft.com/office/drawing/2014/main" id="{F27A3AA2-5E47-26A2-9864-EBCA66FE445F}"/>
              </a:ext>
            </a:extLst>
          </p:cNvPr>
          <p:cNvSpPr txBox="1"/>
          <p:nvPr/>
        </p:nvSpPr>
        <p:spPr>
          <a:xfrm>
            <a:off x="604520" y="566091"/>
            <a:ext cx="7934960" cy="584775"/>
          </a:xfrm>
          <a:prstGeom prst="rect">
            <a:avLst/>
          </a:prstGeom>
          <a:noFill/>
        </p:spPr>
        <p:txBody>
          <a:bodyPr wrap="square">
            <a:spAutoFit/>
          </a:bodyPr>
          <a:lstStyle/>
          <a:p>
            <a:pPr>
              <a:defRPr sz="2500" b="1">
                <a:solidFill>
                  <a:srgbClr val="FFFFFF"/>
                </a:solidFill>
              </a:defRPr>
            </a:pPr>
            <a:r>
              <a:rPr lang="en-US" sz="3200" dirty="0"/>
              <a:t>30. Online Retail – Hybrid Model Comparison</a:t>
            </a:r>
          </a:p>
        </p:txBody>
      </p:sp>
    </p:spTree>
    <p:extLst>
      <p:ext uri="{BB962C8B-B14F-4D97-AF65-F5344CB8AC3E}">
        <p14:creationId xmlns:p14="http://schemas.microsoft.com/office/powerpoint/2010/main" val="17091632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78896B4-7C0C-5E37-A5F8-6B4D36C35E2B}"/>
              </a:ext>
            </a:extLst>
          </p:cNvPr>
          <p:cNvSpPr/>
          <p:nvPr/>
        </p:nvSpPr>
        <p:spPr>
          <a:xfrm>
            <a:off x="305" y="351606"/>
            <a:ext cx="12191695" cy="1034143"/>
          </a:xfrm>
          <a:prstGeom prst="rect">
            <a:avLst/>
          </a:prstGeom>
          <a:solidFill>
            <a:srgbClr val="192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A7F806DF-BC3D-C302-45A4-7FF8049D6346}"/>
              </a:ext>
            </a:extLst>
          </p:cNvPr>
          <p:cNvSpPr txBox="1"/>
          <p:nvPr/>
        </p:nvSpPr>
        <p:spPr>
          <a:xfrm>
            <a:off x="772160" y="1612747"/>
            <a:ext cx="9001760" cy="4893647"/>
          </a:xfrm>
          <a:prstGeom prst="rect">
            <a:avLst/>
          </a:prstGeom>
          <a:noFill/>
        </p:spPr>
        <p:txBody>
          <a:bodyPr wrap="square">
            <a:spAutoFit/>
          </a:bodyPr>
          <a:lstStyle/>
          <a:p>
            <a:pPr>
              <a:buNone/>
            </a:pPr>
            <a:r>
              <a:rPr lang="en-US" sz="2400" dirty="0"/>
              <a:t>The validation data was used to optimize:</a:t>
            </a:r>
          </a:p>
          <a:p>
            <a:pPr marL="342900" lvl="0" indent="-342900">
              <a:buFont typeface="Arial" panose="020B0604020202020204" pitchFamily="34" charset="0"/>
              <a:buChar char="•"/>
            </a:pPr>
            <a:r>
              <a:rPr lang="en-US" sz="2400" dirty="0"/>
              <a:t>RF weight </a:t>
            </a:r>
          </a:p>
          <a:p>
            <a:pPr marL="342900" lvl="0" indent="-342900">
              <a:buFont typeface="Arial" panose="020B0604020202020204" pitchFamily="34" charset="0"/>
              <a:buChar char="•"/>
            </a:pPr>
            <a:r>
              <a:rPr lang="en-US" sz="2400" dirty="0"/>
              <a:t>HGB weight </a:t>
            </a:r>
          </a:p>
          <a:p>
            <a:pPr marL="342900" lvl="0" indent="-342900">
              <a:buFont typeface="Arial" panose="020B0604020202020204" pitchFamily="34" charset="0"/>
              <a:buChar char="•"/>
            </a:pPr>
            <a:r>
              <a:rPr lang="en-US" sz="2400" dirty="0"/>
              <a:t>Classification threshold </a:t>
            </a:r>
          </a:p>
          <a:p>
            <a:pPr>
              <a:buNone/>
            </a:pPr>
            <a:r>
              <a:rPr lang="en-US" sz="2400" b="1" dirty="0"/>
              <a:t>Best configuration investigated:</a:t>
            </a:r>
          </a:p>
          <a:p>
            <a:pPr>
              <a:buNone/>
            </a:pPr>
            <a:r>
              <a:rPr lang="en-US" sz="2400" b="1" dirty="0"/>
              <a:t>RF = 0.30</a:t>
            </a:r>
            <a:endParaRPr lang="en-US" sz="2400" dirty="0"/>
          </a:p>
          <a:p>
            <a:pPr>
              <a:buNone/>
            </a:pPr>
            <a:r>
              <a:rPr lang="en-US" sz="2400" b="1" dirty="0"/>
              <a:t>HGB = 0.70</a:t>
            </a:r>
            <a:endParaRPr lang="en-US" sz="2400" dirty="0"/>
          </a:p>
          <a:p>
            <a:pPr>
              <a:buNone/>
            </a:pPr>
            <a:r>
              <a:rPr lang="en-US" sz="2400" dirty="0"/>
              <a:t>with threshold optimization.</a:t>
            </a:r>
          </a:p>
          <a:p>
            <a:pPr>
              <a:buNone/>
            </a:pPr>
            <a:r>
              <a:rPr lang="en-US" sz="2400" b="1" dirty="0"/>
              <a:t>Why?</a:t>
            </a:r>
          </a:p>
          <a:p>
            <a:pPr>
              <a:buNone/>
            </a:pPr>
            <a:r>
              <a:rPr lang="en-US" sz="2400" dirty="0"/>
              <a:t>The combination provided a strong balance between:</a:t>
            </a:r>
          </a:p>
          <a:p>
            <a:pPr marL="342900" lvl="0" indent="-342900">
              <a:buFont typeface="Arial" panose="020B0604020202020204" pitchFamily="34" charset="0"/>
              <a:buChar char="•"/>
            </a:pPr>
            <a:r>
              <a:rPr lang="en-US" sz="2400" dirty="0"/>
              <a:t>F1-Score </a:t>
            </a:r>
          </a:p>
          <a:p>
            <a:pPr marL="342900" lvl="0" indent="-342900">
              <a:buFont typeface="Arial" panose="020B0604020202020204" pitchFamily="34" charset="0"/>
              <a:buChar char="•"/>
            </a:pPr>
            <a:r>
              <a:rPr lang="en-US" sz="2400" dirty="0"/>
              <a:t>ROC-AUC </a:t>
            </a:r>
          </a:p>
          <a:p>
            <a:pPr marL="342900" lvl="0" indent="-342900">
              <a:buFont typeface="Arial" panose="020B0604020202020204" pitchFamily="34" charset="0"/>
              <a:buChar char="•"/>
            </a:pPr>
            <a:r>
              <a:rPr lang="en-US" sz="2400" dirty="0"/>
              <a:t>Prediction diversity</a:t>
            </a:r>
          </a:p>
        </p:txBody>
      </p:sp>
      <p:sp>
        <p:nvSpPr>
          <p:cNvPr id="10" name="TextBox 9">
            <a:extLst>
              <a:ext uri="{FF2B5EF4-FFF2-40B4-BE49-F238E27FC236}">
                <a16:creationId xmlns:a16="http://schemas.microsoft.com/office/drawing/2014/main" id="{9A234913-F7DC-7864-9520-94A8096DDB56}"/>
              </a:ext>
            </a:extLst>
          </p:cNvPr>
          <p:cNvSpPr txBox="1"/>
          <p:nvPr/>
        </p:nvSpPr>
        <p:spPr>
          <a:xfrm>
            <a:off x="568960" y="488681"/>
            <a:ext cx="6136640" cy="584775"/>
          </a:xfrm>
          <a:prstGeom prst="rect">
            <a:avLst/>
          </a:prstGeom>
          <a:noFill/>
        </p:spPr>
        <p:txBody>
          <a:bodyPr wrap="square">
            <a:spAutoFit/>
          </a:bodyPr>
          <a:lstStyle/>
          <a:p>
            <a:pPr>
              <a:defRPr sz="2500" b="1">
                <a:solidFill>
                  <a:srgbClr val="FFFFFF"/>
                </a:solidFill>
              </a:defRPr>
            </a:pPr>
            <a:r>
              <a:rPr lang="en-US" sz="3200" dirty="0"/>
              <a:t>31. Proposed Online Retail Hybrid</a:t>
            </a:r>
          </a:p>
        </p:txBody>
      </p:sp>
    </p:spTree>
    <p:extLst>
      <p:ext uri="{BB962C8B-B14F-4D97-AF65-F5344CB8AC3E}">
        <p14:creationId xmlns:p14="http://schemas.microsoft.com/office/powerpoint/2010/main" val="59810889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B061A9E-2A3D-3C26-F9E1-AB0F59B9C80D}"/>
              </a:ext>
            </a:extLst>
          </p:cNvPr>
          <p:cNvSpPr/>
          <p:nvPr/>
        </p:nvSpPr>
        <p:spPr>
          <a:xfrm>
            <a:off x="305" y="351606"/>
            <a:ext cx="12191695" cy="1034143"/>
          </a:xfrm>
          <a:prstGeom prst="rect">
            <a:avLst/>
          </a:prstGeom>
          <a:solidFill>
            <a:srgbClr val="192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ED04A589-E3AE-6C6A-30FD-5A9F0D40CFF3}"/>
              </a:ext>
            </a:extLst>
          </p:cNvPr>
          <p:cNvSpPr txBox="1"/>
          <p:nvPr/>
        </p:nvSpPr>
        <p:spPr>
          <a:xfrm>
            <a:off x="528320" y="1563337"/>
            <a:ext cx="8361680" cy="4154984"/>
          </a:xfrm>
          <a:prstGeom prst="rect">
            <a:avLst/>
          </a:prstGeom>
          <a:noFill/>
        </p:spPr>
        <p:txBody>
          <a:bodyPr wrap="square">
            <a:spAutoFit/>
          </a:bodyPr>
          <a:lstStyle/>
          <a:p>
            <a:pPr>
              <a:buNone/>
            </a:pPr>
            <a:r>
              <a:rPr lang="en-US" sz="2400" dirty="0"/>
              <a:t>The XAI pipeline uses:</a:t>
            </a:r>
          </a:p>
          <a:p>
            <a:pPr>
              <a:buNone/>
            </a:pPr>
            <a:r>
              <a:rPr lang="en-US" sz="2400" b="1" dirty="0"/>
              <a:t>Logistic Regression + </a:t>
            </a:r>
            <a:r>
              <a:rPr lang="en-US" sz="2400" b="1" dirty="0" err="1"/>
              <a:t>HistGradientBoosting</a:t>
            </a:r>
            <a:endParaRPr lang="en-US" sz="2400" dirty="0"/>
          </a:p>
          <a:p>
            <a:pPr>
              <a:buNone/>
            </a:pPr>
            <a:r>
              <a:rPr lang="en-US" sz="2400" dirty="0"/>
              <a:t>with:</a:t>
            </a:r>
          </a:p>
          <a:p>
            <a:pPr>
              <a:buNone/>
            </a:pPr>
            <a:r>
              <a:rPr lang="en-US" sz="2400" b="1" dirty="0"/>
              <a:t>50% Logistic Regression + 50% </a:t>
            </a:r>
            <a:r>
              <a:rPr lang="en-US" sz="2400" b="1" dirty="0" err="1"/>
              <a:t>HistGradientBoosting</a:t>
            </a:r>
            <a:endParaRPr lang="en-US" sz="2400" dirty="0"/>
          </a:p>
          <a:p>
            <a:pPr>
              <a:buNone/>
            </a:pPr>
            <a:r>
              <a:rPr lang="en-US" sz="2400" b="1" dirty="0"/>
              <a:t>Purpose:</a:t>
            </a:r>
          </a:p>
          <a:p>
            <a:pPr>
              <a:buNone/>
            </a:pPr>
            <a:r>
              <a:rPr lang="en-US" sz="2400" dirty="0"/>
              <a:t>This configuration was used to demonstrate:</a:t>
            </a:r>
          </a:p>
          <a:p>
            <a:pPr marL="342900" lvl="0" indent="-342900">
              <a:buFont typeface="Arial" panose="020B0604020202020204" pitchFamily="34" charset="0"/>
              <a:buChar char="•"/>
            </a:pPr>
            <a:r>
              <a:rPr lang="en-US" sz="2400" dirty="0"/>
              <a:t>Hybrid prediction </a:t>
            </a:r>
          </a:p>
          <a:p>
            <a:pPr marL="342900" lvl="0" indent="-342900">
              <a:buFont typeface="Arial" panose="020B0604020202020204" pitchFamily="34" charset="0"/>
              <a:buChar char="•"/>
            </a:pPr>
            <a:r>
              <a:rPr lang="en-US" sz="2400" dirty="0"/>
              <a:t>SHAP explanations </a:t>
            </a:r>
          </a:p>
          <a:p>
            <a:pPr marL="342900" lvl="0" indent="-342900">
              <a:buFont typeface="Arial" panose="020B0604020202020204" pitchFamily="34" charset="0"/>
              <a:buChar char="•"/>
            </a:pPr>
            <a:r>
              <a:rPr lang="en-US" sz="2400" dirty="0"/>
              <a:t>LIME explanations </a:t>
            </a:r>
          </a:p>
          <a:p>
            <a:pPr marL="342900" lvl="0" indent="-342900">
              <a:buFont typeface="Arial" panose="020B0604020202020204" pitchFamily="34" charset="0"/>
              <a:buChar char="•"/>
            </a:pPr>
            <a:r>
              <a:rPr lang="en-US" sz="2400" dirty="0"/>
              <a:t>Local prediction analysis </a:t>
            </a:r>
          </a:p>
          <a:p>
            <a:pPr marL="342900" lvl="0" indent="-342900">
              <a:buFont typeface="Arial" panose="020B0604020202020204" pitchFamily="34" charset="0"/>
              <a:buChar char="•"/>
            </a:pPr>
            <a:r>
              <a:rPr lang="en-US" sz="2400" dirty="0"/>
              <a:t>Explainability evaluation</a:t>
            </a:r>
          </a:p>
        </p:txBody>
      </p:sp>
      <p:sp>
        <p:nvSpPr>
          <p:cNvPr id="10" name="TextBox 9">
            <a:extLst>
              <a:ext uri="{FF2B5EF4-FFF2-40B4-BE49-F238E27FC236}">
                <a16:creationId xmlns:a16="http://schemas.microsoft.com/office/drawing/2014/main" id="{0B1FEDD2-A222-B60E-5D1C-2595D7148B3B}"/>
              </a:ext>
            </a:extLst>
          </p:cNvPr>
          <p:cNvSpPr txBox="1"/>
          <p:nvPr/>
        </p:nvSpPr>
        <p:spPr>
          <a:xfrm>
            <a:off x="528320" y="5675397"/>
            <a:ext cx="9296400" cy="830997"/>
          </a:xfrm>
          <a:prstGeom prst="rect">
            <a:avLst/>
          </a:prstGeom>
          <a:noFill/>
        </p:spPr>
        <p:txBody>
          <a:bodyPr wrap="square">
            <a:spAutoFit/>
          </a:bodyPr>
          <a:lstStyle/>
          <a:p>
            <a:r>
              <a:rPr lang="en-US" sz="2400" dirty="0"/>
              <a:t>For the current Telco XAI implementation, a Logistic Regression–</a:t>
            </a:r>
            <a:r>
              <a:rPr lang="en-US" sz="2400" dirty="0" err="1"/>
              <a:t>HistGradientBoosting</a:t>
            </a:r>
            <a:r>
              <a:rPr lang="en-US" sz="2400" dirty="0"/>
              <a:t> hybrid configuration was evaluated.</a:t>
            </a:r>
          </a:p>
        </p:txBody>
      </p:sp>
      <p:sp>
        <p:nvSpPr>
          <p:cNvPr id="12" name="TextBox 11">
            <a:extLst>
              <a:ext uri="{FF2B5EF4-FFF2-40B4-BE49-F238E27FC236}">
                <a16:creationId xmlns:a16="http://schemas.microsoft.com/office/drawing/2014/main" id="{E76C66F2-DCBE-794C-6215-B26BEDC5CD6C}"/>
              </a:ext>
            </a:extLst>
          </p:cNvPr>
          <p:cNvSpPr txBox="1"/>
          <p:nvPr/>
        </p:nvSpPr>
        <p:spPr>
          <a:xfrm>
            <a:off x="670560" y="529194"/>
            <a:ext cx="10251440" cy="584775"/>
          </a:xfrm>
          <a:prstGeom prst="rect">
            <a:avLst/>
          </a:prstGeom>
          <a:noFill/>
        </p:spPr>
        <p:txBody>
          <a:bodyPr wrap="square">
            <a:spAutoFit/>
          </a:bodyPr>
          <a:lstStyle/>
          <a:p>
            <a:pPr>
              <a:defRPr sz="2500" b="1">
                <a:solidFill>
                  <a:srgbClr val="FFFFFF"/>
                </a:solidFill>
              </a:defRPr>
            </a:pPr>
            <a:r>
              <a:rPr lang="en-US" sz="3200" dirty="0"/>
              <a:t>32. Telco Customer Churn – Hybrid Configuration</a:t>
            </a:r>
          </a:p>
        </p:txBody>
      </p:sp>
    </p:spTree>
    <p:extLst>
      <p:ext uri="{BB962C8B-B14F-4D97-AF65-F5344CB8AC3E}">
        <p14:creationId xmlns:p14="http://schemas.microsoft.com/office/powerpoint/2010/main" val="189366827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8908127-7BD2-02AF-4C2B-5D19F6F4DDA1}"/>
              </a:ext>
            </a:extLst>
          </p:cNvPr>
          <p:cNvSpPr/>
          <p:nvPr/>
        </p:nvSpPr>
        <p:spPr>
          <a:xfrm>
            <a:off x="305" y="351606"/>
            <a:ext cx="12191695" cy="1034143"/>
          </a:xfrm>
          <a:prstGeom prst="rect">
            <a:avLst/>
          </a:prstGeom>
          <a:solidFill>
            <a:srgbClr val="192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38F5C09E-E5D1-4ACF-98B3-9C999AB125D3}"/>
              </a:ext>
            </a:extLst>
          </p:cNvPr>
          <p:cNvSpPr txBox="1"/>
          <p:nvPr/>
        </p:nvSpPr>
        <p:spPr>
          <a:xfrm>
            <a:off x="1117600" y="1841699"/>
            <a:ext cx="7345680" cy="3785652"/>
          </a:xfrm>
          <a:prstGeom prst="rect">
            <a:avLst/>
          </a:prstGeom>
          <a:noFill/>
        </p:spPr>
        <p:txBody>
          <a:bodyPr wrap="square">
            <a:spAutoFit/>
          </a:bodyPr>
          <a:lstStyle/>
          <a:p>
            <a:pPr>
              <a:buNone/>
            </a:pPr>
            <a:r>
              <a:rPr lang="en-US" sz="2400" dirty="0"/>
              <a:t>The proposed framework introduces:</a:t>
            </a:r>
          </a:p>
          <a:p>
            <a:pPr marL="342900" lvl="0" indent="-342900">
              <a:buFont typeface="+mj-lt"/>
              <a:buAutoNum type="arabicPeriod"/>
            </a:pPr>
            <a:r>
              <a:rPr lang="en-US" sz="2400" b="1" dirty="0"/>
              <a:t>Multiple heterogeneous hybrid combinations</a:t>
            </a:r>
            <a:r>
              <a:rPr lang="en-US" sz="2400" dirty="0"/>
              <a:t> </a:t>
            </a:r>
          </a:p>
          <a:p>
            <a:pPr marL="342900" lvl="0" indent="-342900">
              <a:buFont typeface="+mj-lt"/>
              <a:buAutoNum type="arabicPeriod"/>
            </a:pPr>
            <a:r>
              <a:rPr lang="en-US" sz="2400" b="1" dirty="0"/>
              <a:t>Validation-based hybrid selection</a:t>
            </a:r>
            <a:r>
              <a:rPr lang="en-US" sz="2400" dirty="0"/>
              <a:t> </a:t>
            </a:r>
          </a:p>
          <a:p>
            <a:pPr marL="342900" lvl="0" indent="-342900">
              <a:buFont typeface="+mj-lt"/>
              <a:buAutoNum type="arabicPeriod"/>
            </a:pPr>
            <a:r>
              <a:rPr lang="en-US" sz="2400" b="1" dirty="0"/>
              <a:t>Prediction diversity analysis</a:t>
            </a:r>
            <a:r>
              <a:rPr lang="en-US" sz="2400" dirty="0"/>
              <a:t> </a:t>
            </a:r>
          </a:p>
          <a:p>
            <a:pPr marL="342900" lvl="0" indent="-342900">
              <a:buFont typeface="+mj-lt"/>
              <a:buAutoNum type="arabicPeriod"/>
            </a:pPr>
            <a:r>
              <a:rPr lang="en-US" sz="2400" b="1" dirty="0"/>
              <a:t>Weight optimization</a:t>
            </a:r>
            <a:r>
              <a:rPr lang="en-US" sz="2400" dirty="0"/>
              <a:t> </a:t>
            </a:r>
          </a:p>
          <a:p>
            <a:pPr marL="342900" lvl="0" indent="-342900">
              <a:buFont typeface="+mj-lt"/>
              <a:buAutoNum type="arabicPeriod"/>
            </a:pPr>
            <a:r>
              <a:rPr lang="en-US" sz="2400" b="1" dirty="0"/>
              <a:t>Threshold optimization</a:t>
            </a:r>
            <a:r>
              <a:rPr lang="en-US" sz="2400" dirty="0"/>
              <a:t> </a:t>
            </a:r>
          </a:p>
          <a:p>
            <a:pPr marL="342900" lvl="0" indent="-342900">
              <a:buFont typeface="+mj-lt"/>
              <a:buAutoNum type="arabicPeriod"/>
            </a:pPr>
            <a:r>
              <a:rPr lang="en-US" sz="2400" b="1" dirty="0"/>
              <a:t>Performance comparison with baseline models</a:t>
            </a:r>
            <a:r>
              <a:rPr lang="en-US" sz="2400" dirty="0"/>
              <a:t> </a:t>
            </a:r>
          </a:p>
          <a:p>
            <a:pPr marL="342900" lvl="0" indent="-342900">
              <a:buFont typeface="+mj-lt"/>
              <a:buAutoNum type="arabicPeriod"/>
            </a:pPr>
            <a:r>
              <a:rPr lang="en-US" sz="2400" b="1" dirty="0"/>
              <a:t>Explainability evaluation using SHAP and LIME</a:t>
            </a:r>
            <a:r>
              <a:rPr lang="en-US" sz="2400" dirty="0"/>
              <a:t> </a:t>
            </a:r>
          </a:p>
          <a:p>
            <a:pPr marL="342900" lvl="0" indent="-342900">
              <a:buFont typeface="+mj-lt"/>
              <a:buAutoNum type="arabicPeriod"/>
            </a:pPr>
            <a:r>
              <a:rPr lang="en-US" sz="2400" b="1" dirty="0"/>
              <a:t>Comparison of predictive performance and explainability</a:t>
            </a:r>
            <a:endParaRPr lang="en-US" sz="2400" dirty="0"/>
          </a:p>
        </p:txBody>
      </p:sp>
      <p:sp>
        <p:nvSpPr>
          <p:cNvPr id="8" name="TextBox 7">
            <a:extLst>
              <a:ext uri="{FF2B5EF4-FFF2-40B4-BE49-F238E27FC236}">
                <a16:creationId xmlns:a16="http://schemas.microsoft.com/office/drawing/2014/main" id="{57527076-5D96-DB96-BB72-A0A1E8A34A93}"/>
              </a:ext>
            </a:extLst>
          </p:cNvPr>
          <p:cNvSpPr txBox="1"/>
          <p:nvPr/>
        </p:nvSpPr>
        <p:spPr>
          <a:xfrm>
            <a:off x="721360" y="548879"/>
            <a:ext cx="7843520" cy="584775"/>
          </a:xfrm>
          <a:prstGeom prst="rect">
            <a:avLst/>
          </a:prstGeom>
          <a:noFill/>
        </p:spPr>
        <p:txBody>
          <a:bodyPr wrap="square">
            <a:spAutoFit/>
          </a:bodyPr>
          <a:lstStyle/>
          <a:p>
            <a:pPr>
              <a:defRPr sz="2500" b="1">
                <a:solidFill>
                  <a:srgbClr val="FFFFFF"/>
                </a:solidFill>
              </a:defRPr>
            </a:pPr>
            <a:r>
              <a:rPr lang="en-US" sz="3200" dirty="0"/>
              <a:t>33. Novelty of the Proposed Framework</a:t>
            </a:r>
          </a:p>
        </p:txBody>
      </p:sp>
    </p:spTree>
    <p:extLst>
      <p:ext uri="{BB962C8B-B14F-4D97-AF65-F5344CB8AC3E}">
        <p14:creationId xmlns:p14="http://schemas.microsoft.com/office/powerpoint/2010/main" val="123324594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D5D78C9-69E1-4E5E-75E2-DD4AC587B172}"/>
              </a:ext>
            </a:extLst>
          </p:cNvPr>
          <p:cNvSpPr/>
          <p:nvPr/>
        </p:nvSpPr>
        <p:spPr>
          <a:xfrm>
            <a:off x="305" y="351606"/>
            <a:ext cx="12191695" cy="1034143"/>
          </a:xfrm>
          <a:prstGeom prst="rect">
            <a:avLst/>
          </a:prstGeom>
          <a:solidFill>
            <a:srgbClr val="192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C869744A-827D-1C80-2290-323A20DF2F94}"/>
              </a:ext>
            </a:extLst>
          </p:cNvPr>
          <p:cNvSpPr txBox="1"/>
          <p:nvPr/>
        </p:nvSpPr>
        <p:spPr>
          <a:xfrm>
            <a:off x="660400" y="1711742"/>
            <a:ext cx="11186160" cy="4524315"/>
          </a:xfrm>
          <a:prstGeom prst="rect">
            <a:avLst/>
          </a:prstGeom>
          <a:noFill/>
        </p:spPr>
        <p:txBody>
          <a:bodyPr wrap="square">
            <a:spAutoFit/>
          </a:bodyPr>
          <a:lstStyle/>
          <a:p>
            <a:pPr>
              <a:buNone/>
            </a:pPr>
            <a:r>
              <a:rPr lang="en-US" sz="2400" dirty="0"/>
              <a:t>The proposed methodology is evaluated against existing approaches through:</a:t>
            </a:r>
          </a:p>
          <a:p>
            <a:pPr>
              <a:buNone/>
            </a:pPr>
            <a:r>
              <a:rPr lang="en-US" sz="2400" b="1" dirty="0"/>
              <a:t>1. Literature comparison</a:t>
            </a:r>
          </a:p>
          <a:p>
            <a:pPr>
              <a:buNone/>
            </a:pPr>
            <a:r>
              <a:rPr lang="en-US" sz="2400" dirty="0"/>
              <a:t>Compare reported models and metrics from relevant research papers.</a:t>
            </a:r>
          </a:p>
          <a:p>
            <a:pPr>
              <a:buNone/>
            </a:pPr>
            <a:r>
              <a:rPr lang="en-US" sz="2400" b="1" dirty="0"/>
              <a:t>2. Multiple hybrid combinations</a:t>
            </a:r>
          </a:p>
          <a:p>
            <a:pPr>
              <a:buNone/>
            </a:pPr>
            <a:r>
              <a:rPr lang="en-US" sz="2400" dirty="0"/>
              <a:t>Instead of selecting one arbitrary hybrid, multiple combinations are experimentally evaluated.</a:t>
            </a:r>
          </a:p>
          <a:p>
            <a:pPr>
              <a:buNone/>
            </a:pPr>
            <a:r>
              <a:rPr lang="en-US" sz="2400" b="1" dirty="0"/>
              <a:t>3. Validation-based selection</a:t>
            </a:r>
          </a:p>
          <a:p>
            <a:pPr>
              <a:buNone/>
            </a:pPr>
            <a:r>
              <a:rPr lang="en-US" sz="2400" dirty="0"/>
              <a:t>The proposed hybrid is selected using validation data.</a:t>
            </a:r>
          </a:p>
          <a:p>
            <a:pPr>
              <a:buNone/>
            </a:pPr>
            <a:r>
              <a:rPr lang="en-US" sz="2400" b="1" dirty="0"/>
              <a:t>4. Model diversity</a:t>
            </a:r>
          </a:p>
          <a:p>
            <a:pPr>
              <a:buNone/>
            </a:pPr>
            <a:r>
              <a:rPr lang="en-US" sz="2400" dirty="0"/>
              <a:t>Prediction diversity is considered while comparing candidate combinations.</a:t>
            </a:r>
          </a:p>
          <a:p>
            <a:pPr>
              <a:buNone/>
            </a:pPr>
            <a:r>
              <a:rPr lang="en-US" sz="2400" b="1" dirty="0"/>
              <a:t>5. Explainability</a:t>
            </a:r>
          </a:p>
          <a:p>
            <a:pPr>
              <a:buNone/>
            </a:pPr>
            <a:r>
              <a:rPr lang="en-US" sz="2400" dirty="0"/>
              <a:t>The selected models are analyzed using SHAP and LIME.</a:t>
            </a:r>
          </a:p>
        </p:txBody>
      </p:sp>
      <p:sp>
        <p:nvSpPr>
          <p:cNvPr id="8" name="TextBox 7">
            <a:extLst>
              <a:ext uri="{FF2B5EF4-FFF2-40B4-BE49-F238E27FC236}">
                <a16:creationId xmlns:a16="http://schemas.microsoft.com/office/drawing/2014/main" id="{4C9CE966-C6FD-AF43-5752-1C01330ECBD9}"/>
              </a:ext>
            </a:extLst>
          </p:cNvPr>
          <p:cNvSpPr txBox="1"/>
          <p:nvPr/>
        </p:nvSpPr>
        <p:spPr>
          <a:xfrm>
            <a:off x="660400" y="536087"/>
            <a:ext cx="6136640" cy="584775"/>
          </a:xfrm>
          <a:prstGeom prst="rect">
            <a:avLst/>
          </a:prstGeom>
          <a:noFill/>
        </p:spPr>
        <p:txBody>
          <a:bodyPr wrap="square">
            <a:spAutoFit/>
          </a:bodyPr>
          <a:lstStyle/>
          <a:p>
            <a:pPr>
              <a:defRPr sz="2500" b="1">
                <a:solidFill>
                  <a:srgbClr val="FFFFFF"/>
                </a:solidFill>
              </a:defRPr>
            </a:pPr>
            <a:r>
              <a:rPr lang="en-US" sz="3200" dirty="0"/>
              <a:t>34. Novelty Verification</a:t>
            </a:r>
          </a:p>
        </p:txBody>
      </p:sp>
    </p:spTree>
    <p:extLst>
      <p:ext uri="{BB962C8B-B14F-4D97-AF65-F5344CB8AC3E}">
        <p14:creationId xmlns:p14="http://schemas.microsoft.com/office/powerpoint/2010/main" val="188964204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1475F39-E668-29E9-CDB8-E1528766A642}"/>
              </a:ext>
            </a:extLst>
          </p:cNvPr>
          <p:cNvSpPr/>
          <p:nvPr/>
        </p:nvSpPr>
        <p:spPr>
          <a:xfrm>
            <a:off x="305" y="351606"/>
            <a:ext cx="12191695" cy="1034143"/>
          </a:xfrm>
          <a:prstGeom prst="rect">
            <a:avLst/>
          </a:prstGeom>
          <a:solidFill>
            <a:srgbClr val="192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F57A64DF-B5A2-F812-B0FA-A32F9F682459}"/>
              </a:ext>
            </a:extLst>
          </p:cNvPr>
          <p:cNvSpPr txBox="1"/>
          <p:nvPr/>
        </p:nvSpPr>
        <p:spPr>
          <a:xfrm>
            <a:off x="863600" y="1757396"/>
            <a:ext cx="7437120" cy="4524315"/>
          </a:xfrm>
          <a:prstGeom prst="rect">
            <a:avLst/>
          </a:prstGeom>
          <a:noFill/>
        </p:spPr>
        <p:txBody>
          <a:bodyPr wrap="square">
            <a:spAutoFit/>
          </a:bodyPr>
          <a:lstStyle/>
          <a:p>
            <a:pPr>
              <a:buNone/>
            </a:pPr>
            <a:r>
              <a:rPr lang="en-US" sz="2400" dirty="0"/>
              <a:t>High-performing ML models can be difficult to interpret.</a:t>
            </a:r>
          </a:p>
          <a:p>
            <a:pPr>
              <a:buNone/>
            </a:pPr>
            <a:r>
              <a:rPr lang="en-US" sz="2400" dirty="0"/>
              <a:t>In business applications, users need to understand:</a:t>
            </a:r>
          </a:p>
          <a:p>
            <a:pPr>
              <a:buNone/>
            </a:pPr>
            <a:r>
              <a:rPr lang="en-US" sz="2400" b="1" dirty="0"/>
              <a:t>“Why did the model make this prediction?”</a:t>
            </a:r>
            <a:endParaRPr lang="en-US" sz="2400" dirty="0"/>
          </a:p>
          <a:p>
            <a:pPr>
              <a:buNone/>
            </a:pPr>
            <a:r>
              <a:rPr lang="en-US" sz="2400" dirty="0"/>
              <a:t>XAI helps provide:</a:t>
            </a:r>
          </a:p>
          <a:p>
            <a:pPr marL="342900" lvl="0" indent="-342900">
              <a:buFont typeface="Arial" panose="020B0604020202020204" pitchFamily="34" charset="0"/>
              <a:buChar char="•"/>
            </a:pPr>
            <a:r>
              <a:rPr lang="en-US" sz="2400" dirty="0"/>
              <a:t>Feature contribution </a:t>
            </a:r>
          </a:p>
          <a:p>
            <a:pPr marL="342900" lvl="0" indent="-342900">
              <a:buFont typeface="Arial" panose="020B0604020202020204" pitchFamily="34" charset="0"/>
              <a:buChar char="•"/>
            </a:pPr>
            <a:r>
              <a:rPr lang="en-US" sz="2400" dirty="0"/>
              <a:t>Individual prediction explanation </a:t>
            </a:r>
          </a:p>
          <a:p>
            <a:pPr marL="342900" lvl="0" indent="-342900">
              <a:buFont typeface="Arial" panose="020B0604020202020204" pitchFamily="34" charset="0"/>
              <a:buChar char="•"/>
            </a:pPr>
            <a:r>
              <a:rPr lang="en-US" sz="2400" dirty="0"/>
              <a:t>Model transparency </a:t>
            </a:r>
          </a:p>
          <a:p>
            <a:pPr marL="342900" lvl="0" indent="-342900">
              <a:buFont typeface="Arial" panose="020B0604020202020204" pitchFamily="34" charset="0"/>
              <a:buChar char="•"/>
            </a:pPr>
            <a:r>
              <a:rPr lang="en-US" sz="2400" dirty="0"/>
              <a:t>Business interpretation </a:t>
            </a:r>
          </a:p>
          <a:p>
            <a:pPr marL="342900" lvl="0" indent="-342900">
              <a:buFont typeface="Arial" panose="020B0604020202020204" pitchFamily="34" charset="0"/>
              <a:buChar char="•"/>
            </a:pPr>
            <a:r>
              <a:rPr lang="en-US" sz="2400" dirty="0"/>
              <a:t>Trust and accountability </a:t>
            </a:r>
          </a:p>
          <a:p>
            <a:pPr>
              <a:buNone/>
            </a:pPr>
            <a:r>
              <a:rPr lang="en-US" sz="2400" b="1" dirty="0"/>
              <a:t>XAI techniques implemented:</a:t>
            </a:r>
          </a:p>
          <a:p>
            <a:pPr>
              <a:buNone/>
            </a:pPr>
            <a:r>
              <a:rPr lang="en-US" sz="2400" b="1" dirty="0"/>
              <a:t>SHAP + LIME</a:t>
            </a:r>
          </a:p>
          <a:p>
            <a:pPr>
              <a:buNone/>
            </a:pPr>
            <a:r>
              <a:rPr lang="en-US" sz="2400" b="1" dirty="0"/>
              <a:t>PDP and ICE</a:t>
            </a:r>
            <a:endParaRPr lang="en-US" sz="2400" dirty="0"/>
          </a:p>
        </p:txBody>
      </p:sp>
      <p:sp>
        <p:nvSpPr>
          <p:cNvPr id="8" name="TextBox 7">
            <a:extLst>
              <a:ext uri="{FF2B5EF4-FFF2-40B4-BE49-F238E27FC236}">
                <a16:creationId xmlns:a16="http://schemas.microsoft.com/office/drawing/2014/main" id="{7743D4C3-A624-6067-61EE-4704480AA3C3}"/>
              </a:ext>
            </a:extLst>
          </p:cNvPr>
          <p:cNvSpPr txBox="1"/>
          <p:nvPr/>
        </p:nvSpPr>
        <p:spPr>
          <a:xfrm>
            <a:off x="650240" y="576289"/>
            <a:ext cx="6136640" cy="584775"/>
          </a:xfrm>
          <a:prstGeom prst="rect">
            <a:avLst/>
          </a:prstGeom>
          <a:noFill/>
        </p:spPr>
        <p:txBody>
          <a:bodyPr wrap="square">
            <a:spAutoFit/>
          </a:bodyPr>
          <a:lstStyle/>
          <a:p>
            <a:pPr>
              <a:defRPr sz="2500" b="1">
                <a:solidFill>
                  <a:srgbClr val="FFFFFF"/>
                </a:solidFill>
              </a:defRPr>
            </a:pPr>
            <a:r>
              <a:rPr lang="en-US" sz="3200" dirty="0"/>
              <a:t>35. Need for Explainable AI</a:t>
            </a:r>
          </a:p>
        </p:txBody>
      </p:sp>
    </p:spTree>
    <p:extLst>
      <p:ext uri="{BB962C8B-B14F-4D97-AF65-F5344CB8AC3E}">
        <p14:creationId xmlns:p14="http://schemas.microsoft.com/office/powerpoint/2010/main" val="308163111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E3E8B1C-C9B7-566C-A1E6-7A573E5990BC}"/>
              </a:ext>
            </a:extLst>
          </p:cNvPr>
          <p:cNvSpPr/>
          <p:nvPr/>
        </p:nvSpPr>
        <p:spPr>
          <a:xfrm>
            <a:off x="305" y="351606"/>
            <a:ext cx="12191695" cy="1034143"/>
          </a:xfrm>
          <a:prstGeom prst="rect">
            <a:avLst/>
          </a:prstGeom>
          <a:solidFill>
            <a:srgbClr val="192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D2DBC774-6C56-10D0-3CDA-C99B0C993C29}"/>
              </a:ext>
            </a:extLst>
          </p:cNvPr>
          <p:cNvSpPr txBox="1"/>
          <p:nvPr/>
        </p:nvSpPr>
        <p:spPr>
          <a:xfrm>
            <a:off x="772160" y="1709827"/>
            <a:ext cx="11887200" cy="4955203"/>
          </a:xfrm>
          <a:prstGeom prst="rect">
            <a:avLst/>
          </a:prstGeom>
          <a:noFill/>
        </p:spPr>
        <p:txBody>
          <a:bodyPr wrap="square">
            <a:spAutoFit/>
          </a:bodyPr>
          <a:lstStyle/>
          <a:p>
            <a:pPr>
              <a:buNone/>
            </a:pPr>
            <a:r>
              <a:rPr lang="en-US" sz="2400" dirty="0"/>
              <a:t>SHAP explains the contribution of individual features to a prediction.</a:t>
            </a:r>
          </a:p>
          <a:p>
            <a:pPr>
              <a:buNone/>
            </a:pPr>
            <a:r>
              <a:rPr lang="en-US" sz="2400" dirty="0"/>
              <a:t>Each feature receives a contribution value indicating whether it:</a:t>
            </a:r>
          </a:p>
          <a:p>
            <a:pPr marL="342900" lvl="0" indent="-342900">
              <a:buFont typeface="Arial" panose="020B0604020202020204" pitchFamily="34" charset="0"/>
              <a:buChar char="•"/>
            </a:pPr>
            <a:r>
              <a:rPr lang="en-US" sz="2400" dirty="0"/>
              <a:t>increases the prediction, or </a:t>
            </a:r>
          </a:p>
          <a:p>
            <a:pPr marL="342900" lvl="0" indent="-342900">
              <a:buFont typeface="Arial" panose="020B0604020202020204" pitchFamily="34" charset="0"/>
              <a:buChar char="•"/>
            </a:pPr>
            <a:r>
              <a:rPr lang="en-US" sz="2400" dirty="0"/>
              <a:t>decreases the prediction. </a:t>
            </a:r>
          </a:p>
          <a:p>
            <a:pPr>
              <a:buNone/>
            </a:pPr>
            <a:r>
              <a:rPr lang="en-US" sz="2400" b="1" dirty="0"/>
              <a:t>SHAP analysis implemented:</a:t>
            </a:r>
          </a:p>
          <a:p>
            <a:pPr marL="342900" lvl="0" indent="-342900">
              <a:buFont typeface="Arial" panose="020B0604020202020204" pitchFamily="34" charset="0"/>
              <a:buChar char="•"/>
            </a:pPr>
            <a:r>
              <a:rPr lang="en-US" sz="2400" dirty="0"/>
              <a:t>SHAP summary plot </a:t>
            </a:r>
          </a:p>
          <a:p>
            <a:pPr marL="342900" lvl="0" indent="-342900">
              <a:buFont typeface="Arial" panose="020B0604020202020204" pitchFamily="34" charset="0"/>
              <a:buChar char="•"/>
            </a:pPr>
            <a:r>
              <a:rPr lang="en-US" sz="2400" dirty="0"/>
              <a:t>SHAP feature importance </a:t>
            </a:r>
          </a:p>
          <a:p>
            <a:pPr marL="342900" lvl="0" indent="-342900">
              <a:buFont typeface="Arial" panose="020B0604020202020204" pitchFamily="34" charset="0"/>
              <a:buChar char="•"/>
            </a:pPr>
            <a:r>
              <a:rPr lang="en-US" sz="2400" dirty="0"/>
              <a:t>Local SHAP contributions </a:t>
            </a:r>
          </a:p>
          <a:p>
            <a:pPr marL="342900" lvl="0" indent="-342900">
              <a:buFont typeface="Arial" panose="020B0604020202020204" pitchFamily="34" charset="0"/>
              <a:buChar char="•"/>
            </a:pPr>
            <a:r>
              <a:rPr lang="en-US" sz="2400" dirty="0"/>
              <a:t>SHAP dependence analysis </a:t>
            </a:r>
          </a:p>
          <a:p>
            <a:pPr marL="342900" lvl="0" indent="-342900">
              <a:buFont typeface="Arial" panose="020B0604020202020204" pitchFamily="34" charset="0"/>
              <a:buChar char="•"/>
            </a:pPr>
            <a:r>
              <a:rPr lang="en-US" sz="2400" dirty="0"/>
              <a:t>SHAP reconstruction/fidelity </a:t>
            </a:r>
          </a:p>
          <a:p>
            <a:pPr marL="342900" lvl="0" indent="-342900">
              <a:buFont typeface="Arial" panose="020B0604020202020204" pitchFamily="34" charset="0"/>
              <a:buChar char="•"/>
            </a:pPr>
            <a:r>
              <a:rPr lang="en-US" sz="2400" dirty="0"/>
              <a:t>Feature sparsity </a:t>
            </a:r>
          </a:p>
          <a:p>
            <a:pPr>
              <a:buNone/>
            </a:pPr>
            <a:r>
              <a:rPr lang="en-US" sz="2400" b="1" dirty="0"/>
              <a:t>Key advantage:</a:t>
            </a:r>
          </a:p>
          <a:p>
            <a:pPr>
              <a:buNone/>
            </a:pPr>
            <a:r>
              <a:rPr lang="en-US" sz="2400" dirty="0"/>
              <a:t>SHAP provides a consistent additive explanation of model predictions</a:t>
            </a:r>
            <a:r>
              <a:rPr lang="en-US" sz="2800" dirty="0"/>
              <a:t>.</a:t>
            </a:r>
          </a:p>
        </p:txBody>
      </p:sp>
      <p:sp>
        <p:nvSpPr>
          <p:cNvPr id="8" name="TextBox 7">
            <a:extLst>
              <a:ext uri="{FF2B5EF4-FFF2-40B4-BE49-F238E27FC236}">
                <a16:creationId xmlns:a16="http://schemas.microsoft.com/office/drawing/2014/main" id="{73E3C1B5-DC2F-596A-0DFD-01F097287FF0}"/>
              </a:ext>
            </a:extLst>
          </p:cNvPr>
          <p:cNvSpPr txBox="1"/>
          <p:nvPr/>
        </p:nvSpPr>
        <p:spPr>
          <a:xfrm>
            <a:off x="772160" y="576289"/>
            <a:ext cx="6350000" cy="584775"/>
          </a:xfrm>
          <a:prstGeom prst="rect">
            <a:avLst/>
          </a:prstGeom>
          <a:noFill/>
        </p:spPr>
        <p:txBody>
          <a:bodyPr wrap="square">
            <a:spAutoFit/>
          </a:bodyPr>
          <a:lstStyle/>
          <a:p>
            <a:pPr>
              <a:defRPr sz="2500" b="1">
                <a:solidFill>
                  <a:srgbClr val="FFFFFF"/>
                </a:solidFill>
              </a:defRPr>
            </a:pPr>
            <a:r>
              <a:rPr lang="en-US" sz="3200" dirty="0"/>
              <a:t>36. SHAP</a:t>
            </a:r>
          </a:p>
        </p:txBody>
      </p:sp>
    </p:spTree>
    <p:extLst>
      <p:ext uri="{BB962C8B-B14F-4D97-AF65-F5344CB8AC3E}">
        <p14:creationId xmlns:p14="http://schemas.microsoft.com/office/powerpoint/2010/main" val="391685250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4DCC596-5723-8975-8A16-D076A21565ED}"/>
              </a:ext>
            </a:extLst>
          </p:cNvPr>
          <p:cNvSpPr/>
          <p:nvPr/>
        </p:nvSpPr>
        <p:spPr>
          <a:xfrm>
            <a:off x="305" y="351606"/>
            <a:ext cx="12191695" cy="1034143"/>
          </a:xfrm>
          <a:prstGeom prst="rect">
            <a:avLst/>
          </a:prstGeom>
          <a:solidFill>
            <a:srgbClr val="192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E38A9D34-EC74-2F76-C057-A90F55EB3DC0}"/>
              </a:ext>
            </a:extLst>
          </p:cNvPr>
          <p:cNvSpPr txBox="1"/>
          <p:nvPr/>
        </p:nvSpPr>
        <p:spPr>
          <a:xfrm>
            <a:off x="629920" y="1634654"/>
            <a:ext cx="10403840" cy="830997"/>
          </a:xfrm>
          <a:prstGeom prst="rect">
            <a:avLst/>
          </a:prstGeom>
          <a:noFill/>
        </p:spPr>
        <p:txBody>
          <a:bodyPr wrap="square">
            <a:spAutoFit/>
          </a:bodyPr>
          <a:lstStyle/>
          <a:p>
            <a:r>
              <a:rPr lang="en-US" sz="2400" dirty="0"/>
              <a:t>LIME explains an individual prediction by creating a local interpretable approximation around that instance.</a:t>
            </a:r>
          </a:p>
        </p:txBody>
      </p:sp>
      <p:sp>
        <p:nvSpPr>
          <p:cNvPr id="8" name="TextBox 7">
            <a:extLst>
              <a:ext uri="{FF2B5EF4-FFF2-40B4-BE49-F238E27FC236}">
                <a16:creationId xmlns:a16="http://schemas.microsoft.com/office/drawing/2014/main" id="{19BED874-9D63-8C9F-E240-1D418A4273A9}"/>
              </a:ext>
            </a:extLst>
          </p:cNvPr>
          <p:cNvSpPr txBox="1"/>
          <p:nvPr/>
        </p:nvSpPr>
        <p:spPr>
          <a:xfrm>
            <a:off x="731520" y="2690336"/>
            <a:ext cx="6136640" cy="1938992"/>
          </a:xfrm>
          <a:prstGeom prst="rect">
            <a:avLst/>
          </a:prstGeom>
          <a:noFill/>
        </p:spPr>
        <p:txBody>
          <a:bodyPr wrap="square">
            <a:spAutoFit/>
          </a:bodyPr>
          <a:lstStyle/>
          <a:p>
            <a:pPr>
              <a:buNone/>
            </a:pPr>
            <a:r>
              <a:rPr lang="en-US" sz="2400" b="1" dirty="0"/>
              <a:t>LIME provides:</a:t>
            </a:r>
          </a:p>
          <a:p>
            <a:pPr marL="342900" lvl="0" indent="-342900">
              <a:buFont typeface="Arial" panose="020B0604020202020204" pitchFamily="34" charset="0"/>
              <a:buChar char="•"/>
            </a:pPr>
            <a:r>
              <a:rPr lang="en-US" sz="2400" dirty="0"/>
              <a:t>Local feature contributions </a:t>
            </a:r>
          </a:p>
          <a:p>
            <a:pPr marL="342900" lvl="0" indent="-342900">
              <a:buFont typeface="Arial" panose="020B0604020202020204" pitchFamily="34" charset="0"/>
              <a:buChar char="•"/>
            </a:pPr>
            <a:r>
              <a:rPr lang="en-US" sz="2400" dirty="0"/>
              <a:t>Human-readable rules </a:t>
            </a:r>
          </a:p>
          <a:p>
            <a:pPr marL="342900" lvl="0" indent="-342900">
              <a:buFont typeface="Arial" panose="020B0604020202020204" pitchFamily="34" charset="0"/>
              <a:buChar char="•"/>
            </a:pPr>
            <a:r>
              <a:rPr lang="en-US" sz="2400" dirty="0"/>
              <a:t>Prediction-specific explanation </a:t>
            </a:r>
          </a:p>
          <a:p>
            <a:pPr marL="342900" lvl="0" indent="-342900">
              <a:buFont typeface="Arial" panose="020B0604020202020204" pitchFamily="34" charset="0"/>
              <a:buChar char="•"/>
            </a:pPr>
            <a:r>
              <a:rPr lang="en-US" sz="2400" dirty="0"/>
              <a:t>Local surrogate fidelity</a:t>
            </a:r>
          </a:p>
        </p:txBody>
      </p:sp>
      <p:sp>
        <p:nvSpPr>
          <p:cNvPr id="10" name="TextBox 9">
            <a:extLst>
              <a:ext uri="{FF2B5EF4-FFF2-40B4-BE49-F238E27FC236}">
                <a16:creationId xmlns:a16="http://schemas.microsoft.com/office/drawing/2014/main" id="{28512D4C-3D07-D42F-1C54-59CC82DCCE0D}"/>
              </a:ext>
            </a:extLst>
          </p:cNvPr>
          <p:cNvSpPr txBox="1"/>
          <p:nvPr/>
        </p:nvSpPr>
        <p:spPr>
          <a:xfrm>
            <a:off x="629920" y="620929"/>
            <a:ext cx="6136640" cy="584775"/>
          </a:xfrm>
          <a:prstGeom prst="rect">
            <a:avLst/>
          </a:prstGeom>
          <a:noFill/>
        </p:spPr>
        <p:txBody>
          <a:bodyPr wrap="square">
            <a:spAutoFit/>
          </a:bodyPr>
          <a:lstStyle/>
          <a:p>
            <a:pPr>
              <a:defRPr sz="2500" b="1">
                <a:solidFill>
                  <a:srgbClr val="FFFFFF"/>
                </a:solidFill>
              </a:defRPr>
            </a:pPr>
            <a:r>
              <a:rPr lang="en-US" sz="3200" dirty="0"/>
              <a:t>37.LIME</a:t>
            </a:r>
          </a:p>
        </p:txBody>
      </p:sp>
    </p:spTree>
    <p:extLst>
      <p:ext uri="{BB962C8B-B14F-4D97-AF65-F5344CB8AC3E}">
        <p14:creationId xmlns:p14="http://schemas.microsoft.com/office/powerpoint/2010/main" val="240328645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5197997-40B5-5E6C-A5B4-976F9DD59049}"/>
              </a:ext>
            </a:extLst>
          </p:cNvPr>
          <p:cNvSpPr/>
          <p:nvPr/>
        </p:nvSpPr>
        <p:spPr>
          <a:xfrm>
            <a:off x="305" y="351606"/>
            <a:ext cx="12191695" cy="1034143"/>
          </a:xfrm>
          <a:prstGeom prst="rect">
            <a:avLst/>
          </a:prstGeom>
          <a:solidFill>
            <a:srgbClr val="192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a:extLst>
              <a:ext uri="{FF2B5EF4-FFF2-40B4-BE49-F238E27FC236}">
                <a16:creationId xmlns:a16="http://schemas.microsoft.com/office/drawing/2014/main" id="{2A44431D-5419-6366-D7C2-D5635DF80026}"/>
              </a:ext>
            </a:extLst>
          </p:cNvPr>
          <p:cNvGraphicFramePr>
            <a:graphicFrameLocks noGrp="1"/>
          </p:cNvGraphicFramePr>
          <p:nvPr>
            <p:extLst>
              <p:ext uri="{D42A27DB-BD31-4B8C-83A1-F6EECF244321}">
                <p14:modId xmlns:p14="http://schemas.microsoft.com/office/powerpoint/2010/main" val="3894093542"/>
              </p:ext>
            </p:extLst>
          </p:nvPr>
        </p:nvGraphicFramePr>
        <p:xfrm>
          <a:off x="548640" y="1833952"/>
          <a:ext cx="11287761" cy="4150287"/>
        </p:xfrm>
        <a:graphic>
          <a:graphicData uri="http://schemas.openxmlformats.org/drawingml/2006/table">
            <a:tbl>
              <a:tblPr>
                <a:tableStyleId>{5C22544A-7EE6-4342-B048-85BDC9FD1C3A}</a:tableStyleId>
              </a:tblPr>
              <a:tblGrid>
                <a:gridCol w="3762587">
                  <a:extLst>
                    <a:ext uri="{9D8B030D-6E8A-4147-A177-3AD203B41FA5}">
                      <a16:colId xmlns:a16="http://schemas.microsoft.com/office/drawing/2014/main" val="1338547852"/>
                    </a:ext>
                  </a:extLst>
                </a:gridCol>
                <a:gridCol w="3762587">
                  <a:extLst>
                    <a:ext uri="{9D8B030D-6E8A-4147-A177-3AD203B41FA5}">
                      <a16:colId xmlns:a16="http://schemas.microsoft.com/office/drawing/2014/main" val="2770533196"/>
                    </a:ext>
                  </a:extLst>
                </a:gridCol>
                <a:gridCol w="3762587">
                  <a:extLst>
                    <a:ext uri="{9D8B030D-6E8A-4147-A177-3AD203B41FA5}">
                      <a16:colId xmlns:a16="http://schemas.microsoft.com/office/drawing/2014/main" val="1265653454"/>
                    </a:ext>
                  </a:extLst>
                </a:gridCol>
              </a:tblGrid>
              <a:tr h="488269">
                <a:tc>
                  <a:txBody>
                    <a:bodyPr/>
                    <a:lstStyle/>
                    <a:p>
                      <a:pPr>
                        <a:buNone/>
                      </a:pPr>
                      <a:r>
                        <a:rPr lang="en-US"/>
                        <a:t>Aspect</a:t>
                      </a:r>
                    </a:p>
                  </a:txBody>
                  <a:tcPr anchor="ctr"/>
                </a:tc>
                <a:tc>
                  <a:txBody>
                    <a:bodyPr/>
                    <a:lstStyle/>
                    <a:p>
                      <a:pPr>
                        <a:buNone/>
                      </a:pPr>
                      <a:r>
                        <a:rPr lang="en-US"/>
                        <a:t>SHAP</a:t>
                      </a:r>
                    </a:p>
                  </a:txBody>
                  <a:tcPr anchor="ctr"/>
                </a:tc>
                <a:tc>
                  <a:txBody>
                    <a:bodyPr/>
                    <a:lstStyle/>
                    <a:p>
                      <a:pPr>
                        <a:buNone/>
                      </a:pPr>
                      <a:r>
                        <a:rPr lang="en-US" dirty="0"/>
                        <a:t>LIME</a:t>
                      </a:r>
                    </a:p>
                  </a:txBody>
                  <a:tcPr anchor="ctr"/>
                </a:tc>
                <a:extLst>
                  <a:ext uri="{0D108BD9-81ED-4DB2-BD59-A6C34878D82A}">
                    <a16:rowId xmlns:a16="http://schemas.microsoft.com/office/drawing/2014/main" val="379073317"/>
                  </a:ext>
                </a:extLst>
              </a:tr>
              <a:tr h="854471">
                <a:tc>
                  <a:txBody>
                    <a:bodyPr/>
                    <a:lstStyle/>
                    <a:p>
                      <a:pPr>
                        <a:buNone/>
                      </a:pPr>
                      <a:r>
                        <a:rPr lang="en-US"/>
                        <a:t>Explanation</a:t>
                      </a:r>
                    </a:p>
                  </a:txBody>
                  <a:tcPr anchor="ctr"/>
                </a:tc>
                <a:tc>
                  <a:txBody>
                    <a:bodyPr/>
                    <a:lstStyle/>
                    <a:p>
                      <a:pPr>
                        <a:buNone/>
                      </a:pPr>
                      <a:r>
                        <a:rPr lang="en-US"/>
                        <a:t>Feature contribution</a:t>
                      </a:r>
                    </a:p>
                  </a:txBody>
                  <a:tcPr anchor="ctr"/>
                </a:tc>
                <a:tc>
                  <a:txBody>
                    <a:bodyPr/>
                    <a:lstStyle/>
                    <a:p>
                      <a:pPr>
                        <a:buNone/>
                      </a:pPr>
                      <a:r>
                        <a:rPr lang="en-US"/>
                        <a:t>Local feature/rule contribution</a:t>
                      </a:r>
                    </a:p>
                  </a:txBody>
                  <a:tcPr anchor="ctr"/>
                </a:tc>
                <a:extLst>
                  <a:ext uri="{0D108BD9-81ED-4DB2-BD59-A6C34878D82A}">
                    <a16:rowId xmlns:a16="http://schemas.microsoft.com/office/drawing/2014/main" val="898093454"/>
                  </a:ext>
                </a:extLst>
              </a:tr>
              <a:tr h="488269">
                <a:tc>
                  <a:txBody>
                    <a:bodyPr/>
                    <a:lstStyle/>
                    <a:p>
                      <a:pPr>
                        <a:buNone/>
                      </a:pPr>
                      <a:r>
                        <a:rPr lang="en-US"/>
                        <a:t>Scope</a:t>
                      </a:r>
                    </a:p>
                  </a:txBody>
                  <a:tcPr anchor="ctr"/>
                </a:tc>
                <a:tc>
                  <a:txBody>
                    <a:bodyPr/>
                    <a:lstStyle/>
                    <a:p>
                      <a:pPr>
                        <a:buNone/>
                      </a:pPr>
                      <a:r>
                        <a:rPr lang="en-US"/>
                        <a:t>Global + local</a:t>
                      </a:r>
                    </a:p>
                  </a:txBody>
                  <a:tcPr anchor="ctr"/>
                </a:tc>
                <a:tc>
                  <a:txBody>
                    <a:bodyPr/>
                    <a:lstStyle/>
                    <a:p>
                      <a:pPr>
                        <a:buNone/>
                      </a:pPr>
                      <a:r>
                        <a:rPr lang="en-US"/>
                        <a:t>Mainly local</a:t>
                      </a:r>
                    </a:p>
                  </a:txBody>
                  <a:tcPr anchor="ctr"/>
                </a:tc>
                <a:extLst>
                  <a:ext uri="{0D108BD9-81ED-4DB2-BD59-A6C34878D82A}">
                    <a16:rowId xmlns:a16="http://schemas.microsoft.com/office/drawing/2014/main" val="1296856178"/>
                  </a:ext>
                </a:extLst>
              </a:tr>
              <a:tr h="854471">
                <a:tc>
                  <a:txBody>
                    <a:bodyPr/>
                    <a:lstStyle/>
                    <a:p>
                      <a:pPr>
                        <a:buNone/>
                      </a:pPr>
                      <a:r>
                        <a:rPr lang="en-US"/>
                        <a:t>Model dependency</a:t>
                      </a:r>
                    </a:p>
                  </a:txBody>
                  <a:tcPr anchor="ctr"/>
                </a:tc>
                <a:tc>
                  <a:txBody>
                    <a:bodyPr/>
                    <a:lstStyle/>
                    <a:p>
                      <a:pPr>
                        <a:buNone/>
                      </a:pPr>
                      <a:r>
                        <a:rPr lang="en-US"/>
                        <a:t>Model-aware/model-agnostic variants</a:t>
                      </a:r>
                    </a:p>
                  </a:txBody>
                  <a:tcPr anchor="ctr"/>
                </a:tc>
                <a:tc>
                  <a:txBody>
                    <a:bodyPr/>
                    <a:lstStyle/>
                    <a:p>
                      <a:pPr>
                        <a:buNone/>
                      </a:pPr>
                      <a:r>
                        <a:rPr lang="en-US"/>
                        <a:t>Model-agnostic</a:t>
                      </a:r>
                    </a:p>
                  </a:txBody>
                  <a:tcPr anchor="ctr"/>
                </a:tc>
                <a:extLst>
                  <a:ext uri="{0D108BD9-81ED-4DB2-BD59-A6C34878D82A}">
                    <a16:rowId xmlns:a16="http://schemas.microsoft.com/office/drawing/2014/main" val="3290881952"/>
                  </a:ext>
                </a:extLst>
              </a:tr>
              <a:tr h="488269">
                <a:tc>
                  <a:txBody>
                    <a:bodyPr/>
                    <a:lstStyle/>
                    <a:p>
                      <a:pPr>
                        <a:buNone/>
                      </a:pPr>
                      <a:r>
                        <a:rPr lang="en-US"/>
                        <a:t>Output</a:t>
                      </a:r>
                    </a:p>
                  </a:txBody>
                  <a:tcPr anchor="ctr"/>
                </a:tc>
                <a:tc>
                  <a:txBody>
                    <a:bodyPr/>
                    <a:lstStyle/>
                    <a:p>
                      <a:pPr>
                        <a:buNone/>
                      </a:pPr>
                      <a:r>
                        <a:rPr lang="en-US"/>
                        <a:t>SHAP values</a:t>
                      </a:r>
                    </a:p>
                  </a:txBody>
                  <a:tcPr anchor="ctr"/>
                </a:tc>
                <a:tc>
                  <a:txBody>
                    <a:bodyPr/>
                    <a:lstStyle/>
                    <a:p>
                      <a:pPr>
                        <a:buNone/>
                      </a:pPr>
                      <a:r>
                        <a:rPr lang="en-US"/>
                        <a:t>Rules/weights</a:t>
                      </a:r>
                    </a:p>
                  </a:txBody>
                  <a:tcPr anchor="ctr"/>
                </a:tc>
                <a:extLst>
                  <a:ext uri="{0D108BD9-81ED-4DB2-BD59-A6C34878D82A}">
                    <a16:rowId xmlns:a16="http://schemas.microsoft.com/office/drawing/2014/main" val="1270338984"/>
                  </a:ext>
                </a:extLst>
              </a:tr>
              <a:tr h="488269">
                <a:tc>
                  <a:txBody>
                    <a:bodyPr/>
                    <a:lstStyle/>
                    <a:p>
                      <a:pPr>
                        <a:buNone/>
                      </a:pPr>
                      <a:r>
                        <a:rPr lang="en-US"/>
                        <a:t>Fidelity</a:t>
                      </a:r>
                    </a:p>
                  </a:txBody>
                  <a:tcPr anchor="ctr"/>
                </a:tc>
                <a:tc>
                  <a:txBody>
                    <a:bodyPr/>
                    <a:lstStyle/>
                    <a:p>
                      <a:pPr>
                        <a:buNone/>
                      </a:pPr>
                      <a:r>
                        <a:rPr lang="en-US"/>
                        <a:t>Reconstruction fidelity</a:t>
                      </a:r>
                    </a:p>
                  </a:txBody>
                  <a:tcPr anchor="ctr"/>
                </a:tc>
                <a:tc>
                  <a:txBody>
                    <a:bodyPr/>
                    <a:lstStyle/>
                    <a:p>
                      <a:pPr>
                        <a:buNone/>
                      </a:pPr>
                      <a:r>
                        <a:rPr lang="en-US"/>
                        <a:t>Local surrogate fidelity</a:t>
                      </a:r>
                    </a:p>
                  </a:txBody>
                  <a:tcPr anchor="ctr"/>
                </a:tc>
                <a:extLst>
                  <a:ext uri="{0D108BD9-81ED-4DB2-BD59-A6C34878D82A}">
                    <a16:rowId xmlns:a16="http://schemas.microsoft.com/office/drawing/2014/main" val="2672121221"/>
                  </a:ext>
                </a:extLst>
              </a:tr>
              <a:tr h="488269">
                <a:tc>
                  <a:txBody>
                    <a:bodyPr/>
                    <a:lstStyle/>
                    <a:p>
                      <a:pPr>
                        <a:buNone/>
                      </a:pPr>
                      <a:r>
                        <a:rPr lang="en-US"/>
                        <a:t>Interpretation</a:t>
                      </a:r>
                    </a:p>
                  </a:txBody>
                  <a:tcPr anchor="ctr"/>
                </a:tc>
                <a:tc>
                  <a:txBody>
                    <a:bodyPr/>
                    <a:lstStyle/>
                    <a:p>
                      <a:pPr>
                        <a:buNone/>
                      </a:pPr>
                      <a:r>
                        <a:rPr lang="en-US"/>
                        <a:t>Feature contribution</a:t>
                      </a:r>
                    </a:p>
                  </a:txBody>
                  <a:tcPr anchor="ctr"/>
                </a:tc>
                <a:tc>
                  <a:txBody>
                    <a:bodyPr/>
                    <a:lstStyle/>
                    <a:p>
                      <a:pPr>
                        <a:buNone/>
                      </a:pPr>
                      <a:r>
                        <a:rPr lang="en-US" dirty="0"/>
                        <a:t>Local decision reasoning</a:t>
                      </a:r>
                    </a:p>
                  </a:txBody>
                  <a:tcPr anchor="ctr"/>
                </a:tc>
                <a:extLst>
                  <a:ext uri="{0D108BD9-81ED-4DB2-BD59-A6C34878D82A}">
                    <a16:rowId xmlns:a16="http://schemas.microsoft.com/office/drawing/2014/main" val="15120032"/>
                  </a:ext>
                </a:extLst>
              </a:tr>
            </a:tbl>
          </a:graphicData>
        </a:graphic>
      </p:graphicFrame>
      <p:sp>
        <p:nvSpPr>
          <p:cNvPr id="9" name="TextBox 8">
            <a:extLst>
              <a:ext uri="{FF2B5EF4-FFF2-40B4-BE49-F238E27FC236}">
                <a16:creationId xmlns:a16="http://schemas.microsoft.com/office/drawing/2014/main" id="{0F2F40C7-DCB4-1A8A-17DF-0512FC353625}"/>
              </a:ext>
            </a:extLst>
          </p:cNvPr>
          <p:cNvSpPr txBox="1"/>
          <p:nvPr/>
        </p:nvSpPr>
        <p:spPr>
          <a:xfrm>
            <a:off x="619760" y="576289"/>
            <a:ext cx="8575040" cy="584775"/>
          </a:xfrm>
          <a:prstGeom prst="rect">
            <a:avLst/>
          </a:prstGeom>
          <a:noFill/>
        </p:spPr>
        <p:txBody>
          <a:bodyPr wrap="square">
            <a:spAutoFit/>
          </a:bodyPr>
          <a:lstStyle/>
          <a:p>
            <a:pPr>
              <a:defRPr sz="2500" b="1">
                <a:solidFill>
                  <a:srgbClr val="FFFFFF"/>
                </a:solidFill>
              </a:defRPr>
            </a:pPr>
            <a:r>
              <a:rPr lang="en-US" sz="3200" dirty="0"/>
              <a:t>38. SHAP vs LIME – Explainability Comparison</a:t>
            </a:r>
          </a:p>
        </p:txBody>
      </p:sp>
    </p:spTree>
    <p:extLst>
      <p:ext uri="{BB962C8B-B14F-4D97-AF65-F5344CB8AC3E}">
        <p14:creationId xmlns:p14="http://schemas.microsoft.com/office/powerpoint/2010/main" val="118115115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D767D95-B0F3-A956-2295-36ECBBC2A9D0}"/>
              </a:ext>
            </a:extLst>
          </p:cNvPr>
          <p:cNvSpPr/>
          <p:nvPr/>
        </p:nvSpPr>
        <p:spPr>
          <a:xfrm>
            <a:off x="305" y="351606"/>
            <a:ext cx="12191695" cy="1034143"/>
          </a:xfrm>
          <a:prstGeom prst="rect">
            <a:avLst/>
          </a:prstGeom>
          <a:solidFill>
            <a:srgbClr val="192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1438687C-7BB3-4CC2-632E-E0F63413D3AC}"/>
              </a:ext>
            </a:extLst>
          </p:cNvPr>
          <p:cNvSpPr txBox="1"/>
          <p:nvPr/>
        </p:nvSpPr>
        <p:spPr>
          <a:xfrm>
            <a:off x="660400" y="1696720"/>
            <a:ext cx="10668000" cy="4401205"/>
          </a:xfrm>
          <a:prstGeom prst="rect">
            <a:avLst/>
          </a:prstGeom>
          <a:noFill/>
        </p:spPr>
        <p:txBody>
          <a:bodyPr wrap="square">
            <a:spAutoFit/>
          </a:bodyPr>
          <a:lstStyle/>
          <a:p>
            <a:pPr>
              <a:buNone/>
            </a:pPr>
            <a:r>
              <a:rPr lang="en-US" sz="2000" b="1" dirty="0"/>
              <a:t>Top SHAP features:</a:t>
            </a:r>
          </a:p>
          <a:p>
            <a:pPr marL="342900" lvl="0" indent="-342900">
              <a:buFont typeface="+mj-lt"/>
              <a:buAutoNum type="arabicPeriod"/>
            </a:pPr>
            <a:r>
              <a:rPr lang="en-US" sz="2000" dirty="0"/>
              <a:t>Duration </a:t>
            </a:r>
          </a:p>
          <a:p>
            <a:pPr marL="342900" lvl="0" indent="-342900">
              <a:buFont typeface="+mj-lt"/>
              <a:buAutoNum type="arabicPeriod"/>
            </a:pPr>
            <a:r>
              <a:rPr lang="en-US" sz="2000" dirty="0"/>
              <a:t>Housing </a:t>
            </a:r>
          </a:p>
          <a:p>
            <a:pPr marL="342900" lvl="0" indent="-342900">
              <a:buFont typeface="+mj-lt"/>
              <a:buAutoNum type="arabicPeriod"/>
            </a:pPr>
            <a:r>
              <a:rPr lang="en-US" sz="2000" dirty="0"/>
              <a:t>Campaign intensity </a:t>
            </a:r>
          </a:p>
          <a:p>
            <a:pPr marL="342900" lvl="0" indent="-342900">
              <a:buFont typeface="+mj-lt"/>
              <a:buAutoNum type="arabicPeriod"/>
            </a:pPr>
            <a:r>
              <a:rPr lang="en-US" sz="2000" dirty="0"/>
              <a:t>Previous success </a:t>
            </a:r>
          </a:p>
          <a:p>
            <a:pPr marL="342900" lvl="0" indent="-342900">
              <a:buFont typeface="+mj-lt"/>
              <a:buAutoNum type="arabicPeriod"/>
            </a:pPr>
            <a:r>
              <a:rPr lang="en-US" sz="2000" dirty="0"/>
              <a:t>Age </a:t>
            </a:r>
          </a:p>
          <a:p>
            <a:pPr>
              <a:buNone/>
            </a:pPr>
            <a:r>
              <a:rPr lang="en-US" sz="2000" b="1" dirty="0"/>
              <a:t>SHAP fidelity:</a:t>
            </a:r>
          </a:p>
          <a:p>
            <a:pPr>
              <a:buNone/>
            </a:pPr>
            <a:r>
              <a:rPr lang="en-US" sz="2000" b="1" dirty="0"/>
              <a:t>R² = 1.00</a:t>
            </a:r>
            <a:endParaRPr lang="en-US" sz="2000" dirty="0"/>
          </a:p>
          <a:p>
            <a:pPr>
              <a:buNone/>
            </a:pPr>
            <a:r>
              <a:rPr lang="en-US" sz="2000" b="1" dirty="0"/>
              <a:t>MAE ≈ 0</a:t>
            </a:r>
            <a:endParaRPr lang="en-US" sz="2000" dirty="0"/>
          </a:p>
          <a:p>
            <a:pPr>
              <a:buNone/>
            </a:pPr>
            <a:r>
              <a:rPr lang="en-US" sz="2000" b="1" dirty="0"/>
              <a:t>SHAP sparsity:</a:t>
            </a:r>
          </a:p>
          <a:p>
            <a:pPr>
              <a:buNone/>
            </a:pPr>
            <a:r>
              <a:rPr lang="en-US" sz="2000" b="1" dirty="0"/>
              <a:t>53.33%</a:t>
            </a:r>
            <a:endParaRPr lang="en-US" sz="2000" dirty="0"/>
          </a:p>
          <a:p>
            <a:pPr>
              <a:buNone/>
            </a:pPr>
            <a:r>
              <a:rPr lang="en-US" sz="2000" b="1" dirty="0"/>
              <a:t>Interpretation:</a:t>
            </a:r>
          </a:p>
          <a:p>
            <a:pPr>
              <a:buNone/>
            </a:pPr>
            <a:r>
              <a:rPr lang="en-US" sz="2000" dirty="0"/>
              <a:t>The SHAP analysis shows that customer interaction duration and campaign-related variables have strong influence on the prediction.</a:t>
            </a:r>
          </a:p>
        </p:txBody>
      </p:sp>
      <p:sp>
        <p:nvSpPr>
          <p:cNvPr id="8" name="TextBox 7">
            <a:extLst>
              <a:ext uri="{FF2B5EF4-FFF2-40B4-BE49-F238E27FC236}">
                <a16:creationId xmlns:a16="http://schemas.microsoft.com/office/drawing/2014/main" id="{1FA57B64-BA27-D7F7-FDDD-73D15272C0D9}"/>
              </a:ext>
            </a:extLst>
          </p:cNvPr>
          <p:cNvSpPr txBox="1"/>
          <p:nvPr/>
        </p:nvSpPr>
        <p:spPr>
          <a:xfrm>
            <a:off x="660400" y="482468"/>
            <a:ext cx="7752080" cy="584775"/>
          </a:xfrm>
          <a:prstGeom prst="rect">
            <a:avLst/>
          </a:prstGeom>
          <a:noFill/>
        </p:spPr>
        <p:txBody>
          <a:bodyPr wrap="square">
            <a:spAutoFit/>
          </a:bodyPr>
          <a:lstStyle/>
          <a:p>
            <a:pPr>
              <a:defRPr sz="2500" b="1">
                <a:solidFill>
                  <a:srgbClr val="FFFFFF"/>
                </a:solidFill>
              </a:defRPr>
            </a:pPr>
            <a:r>
              <a:rPr lang="en-US" sz="3200" dirty="0"/>
              <a:t>39. Bank Marketing – SHAP Analysis</a:t>
            </a:r>
          </a:p>
        </p:txBody>
      </p:sp>
    </p:spTree>
    <p:extLst>
      <p:ext uri="{BB962C8B-B14F-4D97-AF65-F5344CB8AC3E}">
        <p14:creationId xmlns:p14="http://schemas.microsoft.com/office/powerpoint/2010/main" val="327700056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94A79FB-7A99-4DB5-3C53-AEC5C22955F5}"/>
              </a:ext>
            </a:extLst>
          </p:cNvPr>
          <p:cNvSpPr/>
          <p:nvPr/>
        </p:nvSpPr>
        <p:spPr>
          <a:xfrm>
            <a:off x="305" y="351606"/>
            <a:ext cx="12191695" cy="1034143"/>
          </a:xfrm>
          <a:prstGeom prst="rect">
            <a:avLst/>
          </a:prstGeom>
          <a:solidFill>
            <a:srgbClr val="192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5E78D30D-734E-E055-75BC-0EE13C682CBF}"/>
              </a:ext>
            </a:extLst>
          </p:cNvPr>
          <p:cNvSpPr txBox="1"/>
          <p:nvPr/>
        </p:nvSpPr>
        <p:spPr>
          <a:xfrm>
            <a:off x="1143000" y="1533465"/>
            <a:ext cx="7569200" cy="5324535"/>
          </a:xfrm>
          <a:prstGeom prst="rect">
            <a:avLst/>
          </a:prstGeom>
          <a:noFill/>
        </p:spPr>
        <p:txBody>
          <a:bodyPr wrap="square">
            <a:spAutoFit/>
          </a:bodyPr>
          <a:lstStyle/>
          <a:p>
            <a:pPr>
              <a:buNone/>
            </a:pPr>
            <a:r>
              <a:rPr lang="en-US" sz="2000" b="1" dirty="0"/>
              <a:t>Example customer:</a:t>
            </a:r>
          </a:p>
          <a:p>
            <a:pPr marL="342900" lvl="0" indent="-342900">
              <a:buFont typeface="Arial" panose="020B0604020202020204" pitchFamily="34" charset="0"/>
              <a:buChar char="•"/>
            </a:pPr>
            <a:r>
              <a:rPr lang="en-US" sz="2000" dirty="0"/>
              <a:t>Duration = 390 </a:t>
            </a:r>
          </a:p>
          <a:p>
            <a:pPr marL="342900" lvl="0" indent="-342900">
              <a:buFont typeface="Arial" panose="020B0604020202020204" pitchFamily="34" charset="0"/>
              <a:buChar char="•"/>
            </a:pPr>
            <a:r>
              <a:rPr lang="en-US" sz="2000" dirty="0"/>
              <a:t>Age = 32 </a:t>
            </a:r>
          </a:p>
          <a:p>
            <a:pPr marL="342900" lvl="0" indent="-342900">
              <a:buFont typeface="Arial" panose="020B0604020202020204" pitchFamily="34" charset="0"/>
              <a:buChar char="•"/>
            </a:pPr>
            <a:r>
              <a:rPr lang="en-US" sz="2000" dirty="0"/>
              <a:t>Housing = 0 </a:t>
            </a:r>
          </a:p>
          <a:p>
            <a:pPr marL="342900" lvl="0" indent="-342900">
              <a:buFont typeface="Arial" panose="020B0604020202020204" pitchFamily="34" charset="0"/>
              <a:buChar char="•"/>
            </a:pPr>
            <a:r>
              <a:rPr lang="en-US" sz="2000" dirty="0"/>
              <a:t>Campaign = 3 </a:t>
            </a:r>
          </a:p>
          <a:p>
            <a:pPr marL="342900" lvl="0" indent="-342900">
              <a:buFont typeface="Arial" panose="020B0604020202020204" pitchFamily="34" charset="0"/>
              <a:buChar char="•"/>
            </a:pPr>
            <a:r>
              <a:rPr lang="en-US" sz="2000" dirty="0"/>
              <a:t>Previous success = 0 </a:t>
            </a:r>
          </a:p>
          <a:p>
            <a:pPr>
              <a:buNone/>
            </a:pPr>
            <a:r>
              <a:rPr lang="en-US" sz="2000" b="1" dirty="0"/>
              <a:t>Prediction:</a:t>
            </a:r>
          </a:p>
          <a:p>
            <a:pPr>
              <a:buNone/>
            </a:pPr>
            <a:r>
              <a:rPr lang="en-US" sz="2000" b="1" dirty="0"/>
              <a:t>No Subscription = 83.87%</a:t>
            </a:r>
            <a:endParaRPr lang="en-US" sz="2000" dirty="0"/>
          </a:p>
          <a:p>
            <a:pPr>
              <a:buNone/>
            </a:pPr>
            <a:r>
              <a:rPr lang="en-US" sz="2000" b="1" dirty="0"/>
              <a:t>Subscription = 16.13%</a:t>
            </a:r>
            <a:endParaRPr lang="en-US" sz="2000" dirty="0"/>
          </a:p>
          <a:p>
            <a:pPr>
              <a:buNone/>
            </a:pPr>
            <a:r>
              <a:rPr lang="en-US" sz="2000" b="1" dirty="0"/>
              <a:t>Top LIME contributors:</a:t>
            </a:r>
          </a:p>
          <a:p>
            <a:pPr marL="342900" lvl="0" indent="-342900">
              <a:buFont typeface="Arial" panose="020B0604020202020204" pitchFamily="34" charset="0"/>
              <a:buChar char="•"/>
            </a:pPr>
            <a:r>
              <a:rPr lang="en-US" sz="2000" dirty="0"/>
              <a:t>Duration &gt; 318 </a:t>
            </a:r>
          </a:p>
          <a:p>
            <a:pPr marL="342900" lvl="0" indent="-342900">
              <a:buFont typeface="Arial" panose="020B0604020202020204" pitchFamily="34" charset="0"/>
              <a:buChar char="•"/>
            </a:pPr>
            <a:r>
              <a:rPr lang="en-US" sz="2000" dirty="0"/>
              <a:t>Previous success ≤ 0 </a:t>
            </a:r>
          </a:p>
          <a:p>
            <a:pPr marL="342900" lvl="0" indent="-342900">
              <a:buFont typeface="Arial" panose="020B0604020202020204" pitchFamily="34" charset="0"/>
              <a:buChar char="•"/>
            </a:pPr>
            <a:r>
              <a:rPr lang="en-US" sz="2000" dirty="0"/>
              <a:t>Month March ≤ 0 </a:t>
            </a:r>
          </a:p>
          <a:p>
            <a:pPr marL="342900" lvl="0" indent="-342900">
              <a:buFont typeface="Arial" panose="020B0604020202020204" pitchFamily="34" charset="0"/>
              <a:buChar char="•"/>
            </a:pPr>
            <a:r>
              <a:rPr lang="en-US" sz="2000" dirty="0"/>
              <a:t>Month October ≤ 0 </a:t>
            </a:r>
          </a:p>
          <a:p>
            <a:pPr marL="342900" lvl="0" indent="-342900">
              <a:buFont typeface="Arial" panose="020B0604020202020204" pitchFamily="34" charset="0"/>
              <a:buChar char="•"/>
            </a:pPr>
            <a:r>
              <a:rPr lang="en-US" sz="2000" dirty="0"/>
              <a:t>Housing = 0 </a:t>
            </a:r>
          </a:p>
          <a:p>
            <a:pPr>
              <a:buNone/>
            </a:pPr>
            <a:r>
              <a:rPr lang="en-US" sz="2000" b="1" dirty="0"/>
              <a:t>LIME fidelity:</a:t>
            </a:r>
          </a:p>
          <a:p>
            <a:pPr>
              <a:buNone/>
            </a:pPr>
            <a:r>
              <a:rPr lang="en-US" sz="2000" b="1" dirty="0"/>
              <a:t>R² = 0.643</a:t>
            </a:r>
            <a:endParaRPr lang="en-US" sz="2000" dirty="0"/>
          </a:p>
        </p:txBody>
      </p:sp>
      <p:sp>
        <p:nvSpPr>
          <p:cNvPr id="8" name="TextBox 7">
            <a:extLst>
              <a:ext uri="{FF2B5EF4-FFF2-40B4-BE49-F238E27FC236}">
                <a16:creationId xmlns:a16="http://schemas.microsoft.com/office/drawing/2014/main" id="{97D56D55-4D3A-554B-C8E9-D14FF2BE2DEB}"/>
              </a:ext>
            </a:extLst>
          </p:cNvPr>
          <p:cNvSpPr txBox="1"/>
          <p:nvPr/>
        </p:nvSpPr>
        <p:spPr>
          <a:xfrm>
            <a:off x="762000" y="576289"/>
            <a:ext cx="7741920" cy="584775"/>
          </a:xfrm>
          <a:prstGeom prst="rect">
            <a:avLst/>
          </a:prstGeom>
          <a:noFill/>
        </p:spPr>
        <p:txBody>
          <a:bodyPr wrap="square">
            <a:spAutoFit/>
          </a:bodyPr>
          <a:lstStyle/>
          <a:p>
            <a:pPr>
              <a:defRPr sz="2500" b="1">
                <a:solidFill>
                  <a:srgbClr val="FFFFFF"/>
                </a:solidFill>
              </a:defRPr>
            </a:pPr>
            <a:r>
              <a:rPr lang="en-US" sz="3200" dirty="0"/>
              <a:t>40. Bank Marketing – LIME Explanation</a:t>
            </a:r>
          </a:p>
        </p:txBody>
      </p:sp>
    </p:spTree>
    <p:extLst>
      <p:ext uri="{BB962C8B-B14F-4D97-AF65-F5344CB8AC3E}">
        <p14:creationId xmlns:p14="http://schemas.microsoft.com/office/powerpoint/2010/main" val="2877128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872C70C-6EE8-7652-B537-DD7AC9331E4B}"/>
              </a:ext>
            </a:extLst>
          </p:cNvPr>
          <p:cNvSpPr/>
          <p:nvPr/>
        </p:nvSpPr>
        <p:spPr>
          <a:xfrm>
            <a:off x="305" y="351606"/>
            <a:ext cx="12191695" cy="1034143"/>
          </a:xfrm>
          <a:prstGeom prst="rect">
            <a:avLst/>
          </a:prstGeom>
          <a:solidFill>
            <a:srgbClr val="192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12D27F6C-7516-7E62-A71B-2C06443761AA}"/>
              </a:ext>
            </a:extLst>
          </p:cNvPr>
          <p:cNvSpPr txBox="1"/>
          <p:nvPr/>
        </p:nvSpPr>
        <p:spPr>
          <a:xfrm>
            <a:off x="909320" y="1533465"/>
            <a:ext cx="10718800" cy="5324535"/>
          </a:xfrm>
          <a:prstGeom prst="rect">
            <a:avLst/>
          </a:prstGeom>
          <a:noFill/>
        </p:spPr>
        <p:txBody>
          <a:bodyPr wrap="square">
            <a:spAutoFit/>
          </a:bodyPr>
          <a:lstStyle/>
          <a:p>
            <a:pPr>
              <a:buNone/>
            </a:pPr>
            <a:r>
              <a:rPr lang="en-US" sz="2000" b="1" dirty="0"/>
              <a:t>Top features:</a:t>
            </a:r>
          </a:p>
          <a:p>
            <a:pPr marL="342900" lvl="0" indent="-342900">
              <a:buFont typeface="+mj-lt"/>
              <a:buAutoNum type="arabicPeriod"/>
            </a:pPr>
            <a:r>
              <a:rPr lang="en-US" sz="2000" dirty="0"/>
              <a:t>Month </a:t>
            </a:r>
          </a:p>
          <a:p>
            <a:pPr marL="342900" lvl="0" indent="-342900">
              <a:buFont typeface="+mj-lt"/>
              <a:buAutoNum type="arabicPeriod"/>
            </a:pPr>
            <a:r>
              <a:rPr lang="en-US" sz="2000" dirty="0"/>
              <a:t>Hour </a:t>
            </a:r>
          </a:p>
          <a:p>
            <a:pPr marL="342900" lvl="0" indent="-342900">
              <a:buFont typeface="+mj-lt"/>
              <a:buAutoNum type="arabicPeriod"/>
            </a:pPr>
            <a:r>
              <a:rPr lang="en-US" sz="2000" dirty="0"/>
              <a:t>Day </a:t>
            </a:r>
          </a:p>
          <a:p>
            <a:pPr marL="342900" lvl="0" indent="-342900">
              <a:buFont typeface="+mj-lt"/>
              <a:buAutoNum type="arabicPeriod"/>
            </a:pPr>
            <a:r>
              <a:rPr lang="en-US" sz="2000" dirty="0"/>
              <a:t>Quantity </a:t>
            </a:r>
          </a:p>
          <a:p>
            <a:pPr marL="342900" lvl="0" indent="-342900">
              <a:buFont typeface="+mj-lt"/>
              <a:buAutoNum type="arabicPeriod"/>
            </a:pPr>
            <a:r>
              <a:rPr lang="en-US" sz="2000" dirty="0"/>
              <a:t>Country — EIRE </a:t>
            </a:r>
          </a:p>
          <a:p>
            <a:pPr marL="342900" lvl="0" indent="-342900">
              <a:buFont typeface="+mj-lt"/>
              <a:buAutoNum type="arabicPeriod"/>
            </a:pPr>
            <a:r>
              <a:rPr lang="en-US" sz="2000" dirty="0"/>
              <a:t>Unit Price </a:t>
            </a:r>
          </a:p>
          <a:p>
            <a:pPr marL="342900" lvl="0" indent="-342900">
              <a:buFont typeface="+mj-lt"/>
              <a:buAutoNum type="arabicPeriod"/>
            </a:pPr>
            <a:r>
              <a:rPr lang="en-US" sz="2000" dirty="0"/>
              <a:t>Country — Australia </a:t>
            </a:r>
          </a:p>
          <a:p>
            <a:pPr marL="342900" lvl="0" indent="-342900">
              <a:buFont typeface="+mj-lt"/>
              <a:buAutoNum type="arabicPeriod"/>
            </a:pPr>
            <a:r>
              <a:rPr lang="en-US" sz="2000" dirty="0"/>
              <a:t>Country — Belgium </a:t>
            </a:r>
          </a:p>
          <a:p>
            <a:pPr marL="342900" lvl="0" indent="-342900">
              <a:buFont typeface="+mj-lt"/>
              <a:buAutoNum type="arabicPeriod"/>
            </a:pPr>
            <a:r>
              <a:rPr lang="en-US" sz="2000" dirty="0"/>
              <a:t>Country — France </a:t>
            </a:r>
          </a:p>
          <a:p>
            <a:pPr marL="342900" lvl="0" indent="-342900">
              <a:buFont typeface="+mj-lt"/>
              <a:buAutoNum type="arabicPeriod"/>
            </a:pPr>
            <a:r>
              <a:rPr lang="en-US" sz="2000" dirty="0"/>
              <a:t>Year </a:t>
            </a:r>
          </a:p>
          <a:p>
            <a:pPr>
              <a:buNone/>
            </a:pPr>
            <a:r>
              <a:rPr lang="en-US" sz="2000" b="1" dirty="0"/>
              <a:t>SHAP fidelity:</a:t>
            </a:r>
          </a:p>
          <a:p>
            <a:pPr>
              <a:buNone/>
            </a:pPr>
            <a:r>
              <a:rPr lang="en-US" sz="2000" b="1" dirty="0"/>
              <a:t>R² = 1.00</a:t>
            </a:r>
            <a:endParaRPr lang="en-US" sz="2000" dirty="0"/>
          </a:p>
          <a:p>
            <a:pPr>
              <a:buNone/>
            </a:pPr>
            <a:r>
              <a:rPr lang="en-US" sz="2000" b="1" dirty="0"/>
              <a:t>MAE ≈ 0</a:t>
            </a:r>
            <a:endParaRPr lang="en-US" sz="2000" dirty="0"/>
          </a:p>
          <a:p>
            <a:pPr>
              <a:buNone/>
            </a:pPr>
            <a:r>
              <a:rPr lang="en-US" sz="2000" b="1" dirty="0"/>
              <a:t>Interpretation:</a:t>
            </a:r>
          </a:p>
          <a:p>
            <a:pPr>
              <a:buNone/>
            </a:pPr>
            <a:r>
              <a:rPr lang="en-US" sz="2000" dirty="0"/>
              <a:t>Temporal transaction information and geographic variables contribute significantly to repeat-customer prediction.</a:t>
            </a:r>
          </a:p>
        </p:txBody>
      </p:sp>
      <p:sp>
        <p:nvSpPr>
          <p:cNvPr id="10" name="TextBox 9">
            <a:extLst>
              <a:ext uri="{FF2B5EF4-FFF2-40B4-BE49-F238E27FC236}">
                <a16:creationId xmlns:a16="http://schemas.microsoft.com/office/drawing/2014/main" id="{122CD545-3D0D-5DAD-4025-C8829825AF13}"/>
              </a:ext>
            </a:extLst>
          </p:cNvPr>
          <p:cNvSpPr txBox="1"/>
          <p:nvPr/>
        </p:nvSpPr>
        <p:spPr>
          <a:xfrm>
            <a:off x="782320" y="576289"/>
            <a:ext cx="6471920" cy="584775"/>
          </a:xfrm>
          <a:prstGeom prst="rect">
            <a:avLst/>
          </a:prstGeom>
          <a:noFill/>
        </p:spPr>
        <p:txBody>
          <a:bodyPr wrap="square">
            <a:spAutoFit/>
          </a:bodyPr>
          <a:lstStyle/>
          <a:p>
            <a:pPr>
              <a:defRPr sz="2500" b="1">
                <a:solidFill>
                  <a:srgbClr val="FFFFFF"/>
                </a:solidFill>
              </a:defRPr>
            </a:pPr>
            <a:r>
              <a:rPr lang="en-US" sz="3200" dirty="0"/>
              <a:t>41. Online Retail – SHAP Analysis</a:t>
            </a:r>
          </a:p>
        </p:txBody>
      </p:sp>
    </p:spTree>
    <p:extLst>
      <p:ext uri="{BB962C8B-B14F-4D97-AF65-F5344CB8AC3E}">
        <p14:creationId xmlns:p14="http://schemas.microsoft.com/office/powerpoint/2010/main" val="339268945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CDDF106-102F-3990-667E-4B3372652496}"/>
              </a:ext>
            </a:extLst>
          </p:cNvPr>
          <p:cNvSpPr/>
          <p:nvPr/>
        </p:nvSpPr>
        <p:spPr>
          <a:xfrm>
            <a:off x="305" y="351606"/>
            <a:ext cx="12191695" cy="1034143"/>
          </a:xfrm>
          <a:prstGeom prst="rect">
            <a:avLst/>
          </a:prstGeom>
          <a:solidFill>
            <a:srgbClr val="192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7F4F94EF-E003-F71D-2E57-CAEADC65D54B}"/>
              </a:ext>
            </a:extLst>
          </p:cNvPr>
          <p:cNvSpPr txBox="1"/>
          <p:nvPr/>
        </p:nvSpPr>
        <p:spPr>
          <a:xfrm>
            <a:off x="843280" y="1625388"/>
            <a:ext cx="10424160" cy="5016758"/>
          </a:xfrm>
          <a:prstGeom prst="rect">
            <a:avLst/>
          </a:prstGeom>
          <a:noFill/>
        </p:spPr>
        <p:txBody>
          <a:bodyPr wrap="square">
            <a:spAutoFit/>
          </a:bodyPr>
          <a:lstStyle/>
          <a:p>
            <a:pPr>
              <a:buNone/>
            </a:pPr>
            <a:r>
              <a:rPr lang="en-US" sz="2000" dirty="0"/>
              <a:t>Top LIME rules included:</a:t>
            </a:r>
          </a:p>
          <a:p>
            <a:pPr marL="342900" lvl="0" indent="-342900">
              <a:buFont typeface="Arial" panose="020B0604020202020204" pitchFamily="34" charset="0"/>
              <a:buChar char="•"/>
            </a:pPr>
            <a:r>
              <a:rPr lang="en-US" sz="2000" dirty="0"/>
              <a:t>Brazil ≤ 0 </a:t>
            </a:r>
          </a:p>
          <a:p>
            <a:pPr marL="342900" lvl="0" indent="-342900">
              <a:buFont typeface="Arial" panose="020B0604020202020204" pitchFamily="34" charset="0"/>
              <a:buChar char="•"/>
            </a:pPr>
            <a:r>
              <a:rPr lang="en-US" sz="2000" dirty="0"/>
              <a:t>USA ≤ 0 </a:t>
            </a:r>
          </a:p>
          <a:p>
            <a:pPr marL="342900" lvl="0" indent="-342900">
              <a:buFont typeface="Arial" panose="020B0604020202020204" pitchFamily="34" charset="0"/>
              <a:buChar char="•"/>
            </a:pPr>
            <a:r>
              <a:rPr lang="en-US" sz="2000" dirty="0"/>
              <a:t>EIRE ≤ 0 </a:t>
            </a:r>
          </a:p>
          <a:p>
            <a:pPr marL="342900" lvl="0" indent="-342900">
              <a:buFont typeface="Arial" panose="020B0604020202020204" pitchFamily="34" charset="0"/>
              <a:buChar char="•"/>
            </a:pPr>
            <a:r>
              <a:rPr lang="en-US" sz="2000" dirty="0"/>
              <a:t>Lebanon ≤ 0 </a:t>
            </a:r>
          </a:p>
          <a:p>
            <a:pPr marL="342900" lvl="0" indent="-342900">
              <a:buFont typeface="Arial" panose="020B0604020202020204" pitchFamily="34" charset="0"/>
              <a:buChar char="•"/>
            </a:pPr>
            <a:r>
              <a:rPr lang="en-US" sz="2000" dirty="0"/>
              <a:t>Australia ≤ 0 </a:t>
            </a:r>
          </a:p>
          <a:p>
            <a:pPr marL="342900" lvl="0" indent="-342900">
              <a:buFont typeface="Arial" panose="020B0604020202020204" pitchFamily="34" charset="0"/>
              <a:buChar char="•"/>
            </a:pPr>
            <a:r>
              <a:rPr lang="en-US" sz="2000" dirty="0"/>
              <a:t>Cyprus ≤ 0 </a:t>
            </a:r>
          </a:p>
          <a:p>
            <a:pPr marL="342900" lvl="0" indent="-342900">
              <a:buFont typeface="Arial" panose="020B0604020202020204" pitchFamily="34" charset="0"/>
              <a:buChar char="•"/>
            </a:pPr>
            <a:r>
              <a:rPr lang="en-US" sz="2000" dirty="0"/>
              <a:t>UAE ≤ 0 </a:t>
            </a:r>
          </a:p>
          <a:p>
            <a:pPr marL="342900" lvl="0" indent="-342900">
              <a:buFont typeface="Arial" panose="020B0604020202020204" pitchFamily="34" charset="0"/>
              <a:buChar char="•"/>
            </a:pPr>
            <a:r>
              <a:rPr lang="en-US" sz="2000" dirty="0"/>
              <a:t>Italy ≤ 0 </a:t>
            </a:r>
          </a:p>
          <a:p>
            <a:pPr>
              <a:buNone/>
            </a:pPr>
            <a:r>
              <a:rPr lang="en-US" sz="2000" b="1" dirty="0"/>
              <a:t>Prediction:</a:t>
            </a:r>
          </a:p>
          <a:p>
            <a:pPr>
              <a:buNone/>
            </a:pPr>
            <a:r>
              <a:rPr lang="en-US" sz="2000" b="1" dirty="0"/>
              <a:t>Repeat Customer</a:t>
            </a:r>
            <a:endParaRPr lang="en-US" sz="2000" dirty="0"/>
          </a:p>
          <a:p>
            <a:pPr>
              <a:buNone/>
            </a:pPr>
            <a:r>
              <a:rPr lang="en-US" sz="2000" b="1" dirty="0"/>
              <a:t>LIME explained probability:</a:t>
            </a:r>
          </a:p>
          <a:p>
            <a:pPr>
              <a:buNone/>
            </a:pPr>
            <a:r>
              <a:rPr lang="en-US" sz="2000" b="1" dirty="0"/>
              <a:t>85.09%</a:t>
            </a:r>
            <a:endParaRPr lang="en-US" sz="2000" dirty="0"/>
          </a:p>
          <a:p>
            <a:pPr>
              <a:buNone/>
            </a:pPr>
            <a:r>
              <a:rPr lang="en-US" sz="2000" b="1" dirty="0"/>
              <a:t>Important observation:</a:t>
            </a:r>
          </a:p>
          <a:p>
            <a:pPr>
              <a:buNone/>
            </a:pPr>
            <a:r>
              <a:rPr lang="en-US" sz="2000" dirty="0"/>
              <a:t>LIME represents categorical variables as local rules, while SHAP represents one-hot encoded features individually.</a:t>
            </a:r>
          </a:p>
        </p:txBody>
      </p:sp>
      <p:sp>
        <p:nvSpPr>
          <p:cNvPr id="8" name="TextBox 7">
            <a:extLst>
              <a:ext uri="{FF2B5EF4-FFF2-40B4-BE49-F238E27FC236}">
                <a16:creationId xmlns:a16="http://schemas.microsoft.com/office/drawing/2014/main" id="{4DED602C-EDA2-E5FA-3DAB-653E494052AA}"/>
              </a:ext>
            </a:extLst>
          </p:cNvPr>
          <p:cNvSpPr txBox="1"/>
          <p:nvPr/>
        </p:nvSpPr>
        <p:spPr>
          <a:xfrm>
            <a:off x="843280" y="591245"/>
            <a:ext cx="7122160" cy="584775"/>
          </a:xfrm>
          <a:prstGeom prst="rect">
            <a:avLst/>
          </a:prstGeom>
          <a:noFill/>
        </p:spPr>
        <p:txBody>
          <a:bodyPr wrap="square">
            <a:spAutoFit/>
          </a:bodyPr>
          <a:lstStyle/>
          <a:p>
            <a:pPr>
              <a:defRPr sz="2500" b="1">
                <a:solidFill>
                  <a:srgbClr val="FFFFFF"/>
                </a:solidFill>
              </a:defRPr>
            </a:pPr>
            <a:r>
              <a:rPr lang="en-US" sz="3200" dirty="0"/>
              <a:t>42. Online Retail – LIME Explanation</a:t>
            </a:r>
          </a:p>
        </p:txBody>
      </p:sp>
    </p:spTree>
    <p:extLst>
      <p:ext uri="{BB962C8B-B14F-4D97-AF65-F5344CB8AC3E}">
        <p14:creationId xmlns:p14="http://schemas.microsoft.com/office/powerpoint/2010/main" val="143660275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47EB215-6C6C-77C2-F205-868CC7393040}"/>
              </a:ext>
            </a:extLst>
          </p:cNvPr>
          <p:cNvSpPr/>
          <p:nvPr/>
        </p:nvSpPr>
        <p:spPr>
          <a:xfrm>
            <a:off x="305" y="351606"/>
            <a:ext cx="12191695" cy="1034143"/>
          </a:xfrm>
          <a:prstGeom prst="rect">
            <a:avLst/>
          </a:prstGeom>
          <a:solidFill>
            <a:srgbClr val="192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FB740A44-A0CE-A395-1EB2-5A75E5E7A98F}"/>
              </a:ext>
            </a:extLst>
          </p:cNvPr>
          <p:cNvSpPr txBox="1"/>
          <p:nvPr/>
        </p:nvSpPr>
        <p:spPr>
          <a:xfrm>
            <a:off x="822960" y="1387932"/>
            <a:ext cx="10586720" cy="5324535"/>
          </a:xfrm>
          <a:prstGeom prst="rect">
            <a:avLst/>
          </a:prstGeom>
          <a:noFill/>
        </p:spPr>
        <p:txBody>
          <a:bodyPr wrap="square">
            <a:spAutoFit/>
          </a:bodyPr>
          <a:lstStyle/>
          <a:p>
            <a:pPr>
              <a:buNone/>
            </a:pPr>
            <a:r>
              <a:rPr lang="en-US" sz="2000" b="1" dirty="0"/>
              <a:t>Top features:</a:t>
            </a:r>
          </a:p>
          <a:p>
            <a:pPr marL="342900" lvl="0" indent="-342900">
              <a:buFont typeface="+mj-lt"/>
              <a:buAutoNum type="arabicPeriod"/>
            </a:pPr>
            <a:r>
              <a:rPr lang="en-US" sz="2000" dirty="0"/>
              <a:t>Tenure </a:t>
            </a:r>
          </a:p>
          <a:p>
            <a:pPr marL="342900" lvl="0" indent="-342900">
              <a:buFont typeface="+mj-lt"/>
              <a:buAutoNum type="arabicPeriod"/>
            </a:pPr>
            <a:r>
              <a:rPr lang="en-US" sz="2000" dirty="0"/>
              <a:t>Contract — Two year </a:t>
            </a:r>
          </a:p>
          <a:p>
            <a:pPr marL="342900" lvl="0" indent="-342900">
              <a:buFont typeface="+mj-lt"/>
              <a:buAutoNum type="arabicPeriod"/>
            </a:pPr>
            <a:r>
              <a:rPr lang="en-US" sz="2000" dirty="0"/>
              <a:t>Internet Service — Fiber optic </a:t>
            </a:r>
          </a:p>
          <a:p>
            <a:pPr marL="342900" lvl="0" indent="-342900">
              <a:buFont typeface="+mj-lt"/>
              <a:buAutoNum type="arabicPeriod"/>
            </a:pPr>
            <a:r>
              <a:rPr lang="en-US" sz="2000" dirty="0"/>
              <a:t>Contract — One year </a:t>
            </a:r>
          </a:p>
          <a:p>
            <a:pPr marL="342900" lvl="0" indent="-342900">
              <a:buFont typeface="+mj-lt"/>
              <a:buAutoNum type="arabicPeriod"/>
            </a:pPr>
            <a:r>
              <a:rPr lang="en-US" sz="2000" dirty="0"/>
              <a:t>Security Support </a:t>
            </a:r>
          </a:p>
          <a:p>
            <a:pPr marL="342900" lvl="0" indent="-342900">
              <a:buFont typeface="+mj-lt"/>
              <a:buAutoNum type="arabicPeriod"/>
            </a:pPr>
            <a:r>
              <a:rPr lang="en-US" sz="2000" dirty="0"/>
              <a:t>Monthly Charges </a:t>
            </a:r>
          </a:p>
          <a:p>
            <a:pPr marL="342900" lvl="0" indent="-342900">
              <a:buFont typeface="+mj-lt"/>
              <a:buAutoNum type="arabicPeriod"/>
            </a:pPr>
            <a:r>
              <a:rPr lang="en-US" sz="2000" dirty="0"/>
              <a:t>Paperless Billing </a:t>
            </a:r>
          </a:p>
          <a:p>
            <a:pPr marL="342900" lvl="0" indent="-342900">
              <a:buFont typeface="+mj-lt"/>
              <a:buAutoNum type="arabicPeriod"/>
            </a:pPr>
            <a:r>
              <a:rPr lang="en-US" sz="2000" dirty="0"/>
              <a:t>Average Monthly Spend </a:t>
            </a:r>
          </a:p>
          <a:p>
            <a:pPr marL="342900" lvl="0" indent="-342900">
              <a:buFont typeface="+mj-lt"/>
              <a:buAutoNum type="arabicPeriod"/>
            </a:pPr>
            <a:r>
              <a:rPr lang="en-US" sz="2000" dirty="0"/>
              <a:t>Total Charges </a:t>
            </a:r>
          </a:p>
          <a:p>
            <a:pPr marL="342900" lvl="0" indent="-342900">
              <a:buFont typeface="+mj-lt"/>
              <a:buAutoNum type="arabicPeriod"/>
            </a:pPr>
            <a:r>
              <a:rPr lang="en-US" sz="2000" dirty="0"/>
              <a:t>Electronic Check Payment </a:t>
            </a:r>
          </a:p>
          <a:p>
            <a:pPr>
              <a:buNone/>
            </a:pPr>
            <a:r>
              <a:rPr lang="en-US" sz="2000" b="1" dirty="0"/>
              <a:t>SHAP fidelity:</a:t>
            </a:r>
          </a:p>
          <a:p>
            <a:pPr>
              <a:buNone/>
            </a:pPr>
            <a:r>
              <a:rPr lang="en-US" sz="2000" b="1" dirty="0"/>
              <a:t>R² = 1.00</a:t>
            </a:r>
            <a:endParaRPr lang="en-US" sz="2000" dirty="0"/>
          </a:p>
          <a:p>
            <a:pPr>
              <a:buNone/>
            </a:pPr>
            <a:r>
              <a:rPr lang="en-US" sz="2000" b="1" dirty="0"/>
              <a:t>MAE ≈ 1.2 × 10⁻¹⁶</a:t>
            </a:r>
            <a:endParaRPr lang="en-US" sz="2000" dirty="0"/>
          </a:p>
          <a:p>
            <a:pPr>
              <a:buNone/>
            </a:pPr>
            <a:r>
              <a:rPr lang="en-US" sz="2000" b="1" dirty="0"/>
              <a:t>Interpretation:</a:t>
            </a:r>
          </a:p>
          <a:p>
            <a:pPr>
              <a:buNone/>
            </a:pPr>
            <a:r>
              <a:rPr lang="en-US" sz="2000" dirty="0"/>
              <a:t>Customer tenure, contract type, service type and billing characteristics strongly influence churn predictions.</a:t>
            </a:r>
          </a:p>
        </p:txBody>
      </p:sp>
      <p:sp>
        <p:nvSpPr>
          <p:cNvPr id="8" name="TextBox 7">
            <a:extLst>
              <a:ext uri="{FF2B5EF4-FFF2-40B4-BE49-F238E27FC236}">
                <a16:creationId xmlns:a16="http://schemas.microsoft.com/office/drawing/2014/main" id="{7F32E20E-774B-AD99-958E-B43AFF012134}"/>
              </a:ext>
            </a:extLst>
          </p:cNvPr>
          <p:cNvSpPr txBox="1"/>
          <p:nvPr/>
        </p:nvSpPr>
        <p:spPr>
          <a:xfrm>
            <a:off x="822960" y="552848"/>
            <a:ext cx="7782560" cy="584775"/>
          </a:xfrm>
          <a:prstGeom prst="rect">
            <a:avLst/>
          </a:prstGeom>
          <a:noFill/>
        </p:spPr>
        <p:txBody>
          <a:bodyPr wrap="square">
            <a:spAutoFit/>
          </a:bodyPr>
          <a:lstStyle/>
          <a:p>
            <a:pPr>
              <a:defRPr sz="2500" b="1">
                <a:solidFill>
                  <a:srgbClr val="FFFFFF"/>
                </a:solidFill>
              </a:defRPr>
            </a:pPr>
            <a:r>
              <a:rPr lang="en-US" sz="3200" dirty="0"/>
              <a:t>43. Telco Customer Churn – SHAP Analysis</a:t>
            </a:r>
          </a:p>
        </p:txBody>
      </p:sp>
    </p:spTree>
    <p:extLst>
      <p:ext uri="{BB962C8B-B14F-4D97-AF65-F5344CB8AC3E}">
        <p14:creationId xmlns:p14="http://schemas.microsoft.com/office/powerpoint/2010/main" val="288485084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DC65A17-A11F-C01E-7180-DDD417F107DF}"/>
              </a:ext>
            </a:extLst>
          </p:cNvPr>
          <p:cNvSpPr/>
          <p:nvPr/>
        </p:nvSpPr>
        <p:spPr>
          <a:xfrm>
            <a:off x="305" y="351606"/>
            <a:ext cx="12191695" cy="1034143"/>
          </a:xfrm>
          <a:prstGeom prst="rect">
            <a:avLst/>
          </a:prstGeom>
          <a:solidFill>
            <a:srgbClr val="192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1A04A1CF-A419-A878-9A90-C1A1778E2015}"/>
              </a:ext>
            </a:extLst>
          </p:cNvPr>
          <p:cNvSpPr txBox="1"/>
          <p:nvPr/>
        </p:nvSpPr>
        <p:spPr>
          <a:xfrm>
            <a:off x="995680" y="1533465"/>
            <a:ext cx="6136640" cy="5324535"/>
          </a:xfrm>
          <a:prstGeom prst="rect">
            <a:avLst/>
          </a:prstGeom>
          <a:noFill/>
        </p:spPr>
        <p:txBody>
          <a:bodyPr wrap="square">
            <a:spAutoFit/>
          </a:bodyPr>
          <a:lstStyle/>
          <a:p>
            <a:pPr>
              <a:buNone/>
            </a:pPr>
            <a:r>
              <a:rPr lang="en-US" sz="2000" b="1" dirty="0"/>
              <a:t>Top LIME contributors:</a:t>
            </a:r>
          </a:p>
          <a:p>
            <a:pPr marL="342900" lvl="0" indent="-342900">
              <a:buFont typeface="Arial" panose="020B0604020202020204" pitchFamily="34" charset="0"/>
              <a:buChar char="•"/>
            </a:pPr>
            <a:r>
              <a:rPr lang="en-US" sz="2000" dirty="0"/>
              <a:t>Tenure ≤ 9 </a:t>
            </a:r>
          </a:p>
          <a:p>
            <a:pPr marL="342900" lvl="0" indent="-342900">
              <a:buFont typeface="Arial" panose="020B0604020202020204" pitchFamily="34" charset="0"/>
              <a:buChar char="•"/>
            </a:pPr>
            <a:r>
              <a:rPr lang="en-US" sz="2000" dirty="0"/>
              <a:t>Contract — Two year </a:t>
            </a:r>
          </a:p>
          <a:p>
            <a:pPr marL="342900" lvl="0" indent="-342900">
              <a:buFont typeface="Arial" panose="020B0604020202020204" pitchFamily="34" charset="0"/>
              <a:buChar char="•"/>
            </a:pPr>
            <a:r>
              <a:rPr lang="en-US" sz="2000" dirty="0"/>
              <a:t>Contract — One year </a:t>
            </a:r>
          </a:p>
          <a:p>
            <a:pPr marL="342900" lvl="0" indent="-342900">
              <a:buFont typeface="Arial" panose="020B0604020202020204" pitchFamily="34" charset="0"/>
              <a:buChar char="•"/>
            </a:pPr>
            <a:r>
              <a:rPr lang="en-US" sz="2000" dirty="0"/>
              <a:t>Fiber optic Internet </a:t>
            </a:r>
          </a:p>
          <a:p>
            <a:pPr marL="342900" lvl="0" indent="-342900">
              <a:buFont typeface="Arial" panose="020B0604020202020204" pitchFamily="34" charset="0"/>
              <a:buChar char="•"/>
            </a:pPr>
            <a:r>
              <a:rPr lang="en-US" sz="2000" dirty="0"/>
              <a:t>Security support </a:t>
            </a:r>
          </a:p>
          <a:p>
            <a:pPr marL="342900" lvl="0" indent="-342900">
              <a:buFont typeface="Arial" panose="020B0604020202020204" pitchFamily="34" charset="0"/>
              <a:buChar char="•"/>
            </a:pPr>
            <a:r>
              <a:rPr lang="en-US" sz="2000" dirty="0"/>
              <a:t>Paperless billing </a:t>
            </a:r>
          </a:p>
          <a:p>
            <a:pPr marL="342900" lvl="0" indent="-342900">
              <a:buFont typeface="Arial" panose="020B0604020202020204" pitchFamily="34" charset="0"/>
              <a:buChar char="•"/>
            </a:pPr>
            <a:r>
              <a:rPr lang="en-US" sz="2000" dirty="0"/>
              <a:t>Electronic check </a:t>
            </a:r>
          </a:p>
          <a:p>
            <a:pPr marL="342900" lvl="0" indent="-342900">
              <a:buFont typeface="Arial" panose="020B0604020202020204" pitchFamily="34" charset="0"/>
              <a:buChar char="•"/>
            </a:pPr>
            <a:r>
              <a:rPr lang="en-US" sz="2000" dirty="0"/>
              <a:t>Total Charges </a:t>
            </a:r>
          </a:p>
          <a:p>
            <a:pPr marL="342900" lvl="0" indent="-342900">
              <a:buFont typeface="Arial" panose="020B0604020202020204" pitchFamily="34" charset="0"/>
              <a:buChar char="•"/>
            </a:pPr>
            <a:r>
              <a:rPr lang="en-US" sz="2000" dirty="0"/>
              <a:t>Technical support </a:t>
            </a:r>
          </a:p>
          <a:p>
            <a:pPr marL="342900" lvl="0" indent="-342900">
              <a:buFont typeface="Arial" panose="020B0604020202020204" pitchFamily="34" charset="0"/>
              <a:buChar char="•"/>
            </a:pPr>
            <a:r>
              <a:rPr lang="en-US" sz="2000" dirty="0"/>
              <a:t>Device protection </a:t>
            </a:r>
          </a:p>
          <a:p>
            <a:pPr>
              <a:buNone/>
            </a:pPr>
            <a:r>
              <a:rPr lang="en-US" sz="2000" b="1" dirty="0"/>
              <a:t>Prediction:</a:t>
            </a:r>
          </a:p>
          <a:p>
            <a:pPr>
              <a:buNone/>
            </a:pPr>
            <a:r>
              <a:rPr lang="en-US" sz="2000" b="1" dirty="0"/>
              <a:t>Churn</a:t>
            </a:r>
            <a:endParaRPr lang="en-US" sz="2000" dirty="0"/>
          </a:p>
          <a:p>
            <a:pPr>
              <a:buNone/>
            </a:pPr>
            <a:r>
              <a:rPr lang="en-US" sz="2000" b="1" dirty="0"/>
              <a:t>LIME explained probability:</a:t>
            </a:r>
          </a:p>
          <a:p>
            <a:pPr>
              <a:buNone/>
            </a:pPr>
            <a:r>
              <a:rPr lang="en-US" sz="2000" b="1" dirty="0"/>
              <a:t>58.89%</a:t>
            </a:r>
            <a:endParaRPr lang="en-US" sz="2000" dirty="0"/>
          </a:p>
          <a:p>
            <a:pPr>
              <a:buNone/>
            </a:pPr>
            <a:r>
              <a:rPr lang="en-US" sz="2000" b="1" dirty="0"/>
              <a:t>LIME fidelity:</a:t>
            </a:r>
          </a:p>
          <a:p>
            <a:pPr>
              <a:buNone/>
            </a:pPr>
            <a:r>
              <a:rPr lang="en-US" sz="2000" b="1" dirty="0"/>
              <a:t>R² = 0.965</a:t>
            </a:r>
            <a:endParaRPr lang="en-US" sz="2000" dirty="0"/>
          </a:p>
        </p:txBody>
      </p:sp>
      <p:sp>
        <p:nvSpPr>
          <p:cNvPr id="8" name="TextBox 7">
            <a:extLst>
              <a:ext uri="{FF2B5EF4-FFF2-40B4-BE49-F238E27FC236}">
                <a16:creationId xmlns:a16="http://schemas.microsoft.com/office/drawing/2014/main" id="{B27D241C-B8DD-A399-EED1-7CF1F4B2F8BC}"/>
              </a:ext>
            </a:extLst>
          </p:cNvPr>
          <p:cNvSpPr txBox="1"/>
          <p:nvPr/>
        </p:nvSpPr>
        <p:spPr>
          <a:xfrm>
            <a:off x="762000" y="571206"/>
            <a:ext cx="8615680" cy="584775"/>
          </a:xfrm>
          <a:prstGeom prst="rect">
            <a:avLst/>
          </a:prstGeom>
          <a:noFill/>
        </p:spPr>
        <p:txBody>
          <a:bodyPr wrap="square">
            <a:spAutoFit/>
          </a:bodyPr>
          <a:lstStyle/>
          <a:p>
            <a:pPr>
              <a:defRPr sz="2500" b="1">
                <a:solidFill>
                  <a:srgbClr val="FFFFFF"/>
                </a:solidFill>
              </a:defRPr>
            </a:pPr>
            <a:r>
              <a:rPr lang="en-US" sz="3200" dirty="0"/>
              <a:t>44. Telco Customer Churn – LIME Explanation</a:t>
            </a:r>
          </a:p>
        </p:txBody>
      </p:sp>
    </p:spTree>
    <p:extLst>
      <p:ext uri="{BB962C8B-B14F-4D97-AF65-F5344CB8AC3E}">
        <p14:creationId xmlns:p14="http://schemas.microsoft.com/office/powerpoint/2010/main" val="329732057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F6D78CC-C245-9DAF-7211-D24F20E4A048}"/>
              </a:ext>
            </a:extLst>
          </p:cNvPr>
          <p:cNvSpPr/>
          <p:nvPr/>
        </p:nvSpPr>
        <p:spPr>
          <a:xfrm>
            <a:off x="305" y="351606"/>
            <a:ext cx="12191695" cy="1034143"/>
          </a:xfrm>
          <a:prstGeom prst="rect">
            <a:avLst/>
          </a:prstGeom>
          <a:solidFill>
            <a:srgbClr val="192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2" name="Table 1">
            <a:extLst>
              <a:ext uri="{FF2B5EF4-FFF2-40B4-BE49-F238E27FC236}">
                <a16:creationId xmlns:a16="http://schemas.microsoft.com/office/drawing/2014/main" id="{2BD4E020-8728-F299-B27D-F4106C6E5D42}"/>
              </a:ext>
            </a:extLst>
          </p:cNvPr>
          <p:cNvGraphicFramePr>
            <a:graphicFrameLocks noGrp="1"/>
          </p:cNvGraphicFramePr>
          <p:nvPr>
            <p:extLst>
              <p:ext uri="{D42A27DB-BD31-4B8C-83A1-F6EECF244321}">
                <p14:modId xmlns:p14="http://schemas.microsoft.com/office/powerpoint/2010/main" val="3152416868"/>
              </p:ext>
            </p:extLst>
          </p:nvPr>
        </p:nvGraphicFramePr>
        <p:xfrm>
          <a:off x="457200" y="1878410"/>
          <a:ext cx="11043920" cy="4217592"/>
        </p:xfrm>
        <a:graphic>
          <a:graphicData uri="http://schemas.openxmlformats.org/drawingml/2006/table">
            <a:tbl>
              <a:tblPr>
                <a:tableStyleId>{5C22544A-7EE6-4342-B048-85BDC9FD1C3A}</a:tableStyleId>
              </a:tblPr>
              <a:tblGrid>
                <a:gridCol w="2760980">
                  <a:extLst>
                    <a:ext uri="{9D8B030D-6E8A-4147-A177-3AD203B41FA5}">
                      <a16:colId xmlns:a16="http://schemas.microsoft.com/office/drawing/2014/main" val="2730885606"/>
                    </a:ext>
                  </a:extLst>
                </a:gridCol>
                <a:gridCol w="2760980">
                  <a:extLst>
                    <a:ext uri="{9D8B030D-6E8A-4147-A177-3AD203B41FA5}">
                      <a16:colId xmlns:a16="http://schemas.microsoft.com/office/drawing/2014/main" val="115792552"/>
                    </a:ext>
                  </a:extLst>
                </a:gridCol>
                <a:gridCol w="2760980">
                  <a:extLst>
                    <a:ext uri="{9D8B030D-6E8A-4147-A177-3AD203B41FA5}">
                      <a16:colId xmlns:a16="http://schemas.microsoft.com/office/drawing/2014/main" val="2527900128"/>
                    </a:ext>
                  </a:extLst>
                </a:gridCol>
                <a:gridCol w="2760980">
                  <a:extLst>
                    <a:ext uri="{9D8B030D-6E8A-4147-A177-3AD203B41FA5}">
                      <a16:colId xmlns:a16="http://schemas.microsoft.com/office/drawing/2014/main" val="3718982791"/>
                    </a:ext>
                  </a:extLst>
                </a:gridCol>
              </a:tblGrid>
              <a:tr h="1054398">
                <a:tc>
                  <a:txBody>
                    <a:bodyPr/>
                    <a:lstStyle/>
                    <a:p>
                      <a:pPr>
                        <a:buNone/>
                      </a:pPr>
                      <a:r>
                        <a:rPr lang="en-US"/>
                        <a:t>Dataset</a:t>
                      </a:r>
                    </a:p>
                  </a:txBody>
                  <a:tcPr anchor="ctr"/>
                </a:tc>
                <a:tc>
                  <a:txBody>
                    <a:bodyPr/>
                    <a:lstStyle/>
                    <a:p>
                      <a:pPr algn="r">
                        <a:buNone/>
                      </a:pPr>
                      <a:r>
                        <a:rPr lang="en-US"/>
                        <a:t>SHAP Fidelity</a:t>
                      </a:r>
                    </a:p>
                  </a:txBody>
                  <a:tcPr anchor="ctr"/>
                </a:tc>
                <a:tc>
                  <a:txBody>
                    <a:bodyPr/>
                    <a:lstStyle/>
                    <a:p>
                      <a:pPr algn="r">
                        <a:buNone/>
                      </a:pPr>
                      <a:r>
                        <a:rPr lang="en-US"/>
                        <a:t>LIME Fidelity</a:t>
                      </a:r>
                    </a:p>
                  </a:txBody>
                  <a:tcPr anchor="ctr"/>
                </a:tc>
                <a:tc>
                  <a:txBody>
                    <a:bodyPr/>
                    <a:lstStyle/>
                    <a:p>
                      <a:pPr>
                        <a:buNone/>
                      </a:pPr>
                      <a:r>
                        <a:rPr lang="en-US"/>
                        <a:t>Main XAI Observation</a:t>
                      </a:r>
                    </a:p>
                  </a:txBody>
                  <a:tcPr anchor="ctr"/>
                </a:tc>
                <a:extLst>
                  <a:ext uri="{0D108BD9-81ED-4DB2-BD59-A6C34878D82A}">
                    <a16:rowId xmlns:a16="http://schemas.microsoft.com/office/drawing/2014/main" val="3838472705"/>
                  </a:ext>
                </a:extLst>
              </a:tr>
              <a:tr h="1054398">
                <a:tc>
                  <a:txBody>
                    <a:bodyPr/>
                    <a:lstStyle/>
                    <a:p>
                      <a:pPr>
                        <a:buNone/>
                      </a:pPr>
                      <a:r>
                        <a:rPr lang="en-US"/>
                        <a:t>Bank</a:t>
                      </a:r>
                    </a:p>
                  </a:txBody>
                  <a:tcPr anchor="ctr"/>
                </a:tc>
                <a:tc>
                  <a:txBody>
                    <a:bodyPr/>
                    <a:lstStyle/>
                    <a:p>
                      <a:pPr algn="r">
                        <a:buNone/>
                      </a:pPr>
                      <a:r>
                        <a:rPr lang="en-US"/>
                        <a:t>1.000</a:t>
                      </a:r>
                    </a:p>
                  </a:txBody>
                  <a:tcPr anchor="ctr"/>
                </a:tc>
                <a:tc>
                  <a:txBody>
                    <a:bodyPr/>
                    <a:lstStyle/>
                    <a:p>
                      <a:pPr algn="r">
                        <a:buNone/>
                      </a:pPr>
                      <a:r>
                        <a:rPr lang="en-US"/>
                        <a:t>0.643</a:t>
                      </a:r>
                    </a:p>
                  </a:txBody>
                  <a:tcPr anchor="ctr"/>
                </a:tc>
                <a:tc>
                  <a:txBody>
                    <a:bodyPr/>
                    <a:lstStyle/>
                    <a:p>
                      <a:pPr>
                        <a:buNone/>
                      </a:pPr>
                      <a:r>
                        <a:rPr lang="en-US" dirty="0"/>
                        <a:t>Strong global/local feature agreement</a:t>
                      </a:r>
                    </a:p>
                  </a:txBody>
                  <a:tcPr anchor="ctr"/>
                </a:tc>
                <a:extLst>
                  <a:ext uri="{0D108BD9-81ED-4DB2-BD59-A6C34878D82A}">
                    <a16:rowId xmlns:a16="http://schemas.microsoft.com/office/drawing/2014/main" val="2017297577"/>
                  </a:ext>
                </a:extLst>
              </a:tr>
              <a:tr h="1054398">
                <a:tc>
                  <a:txBody>
                    <a:bodyPr/>
                    <a:lstStyle/>
                    <a:p>
                      <a:pPr>
                        <a:buNone/>
                      </a:pPr>
                      <a:r>
                        <a:rPr lang="en-US"/>
                        <a:t>Online Retail</a:t>
                      </a:r>
                    </a:p>
                  </a:txBody>
                  <a:tcPr anchor="ctr"/>
                </a:tc>
                <a:tc>
                  <a:txBody>
                    <a:bodyPr/>
                    <a:lstStyle/>
                    <a:p>
                      <a:pPr algn="r">
                        <a:buNone/>
                      </a:pPr>
                      <a:r>
                        <a:rPr lang="en-US"/>
                        <a:t>1.000</a:t>
                      </a:r>
                    </a:p>
                  </a:txBody>
                  <a:tcPr anchor="ctr"/>
                </a:tc>
                <a:tc>
                  <a:txBody>
                    <a:bodyPr/>
                    <a:lstStyle/>
                    <a:p>
                      <a:pPr algn="r">
                        <a:buNone/>
                      </a:pPr>
                      <a:r>
                        <a:rPr lang="en-US"/>
                        <a:t>Local explanation</a:t>
                      </a:r>
                    </a:p>
                  </a:txBody>
                  <a:tcPr anchor="ctr"/>
                </a:tc>
                <a:tc>
                  <a:txBody>
                    <a:bodyPr/>
                    <a:lstStyle/>
                    <a:p>
                      <a:pPr>
                        <a:buNone/>
                      </a:pPr>
                      <a:r>
                        <a:rPr lang="en-US"/>
                        <a:t>Representation differences</a:t>
                      </a:r>
                    </a:p>
                  </a:txBody>
                  <a:tcPr anchor="ctr"/>
                </a:tc>
                <a:extLst>
                  <a:ext uri="{0D108BD9-81ED-4DB2-BD59-A6C34878D82A}">
                    <a16:rowId xmlns:a16="http://schemas.microsoft.com/office/drawing/2014/main" val="1768342330"/>
                  </a:ext>
                </a:extLst>
              </a:tr>
              <a:tr h="1054398">
                <a:tc>
                  <a:txBody>
                    <a:bodyPr/>
                    <a:lstStyle/>
                    <a:p>
                      <a:pPr>
                        <a:buNone/>
                      </a:pPr>
                      <a:r>
                        <a:rPr lang="en-US"/>
                        <a:t>Telco</a:t>
                      </a:r>
                    </a:p>
                  </a:txBody>
                  <a:tcPr anchor="ctr"/>
                </a:tc>
                <a:tc>
                  <a:txBody>
                    <a:bodyPr/>
                    <a:lstStyle/>
                    <a:p>
                      <a:pPr algn="r">
                        <a:buNone/>
                      </a:pPr>
                      <a:r>
                        <a:rPr lang="en-US"/>
                        <a:t>1.000</a:t>
                      </a:r>
                    </a:p>
                  </a:txBody>
                  <a:tcPr anchor="ctr"/>
                </a:tc>
                <a:tc>
                  <a:txBody>
                    <a:bodyPr/>
                    <a:lstStyle/>
                    <a:p>
                      <a:pPr algn="r">
                        <a:buNone/>
                      </a:pPr>
                      <a:r>
                        <a:rPr lang="en-US"/>
                        <a:t>0.965</a:t>
                      </a:r>
                    </a:p>
                  </a:txBody>
                  <a:tcPr anchor="ctr"/>
                </a:tc>
                <a:tc>
                  <a:txBody>
                    <a:bodyPr/>
                    <a:lstStyle/>
                    <a:p>
                      <a:pPr>
                        <a:buNone/>
                      </a:pPr>
                      <a:r>
                        <a:rPr lang="en-US" dirty="0"/>
                        <a:t>Strong local surrogate fidelity</a:t>
                      </a:r>
                    </a:p>
                  </a:txBody>
                  <a:tcPr anchor="ctr"/>
                </a:tc>
                <a:extLst>
                  <a:ext uri="{0D108BD9-81ED-4DB2-BD59-A6C34878D82A}">
                    <a16:rowId xmlns:a16="http://schemas.microsoft.com/office/drawing/2014/main" val="3544616021"/>
                  </a:ext>
                </a:extLst>
              </a:tr>
            </a:tbl>
          </a:graphicData>
        </a:graphic>
      </p:graphicFrame>
      <p:sp>
        <p:nvSpPr>
          <p:cNvPr id="7" name="TextBox 6">
            <a:extLst>
              <a:ext uri="{FF2B5EF4-FFF2-40B4-BE49-F238E27FC236}">
                <a16:creationId xmlns:a16="http://schemas.microsoft.com/office/drawing/2014/main" id="{524AD89F-C922-7694-08F1-DDE3E1C86523}"/>
              </a:ext>
            </a:extLst>
          </p:cNvPr>
          <p:cNvSpPr txBox="1"/>
          <p:nvPr/>
        </p:nvSpPr>
        <p:spPr>
          <a:xfrm>
            <a:off x="802640" y="550774"/>
            <a:ext cx="6136640" cy="584775"/>
          </a:xfrm>
          <a:prstGeom prst="rect">
            <a:avLst/>
          </a:prstGeom>
          <a:noFill/>
        </p:spPr>
        <p:txBody>
          <a:bodyPr wrap="square">
            <a:spAutoFit/>
          </a:bodyPr>
          <a:lstStyle/>
          <a:p>
            <a:pPr>
              <a:defRPr sz="2500" b="1">
                <a:solidFill>
                  <a:srgbClr val="FFFFFF"/>
                </a:solidFill>
              </a:defRPr>
            </a:pPr>
            <a:r>
              <a:rPr lang="en-US" sz="3200" dirty="0"/>
              <a:t>45. Overall XAI Evaluation</a:t>
            </a:r>
          </a:p>
        </p:txBody>
      </p:sp>
    </p:spTree>
    <p:extLst>
      <p:ext uri="{BB962C8B-B14F-4D97-AF65-F5344CB8AC3E}">
        <p14:creationId xmlns:p14="http://schemas.microsoft.com/office/powerpoint/2010/main" val="202693357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C0884AC-6E3E-6CE5-51EF-A69525BFF6A5}"/>
              </a:ext>
            </a:extLst>
          </p:cNvPr>
          <p:cNvSpPr/>
          <p:nvPr/>
        </p:nvSpPr>
        <p:spPr>
          <a:xfrm>
            <a:off x="305" y="351606"/>
            <a:ext cx="12191695" cy="1034143"/>
          </a:xfrm>
          <a:prstGeom prst="rect">
            <a:avLst/>
          </a:prstGeom>
          <a:solidFill>
            <a:srgbClr val="192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 name="Content Placeholder 7">
            <a:extLst>
              <a:ext uri="{FF2B5EF4-FFF2-40B4-BE49-F238E27FC236}">
                <a16:creationId xmlns:a16="http://schemas.microsoft.com/office/drawing/2014/main" id="{CF191E9A-ADAD-39AC-D7A8-56B45F750C79}"/>
              </a:ext>
            </a:extLst>
          </p:cNvPr>
          <p:cNvPicPr>
            <a:picLocks noChangeAspect="1"/>
          </p:cNvPicPr>
          <p:nvPr/>
        </p:nvPicPr>
        <p:blipFill>
          <a:blip r:embed="rId2"/>
          <a:stretch>
            <a:fillRect/>
          </a:stretch>
        </p:blipFill>
        <p:spPr>
          <a:xfrm>
            <a:off x="427961" y="1659439"/>
            <a:ext cx="11038800" cy="3004001"/>
          </a:xfrm>
          <a:prstGeom prst="rect">
            <a:avLst/>
          </a:prstGeom>
        </p:spPr>
      </p:pic>
      <p:sp>
        <p:nvSpPr>
          <p:cNvPr id="7" name="TextBox 6">
            <a:extLst>
              <a:ext uri="{FF2B5EF4-FFF2-40B4-BE49-F238E27FC236}">
                <a16:creationId xmlns:a16="http://schemas.microsoft.com/office/drawing/2014/main" id="{70F0CE54-31B4-858D-A159-BFA8C3465257}"/>
              </a:ext>
            </a:extLst>
          </p:cNvPr>
          <p:cNvSpPr txBox="1"/>
          <p:nvPr/>
        </p:nvSpPr>
        <p:spPr>
          <a:xfrm>
            <a:off x="763241" y="576289"/>
            <a:ext cx="6136640" cy="584775"/>
          </a:xfrm>
          <a:prstGeom prst="rect">
            <a:avLst/>
          </a:prstGeom>
          <a:noFill/>
        </p:spPr>
        <p:txBody>
          <a:bodyPr wrap="square">
            <a:spAutoFit/>
          </a:bodyPr>
          <a:lstStyle/>
          <a:p>
            <a:pPr>
              <a:defRPr sz="2500" b="1">
                <a:solidFill>
                  <a:srgbClr val="FFFFFF"/>
                </a:solidFill>
              </a:defRPr>
            </a:pPr>
            <a:r>
              <a:rPr lang="en-US" sz="3200" dirty="0"/>
              <a:t>46. Results – Bank Marketing</a:t>
            </a:r>
          </a:p>
        </p:txBody>
      </p:sp>
    </p:spTree>
    <p:extLst>
      <p:ext uri="{BB962C8B-B14F-4D97-AF65-F5344CB8AC3E}">
        <p14:creationId xmlns:p14="http://schemas.microsoft.com/office/powerpoint/2010/main" val="155642539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B07C401-4515-F12D-8ED1-A79C7F3CB9D3}"/>
              </a:ext>
            </a:extLst>
          </p:cNvPr>
          <p:cNvSpPr/>
          <p:nvPr/>
        </p:nvSpPr>
        <p:spPr>
          <a:xfrm>
            <a:off x="305" y="351606"/>
            <a:ext cx="12191695" cy="1034143"/>
          </a:xfrm>
          <a:prstGeom prst="rect">
            <a:avLst/>
          </a:prstGeom>
          <a:solidFill>
            <a:srgbClr val="192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a:extLst>
              <a:ext uri="{FF2B5EF4-FFF2-40B4-BE49-F238E27FC236}">
                <a16:creationId xmlns:a16="http://schemas.microsoft.com/office/drawing/2014/main" id="{2B3E2F30-0324-4ADE-F52D-6C333AD0F01E}"/>
              </a:ext>
            </a:extLst>
          </p:cNvPr>
          <p:cNvPicPr>
            <a:picLocks noChangeAspect="1"/>
          </p:cNvPicPr>
          <p:nvPr/>
        </p:nvPicPr>
        <p:blipFill>
          <a:blip r:embed="rId2"/>
          <a:stretch>
            <a:fillRect/>
          </a:stretch>
        </p:blipFill>
        <p:spPr>
          <a:xfrm>
            <a:off x="431984" y="1744128"/>
            <a:ext cx="11002911" cy="3105583"/>
          </a:xfrm>
          <a:prstGeom prst="rect">
            <a:avLst/>
          </a:prstGeom>
        </p:spPr>
      </p:pic>
    </p:spTree>
    <p:extLst>
      <p:ext uri="{BB962C8B-B14F-4D97-AF65-F5344CB8AC3E}">
        <p14:creationId xmlns:p14="http://schemas.microsoft.com/office/powerpoint/2010/main" val="421003903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E77D382-DE58-E0A0-3CE9-71C88B7C5550}"/>
              </a:ext>
            </a:extLst>
          </p:cNvPr>
          <p:cNvPicPr>
            <a:picLocks noChangeAspect="1"/>
          </p:cNvPicPr>
          <p:nvPr/>
        </p:nvPicPr>
        <p:blipFill>
          <a:blip r:embed="rId2"/>
          <a:stretch>
            <a:fillRect/>
          </a:stretch>
        </p:blipFill>
        <p:spPr>
          <a:xfrm>
            <a:off x="691845" y="207746"/>
            <a:ext cx="10382555" cy="6442508"/>
          </a:xfrm>
          <a:prstGeom prst="rect">
            <a:avLst/>
          </a:prstGeom>
        </p:spPr>
      </p:pic>
    </p:spTree>
    <p:extLst>
      <p:ext uri="{BB962C8B-B14F-4D97-AF65-F5344CB8AC3E}">
        <p14:creationId xmlns:p14="http://schemas.microsoft.com/office/powerpoint/2010/main" val="220852321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FD183C3-3E98-E171-2A60-BA0F65986532}"/>
              </a:ext>
            </a:extLst>
          </p:cNvPr>
          <p:cNvPicPr>
            <a:picLocks noChangeAspect="1"/>
          </p:cNvPicPr>
          <p:nvPr/>
        </p:nvPicPr>
        <p:blipFill>
          <a:blip r:embed="rId2"/>
          <a:stretch>
            <a:fillRect/>
          </a:stretch>
        </p:blipFill>
        <p:spPr>
          <a:xfrm>
            <a:off x="1788160" y="82852"/>
            <a:ext cx="7233667" cy="6348428"/>
          </a:xfrm>
          <a:prstGeom prst="rect">
            <a:avLst/>
          </a:prstGeom>
        </p:spPr>
      </p:pic>
    </p:spTree>
    <p:extLst>
      <p:ext uri="{BB962C8B-B14F-4D97-AF65-F5344CB8AC3E}">
        <p14:creationId xmlns:p14="http://schemas.microsoft.com/office/powerpoint/2010/main" val="131606750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E25819F-5254-6FBE-57E6-7511A6C4D92B}"/>
              </a:ext>
            </a:extLst>
          </p:cNvPr>
          <p:cNvPicPr>
            <a:picLocks noChangeAspect="1"/>
          </p:cNvPicPr>
          <p:nvPr/>
        </p:nvPicPr>
        <p:blipFill>
          <a:blip r:embed="rId2"/>
          <a:stretch>
            <a:fillRect/>
          </a:stretch>
        </p:blipFill>
        <p:spPr>
          <a:xfrm>
            <a:off x="1881446" y="132080"/>
            <a:ext cx="6644528" cy="6339840"/>
          </a:xfrm>
          <a:prstGeom prst="rect">
            <a:avLst/>
          </a:prstGeom>
        </p:spPr>
      </p:pic>
    </p:spTree>
    <p:extLst>
      <p:ext uri="{BB962C8B-B14F-4D97-AF65-F5344CB8AC3E}">
        <p14:creationId xmlns:p14="http://schemas.microsoft.com/office/powerpoint/2010/main" val="259474404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6AB3217-E69F-B21D-407E-9D632D2EF30C}"/>
              </a:ext>
            </a:extLst>
          </p:cNvPr>
          <p:cNvPicPr>
            <a:picLocks noChangeAspect="1"/>
          </p:cNvPicPr>
          <p:nvPr/>
        </p:nvPicPr>
        <p:blipFill>
          <a:blip r:embed="rId2"/>
          <a:stretch>
            <a:fillRect/>
          </a:stretch>
        </p:blipFill>
        <p:spPr>
          <a:xfrm>
            <a:off x="2140208" y="226117"/>
            <a:ext cx="7095231" cy="6405765"/>
          </a:xfrm>
          <a:prstGeom prst="rect">
            <a:avLst/>
          </a:prstGeom>
        </p:spPr>
      </p:pic>
    </p:spTree>
    <p:extLst>
      <p:ext uri="{BB962C8B-B14F-4D97-AF65-F5344CB8AC3E}">
        <p14:creationId xmlns:p14="http://schemas.microsoft.com/office/powerpoint/2010/main" val="383507266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476BA9-55E1-28AE-1905-EAC7D594495E}"/>
              </a:ext>
            </a:extLst>
          </p:cNvPr>
          <p:cNvSpPr/>
          <p:nvPr/>
        </p:nvSpPr>
        <p:spPr>
          <a:xfrm>
            <a:off x="305" y="351606"/>
            <a:ext cx="12191695" cy="1034143"/>
          </a:xfrm>
          <a:prstGeom prst="rect">
            <a:avLst/>
          </a:prstGeom>
          <a:solidFill>
            <a:srgbClr val="192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Content Placeholder 7">
            <a:extLst>
              <a:ext uri="{FF2B5EF4-FFF2-40B4-BE49-F238E27FC236}">
                <a16:creationId xmlns:a16="http://schemas.microsoft.com/office/drawing/2014/main" id="{CE066BDF-5020-2898-FC28-CD53633B2E4F}"/>
              </a:ext>
            </a:extLst>
          </p:cNvPr>
          <p:cNvPicPr>
            <a:picLocks noChangeAspect="1"/>
          </p:cNvPicPr>
          <p:nvPr/>
        </p:nvPicPr>
        <p:blipFill>
          <a:blip r:embed="rId2"/>
          <a:stretch>
            <a:fillRect/>
          </a:stretch>
        </p:blipFill>
        <p:spPr>
          <a:xfrm>
            <a:off x="294638" y="1934147"/>
            <a:ext cx="11602723" cy="3145853"/>
          </a:xfrm>
          <a:prstGeom prst="rect">
            <a:avLst/>
          </a:prstGeom>
        </p:spPr>
      </p:pic>
      <p:sp>
        <p:nvSpPr>
          <p:cNvPr id="9" name="TextBox 8">
            <a:extLst>
              <a:ext uri="{FF2B5EF4-FFF2-40B4-BE49-F238E27FC236}">
                <a16:creationId xmlns:a16="http://schemas.microsoft.com/office/drawing/2014/main" id="{357921D7-0644-200E-CE48-256821BFDC50}"/>
              </a:ext>
            </a:extLst>
          </p:cNvPr>
          <p:cNvSpPr txBox="1"/>
          <p:nvPr/>
        </p:nvSpPr>
        <p:spPr>
          <a:xfrm>
            <a:off x="802640" y="576289"/>
            <a:ext cx="6136640" cy="584775"/>
          </a:xfrm>
          <a:prstGeom prst="rect">
            <a:avLst/>
          </a:prstGeom>
          <a:noFill/>
        </p:spPr>
        <p:txBody>
          <a:bodyPr wrap="square">
            <a:spAutoFit/>
          </a:bodyPr>
          <a:lstStyle/>
          <a:p>
            <a:pPr>
              <a:defRPr sz="2500" b="1">
                <a:solidFill>
                  <a:srgbClr val="FFFFFF"/>
                </a:solidFill>
              </a:defRPr>
            </a:pPr>
            <a:r>
              <a:rPr lang="en-US" sz="3200" dirty="0"/>
              <a:t>47. Results – Online Retail</a:t>
            </a:r>
          </a:p>
        </p:txBody>
      </p:sp>
    </p:spTree>
    <p:extLst>
      <p:ext uri="{BB962C8B-B14F-4D97-AF65-F5344CB8AC3E}">
        <p14:creationId xmlns:p14="http://schemas.microsoft.com/office/powerpoint/2010/main" val="134988709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4176B5A-9F97-2DDC-C098-EDC0D99D0147}"/>
              </a:ext>
            </a:extLst>
          </p:cNvPr>
          <p:cNvSpPr/>
          <p:nvPr/>
        </p:nvSpPr>
        <p:spPr>
          <a:xfrm>
            <a:off x="305" y="351606"/>
            <a:ext cx="12191695" cy="1034143"/>
          </a:xfrm>
          <a:prstGeom prst="rect">
            <a:avLst/>
          </a:prstGeom>
          <a:solidFill>
            <a:srgbClr val="192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a:extLst>
              <a:ext uri="{FF2B5EF4-FFF2-40B4-BE49-F238E27FC236}">
                <a16:creationId xmlns:a16="http://schemas.microsoft.com/office/drawing/2014/main" id="{77F8863F-8823-992D-1147-459745346599}"/>
              </a:ext>
            </a:extLst>
          </p:cNvPr>
          <p:cNvPicPr>
            <a:picLocks noChangeAspect="1"/>
          </p:cNvPicPr>
          <p:nvPr/>
        </p:nvPicPr>
        <p:blipFill>
          <a:blip r:embed="rId2"/>
          <a:stretch>
            <a:fillRect/>
          </a:stretch>
        </p:blipFill>
        <p:spPr>
          <a:xfrm>
            <a:off x="556439" y="1785708"/>
            <a:ext cx="11079121" cy="3286584"/>
          </a:xfrm>
          <a:prstGeom prst="rect">
            <a:avLst/>
          </a:prstGeom>
        </p:spPr>
      </p:pic>
    </p:spTree>
    <p:extLst>
      <p:ext uri="{BB962C8B-B14F-4D97-AF65-F5344CB8AC3E}">
        <p14:creationId xmlns:p14="http://schemas.microsoft.com/office/powerpoint/2010/main" val="369779385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D7D98EA-ECFC-2B78-5A04-E0926F18B746}"/>
              </a:ext>
            </a:extLst>
          </p:cNvPr>
          <p:cNvPicPr>
            <a:picLocks noChangeAspect="1"/>
          </p:cNvPicPr>
          <p:nvPr/>
        </p:nvPicPr>
        <p:blipFill>
          <a:blip r:embed="rId2"/>
          <a:stretch>
            <a:fillRect/>
          </a:stretch>
        </p:blipFill>
        <p:spPr>
          <a:xfrm>
            <a:off x="546913" y="13811"/>
            <a:ext cx="11098174" cy="6830378"/>
          </a:xfrm>
          <a:prstGeom prst="rect">
            <a:avLst/>
          </a:prstGeom>
        </p:spPr>
      </p:pic>
    </p:spTree>
    <p:extLst>
      <p:ext uri="{BB962C8B-B14F-4D97-AF65-F5344CB8AC3E}">
        <p14:creationId xmlns:p14="http://schemas.microsoft.com/office/powerpoint/2010/main" val="417792583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0F44B48-5858-A771-B147-36C503087767}"/>
              </a:ext>
            </a:extLst>
          </p:cNvPr>
          <p:cNvPicPr>
            <a:picLocks noChangeAspect="1"/>
          </p:cNvPicPr>
          <p:nvPr/>
        </p:nvPicPr>
        <p:blipFill>
          <a:blip r:embed="rId2"/>
          <a:stretch>
            <a:fillRect/>
          </a:stretch>
        </p:blipFill>
        <p:spPr>
          <a:xfrm>
            <a:off x="2123441" y="326031"/>
            <a:ext cx="6480234" cy="6205938"/>
          </a:xfrm>
          <a:prstGeom prst="rect">
            <a:avLst/>
          </a:prstGeom>
        </p:spPr>
      </p:pic>
    </p:spTree>
    <p:extLst>
      <p:ext uri="{BB962C8B-B14F-4D97-AF65-F5344CB8AC3E}">
        <p14:creationId xmlns:p14="http://schemas.microsoft.com/office/powerpoint/2010/main" val="20380287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E7EE3BB-019F-566E-EADC-E789D62CA0AA}"/>
              </a:ext>
            </a:extLst>
          </p:cNvPr>
          <p:cNvPicPr>
            <a:picLocks noChangeAspect="1"/>
          </p:cNvPicPr>
          <p:nvPr/>
        </p:nvPicPr>
        <p:blipFill>
          <a:blip r:embed="rId2"/>
          <a:stretch>
            <a:fillRect/>
          </a:stretch>
        </p:blipFill>
        <p:spPr>
          <a:xfrm>
            <a:off x="2143760" y="167836"/>
            <a:ext cx="6847840" cy="6522327"/>
          </a:xfrm>
          <a:prstGeom prst="rect">
            <a:avLst/>
          </a:prstGeom>
        </p:spPr>
      </p:pic>
    </p:spTree>
    <p:extLst>
      <p:ext uri="{BB962C8B-B14F-4D97-AF65-F5344CB8AC3E}">
        <p14:creationId xmlns:p14="http://schemas.microsoft.com/office/powerpoint/2010/main" val="304044377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AF4035D-07D5-F552-721B-6F03D08F635D}"/>
              </a:ext>
            </a:extLst>
          </p:cNvPr>
          <p:cNvPicPr>
            <a:picLocks noChangeAspect="1"/>
          </p:cNvPicPr>
          <p:nvPr/>
        </p:nvPicPr>
        <p:blipFill>
          <a:blip r:embed="rId2"/>
          <a:stretch>
            <a:fillRect/>
          </a:stretch>
        </p:blipFill>
        <p:spPr>
          <a:xfrm>
            <a:off x="2076080" y="184124"/>
            <a:ext cx="6610720" cy="6147018"/>
          </a:xfrm>
          <a:prstGeom prst="rect">
            <a:avLst/>
          </a:prstGeom>
        </p:spPr>
      </p:pic>
    </p:spTree>
    <p:extLst>
      <p:ext uri="{BB962C8B-B14F-4D97-AF65-F5344CB8AC3E}">
        <p14:creationId xmlns:p14="http://schemas.microsoft.com/office/powerpoint/2010/main" val="126541321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3F644F4-2656-4348-5731-130AC39B372C}"/>
              </a:ext>
            </a:extLst>
          </p:cNvPr>
          <p:cNvSpPr/>
          <p:nvPr/>
        </p:nvSpPr>
        <p:spPr>
          <a:xfrm>
            <a:off x="305" y="351606"/>
            <a:ext cx="12191695" cy="1034143"/>
          </a:xfrm>
          <a:prstGeom prst="rect">
            <a:avLst/>
          </a:prstGeom>
          <a:solidFill>
            <a:srgbClr val="192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Content Placeholder 7">
            <a:extLst>
              <a:ext uri="{FF2B5EF4-FFF2-40B4-BE49-F238E27FC236}">
                <a16:creationId xmlns:a16="http://schemas.microsoft.com/office/drawing/2014/main" id="{61E01558-EBD0-E53A-87D2-FEC334A5BC1B}"/>
              </a:ext>
            </a:extLst>
          </p:cNvPr>
          <p:cNvPicPr>
            <a:picLocks noChangeAspect="1"/>
          </p:cNvPicPr>
          <p:nvPr/>
        </p:nvPicPr>
        <p:blipFill>
          <a:blip r:embed="rId2"/>
          <a:stretch>
            <a:fillRect/>
          </a:stretch>
        </p:blipFill>
        <p:spPr>
          <a:xfrm>
            <a:off x="652780" y="1881199"/>
            <a:ext cx="10886440" cy="2985378"/>
          </a:xfrm>
          <a:prstGeom prst="rect">
            <a:avLst/>
          </a:prstGeom>
        </p:spPr>
      </p:pic>
      <p:sp>
        <p:nvSpPr>
          <p:cNvPr id="7" name="TextBox 6">
            <a:extLst>
              <a:ext uri="{FF2B5EF4-FFF2-40B4-BE49-F238E27FC236}">
                <a16:creationId xmlns:a16="http://schemas.microsoft.com/office/drawing/2014/main" id="{5C8644B3-28CE-B2CB-3C4F-6BF8D944D255}"/>
              </a:ext>
            </a:extLst>
          </p:cNvPr>
          <p:cNvSpPr txBox="1"/>
          <p:nvPr/>
        </p:nvSpPr>
        <p:spPr>
          <a:xfrm>
            <a:off x="716280" y="537633"/>
            <a:ext cx="7183120" cy="584775"/>
          </a:xfrm>
          <a:prstGeom prst="rect">
            <a:avLst/>
          </a:prstGeom>
          <a:noFill/>
        </p:spPr>
        <p:txBody>
          <a:bodyPr wrap="square">
            <a:spAutoFit/>
          </a:bodyPr>
          <a:lstStyle/>
          <a:p>
            <a:pPr>
              <a:defRPr sz="2500" b="1">
                <a:solidFill>
                  <a:srgbClr val="FFFFFF"/>
                </a:solidFill>
              </a:defRPr>
            </a:pPr>
            <a:r>
              <a:rPr lang="en-US" sz="3200" dirty="0"/>
              <a:t>48. Results – Telco Customer Churn</a:t>
            </a:r>
          </a:p>
        </p:txBody>
      </p:sp>
    </p:spTree>
    <p:extLst>
      <p:ext uri="{BB962C8B-B14F-4D97-AF65-F5344CB8AC3E}">
        <p14:creationId xmlns:p14="http://schemas.microsoft.com/office/powerpoint/2010/main" val="371664621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3AEE39F-D5F3-B443-73C6-FC11761F96CD}"/>
              </a:ext>
            </a:extLst>
          </p:cNvPr>
          <p:cNvSpPr/>
          <p:nvPr/>
        </p:nvSpPr>
        <p:spPr>
          <a:xfrm>
            <a:off x="305" y="351606"/>
            <a:ext cx="12191695" cy="1034143"/>
          </a:xfrm>
          <a:prstGeom prst="rect">
            <a:avLst/>
          </a:prstGeom>
          <a:solidFill>
            <a:srgbClr val="192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a:extLst>
              <a:ext uri="{FF2B5EF4-FFF2-40B4-BE49-F238E27FC236}">
                <a16:creationId xmlns:a16="http://schemas.microsoft.com/office/drawing/2014/main" id="{18146810-1A38-E62D-5229-31FE4FFF87BE}"/>
              </a:ext>
            </a:extLst>
          </p:cNvPr>
          <p:cNvPicPr>
            <a:picLocks noChangeAspect="1"/>
          </p:cNvPicPr>
          <p:nvPr/>
        </p:nvPicPr>
        <p:blipFill>
          <a:blip r:embed="rId2"/>
          <a:stretch>
            <a:fillRect/>
          </a:stretch>
        </p:blipFill>
        <p:spPr>
          <a:xfrm>
            <a:off x="450076" y="1737549"/>
            <a:ext cx="11088647" cy="1838582"/>
          </a:xfrm>
          <a:prstGeom prst="rect">
            <a:avLst/>
          </a:prstGeom>
        </p:spPr>
      </p:pic>
      <p:pic>
        <p:nvPicPr>
          <p:cNvPr id="8" name="Picture 7">
            <a:extLst>
              <a:ext uri="{FF2B5EF4-FFF2-40B4-BE49-F238E27FC236}">
                <a16:creationId xmlns:a16="http://schemas.microsoft.com/office/drawing/2014/main" id="{538F7E5D-5233-3390-279E-ACF7E0861BB9}"/>
              </a:ext>
            </a:extLst>
          </p:cNvPr>
          <p:cNvPicPr>
            <a:picLocks noChangeAspect="1"/>
          </p:cNvPicPr>
          <p:nvPr/>
        </p:nvPicPr>
        <p:blipFill>
          <a:blip r:embed="rId3"/>
          <a:stretch>
            <a:fillRect/>
          </a:stretch>
        </p:blipFill>
        <p:spPr>
          <a:xfrm>
            <a:off x="678707" y="3792404"/>
            <a:ext cx="10860016" cy="1914792"/>
          </a:xfrm>
          <a:prstGeom prst="rect">
            <a:avLst/>
          </a:prstGeom>
        </p:spPr>
      </p:pic>
    </p:spTree>
    <p:extLst>
      <p:ext uri="{BB962C8B-B14F-4D97-AF65-F5344CB8AC3E}">
        <p14:creationId xmlns:p14="http://schemas.microsoft.com/office/powerpoint/2010/main" val="392003201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0F78B2A-24FE-DE4B-168D-03C4D1B07A4B}"/>
              </a:ext>
            </a:extLst>
          </p:cNvPr>
          <p:cNvSpPr/>
          <p:nvPr/>
        </p:nvSpPr>
        <p:spPr>
          <a:xfrm>
            <a:off x="305" y="351606"/>
            <a:ext cx="12191695" cy="1034143"/>
          </a:xfrm>
          <a:prstGeom prst="rect">
            <a:avLst/>
          </a:prstGeom>
          <a:solidFill>
            <a:srgbClr val="192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a:extLst>
              <a:ext uri="{FF2B5EF4-FFF2-40B4-BE49-F238E27FC236}">
                <a16:creationId xmlns:a16="http://schemas.microsoft.com/office/drawing/2014/main" id="{B2B2C6E4-83A7-1332-C6FC-6354CD3052E1}"/>
              </a:ext>
            </a:extLst>
          </p:cNvPr>
          <p:cNvPicPr>
            <a:picLocks noChangeAspect="1"/>
          </p:cNvPicPr>
          <p:nvPr/>
        </p:nvPicPr>
        <p:blipFill>
          <a:blip r:embed="rId2"/>
          <a:stretch>
            <a:fillRect/>
          </a:stretch>
        </p:blipFill>
        <p:spPr>
          <a:xfrm>
            <a:off x="625964" y="1594790"/>
            <a:ext cx="11183911" cy="4725059"/>
          </a:xfrm>
          <a:prstGeom prst="rect">
            <a:avLst/>
          </a:prstGeom>
        </p:spPr>
      </p:pic>
    </p:spTree>
    <p:extLst>
      <p:ext uri="{BB962C8B-B14F-4D97-AF65-F5344CB8AC3E}">
        <p14:creationId xmlns:p14="http://schemas.microsoft.com/office/powerpoint/2010/main" val="17609370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52CD409-E572-E900-D076-09630AB6E8EC}"/>
              </a:ext>
            </a:extLst>
          </p:cNvPr>
          <p:cNvPicPr>
            <a:picLocks noChangeAspect="1"/>
          </p:cNvPicPr>
          <p:nvPr/>
        </p:nvPicPr>
        <p:blipFill>
          <a:blip r:embed="rId2"/>
          <a:stretch>
            <a:fillRect/>
          </a:stretch>
        </p:blipFill>
        <p:spPr>
          <a:xfrm>
            <a:off x="2553272" y="565734"/>
            <a:ext cx="6204647" cy="5726531"/>
          </a:xfrm>
          <a:prstGeom prst="rect">
            <a:avLst/>
          </a:prstGeom>
        </p:spPr>
      </p:pic>
    </p:spTree>
    <p:extLst>
      <p:ext uri="{BB962C8B-B14F-4D97-AF65-F5344CB8AC3E}">
        <p14:creationId xmlns:p14="http://schemas.microsoft.com/office/powerpoint/2010/main" val="43331712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C139F8D-3FB4-6E32-A851-B5AD81938825}"/>
              </a:ext>
            </a:extLst>
          </p:cNvPr>
          <p:cNvPicPr>
            <a:picLocks noChangeAspect="1"/>
          </p:cNvPicPr>
          <p:nvPr/>
        </p:nvPicPr>
        <p:blipFill>
          <a:blip r:embed="rId2"/>
          <a:stretch>
            <a:fillRect/>
          </a:stretch>
        </p:blipFill>
        <p:spPr>
          <a:xfrm>
            <a:off x="2443108" y="434934"/>
            <a:ext cx="5989692" cy="5765080"/>
          </a:xfrm>
          <a:prstGeom prst="rect">
            <a:avLst/>
          </a:prstGeom>
        </p:spPr>
      </p:pic>
    </p:spTree>
    <p:extLst>
      <p:ext uri="{BB962C8B-B14F-4D97-AF65-F5344CB8AC3E}">
        <p14:creationId xmlns:p14="http://schemas.microsoft.com/office/powerpoint/2010/main" val="410445441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8484E7D-46C8-6DF8-E98F-C2561A505BCA}"/>
              </a:ext>
            </a:extLst>
          </p:cNvPr>
          <p:cNvPicPr>
            <a:picLocks noChangeAspect="1"/>
          </p:cNvPicPr>
          <p:nvPr/>
        </p:nvPicPr>
        <p:blipFill>
          <a:blip r:embed="rId2"/>
          <a:stretch>
            <a:fillRect/>
          </a:stretch>
        </p:blipFill>
        <p:spPr>
          <a:xfrm>
            <a:off x="2464694" y="528535"/>
            <a:ext cx="6415145" cy="5800929"/>
          </a:xfrm>
          <a:prstGeom prst="rect">
            <a:avLst/>
          </a:prstGeom>
        </p:spPr>
      </p:pic>
    </p:spTree>
    <p:extLst>
      <p:ext uri="{BB962C8B-B14F-4D97-AF65-F5344CB8AC3E}">
        <p14:creationId xmlns:p14="http://schemas.microsoft.com/office/powerpoint/2010/main" val="296254354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FF26091-B03C-CCAF-A61F-0DBDEA5C8C44}"/>
              </a:ext>
            </a:extLst>
          </p:cNvPr>
          <p:cNvPicPr>
            <a:picLocks noChangeAspect="1"/>
          </p:cNvPicPr>
          <p:nvPr/>
        </p:nvPicPr>
        <p:blipFill>
          <a:blip r:embed="rId2"/>
          <a:stretch>
            <a:fillRect/>
          </a:stretch>
        </p:blipFill>
        <p:spPr>
          <a:xfrm>
            <a:off x="0" y="491581"/>
            <a:ext cx="12192000" cy="5630997"/>
          </a:xfrm>
          <a:prstGeom prst="rect">
            <a:avLst/>
          </a:prstGeom>
        </p:spPr>
      </p:pic>
    </p:spTree>
    <p:extLst>
      <p:ext uri="{BB962C8B-B14F-4D97-AF65-F5344CB8AC3E}">
        <p14:creationId xmlns:p14="http://schemas.microsoft.com/office/powerpoint/2010/main" val="22153454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72E4042-5973-D834-D802-E96FE2A6B44F}"/>
              </a:ext>
            </a:extLst>
          </p:cNvPr>
          <p:cNvPicPr>
            <a:picLocks noChangeAspect="1"/>
          </p:cNvPicPr>
          <p:nvPr/>
        </p:nvPicPr>
        <p:blipFill>
          <a:blip r:embed="rId2"/>
          <a:stretch>
            <a:fillRect/>
          </a:stretch>
        </p:blipFill>
        <p:spPr>
          <a:xfrm>
            <a:off x="3880544" y="0"/>
            <a:ext cx="4430911" cy="6858000"/>
          </a:xfrm>
          <a:prstGeom prst="rect">
            <a:avLst/>
          </a:prstGeom>
        </p:spPr>
      </p:pic>
    </p:spTree>
    <p:extLst>
      <p:ext uri="{BB962C8B-B14F-4D97-AF65-F5344CB8AC3E}">
        <p14:creationId xmlns:p14="http://schemas.microsoft.com/office/powerpoint/2010/main" val="139526417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546D71F-BFA2-2D31-C010-AD62EDD696F3}"/>
              </a:ext>
            </a:extLst>
          </p:cNvPr>
          <p:cNvSpPr/>
          <p:nvPr/>
        </p:nvSpPr>
        <p:spPr>
          <a:xfrm>
            <a:off x="305" y="351606"/>
            <a:ext cx="12191695" cy="1034143"/>
          </a:xfrm>
          <a:prstGeom prst="rect">
            <a:avLst/>
          </a:prstGeom>
          <a:solidFill>
            <a:srgbClr val="192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5ED852F1-7935-7FAF-B905-F59CABBC091D}"/>
              </a:ext>
            </a:extLst>
          </p:cNvPr>
          <p:cNvSpPr txBox="1"/>
          <p:nvPr/>
        </p:nvSpPr>
        <p:spPr>
          <a:xfrm>
            <a:off x="599440" y="1823080"/>
            <a:ext cx="10525760" cy="4031873"/>
          </a:xfrm>
          <a:prstGeom prst="rect">
            <a:avLst/>
          </a:prstGeom>
          <a:noFill/>
        </p:spPr>
        <p:txBody>
          <a:bodyPr wrap="square">
            <a:spAutoFit/>
          </a:bodyPr>
          <a:lstStyle/>
          <a:p>
            <a:r>
              <a:rPr lang="en-US" sz="3200" dirty="0">
                <a:solidFill>
                  <a:srgbClr val="64748B"/>
                </a:solidFill>
                <a:cs typeface="Times New Roman" panose="02020603050405020304" pitchFamily="18" charset="0"/>
              </a:rPr>
              <a:t>• Implement and validate the hybrid prediction layer.
• Implement SHAP–LIME explanation-consistency score.
• Refine Online Retail evaluation using a leakage-aware split and prediction setup.
• Tune model thresholds and hyperparameters.
• Complete comparative business insights and final paper experiments.
• Integrate validated outputs into the dashboard.</a:t>
            </a:r>
          </a:p>
        </p:txBody>
      </p:sp>
      <p:sp>
        <p:nvSpPr>
          <p:cNvPr id="12" name="TextBox 11">
            <a:extLst>
              <a:ext uri="{FF2B5EF4-FFF2-40B4-BE49-F238E27FC236}">
                <a16:creationId xmlns:a16="http://schemas.microsoft.com/office/drawing/2014/main" id="{F4AC2498-AE3B-8AB1-63CF-770A4A7F381A}"/>
              </a:ext>
            </a:extLst>
          </p:cNvPr>
          <p:cNvSpPr txBox="1"/>
          <p:nvPr/>
        </p:nvSpPr>
        <p:spPr>
          <a:xfrm>
            <a:off x="792480" y="576289"/>
            <a:ext cx="6136640" cy="584775"/>
          </a:xfrm>
          <a:prstGeom prst="rect">
            <a:avLst/>
          </a:prstGeom>
          <a:noFill/>
        </p:spPr>
        <p:txBody>
          <a:bodyPr wrap="square">
            <a:spAutoFit/>
          </a:bodyPr>
          <a:lstStyle/>
          <a:p>
            <a:pPr>
              <a:defRPr sz="2500" b="1">
                <a:solidFill>
                  <a:srgbClr val="FFFFFF"/>
                </a:solidFill>
              </a:defRPr>
            </a:pPr>
            <a:r>
              <a:rPr lang="en-US" sz="3200" dirty="0"/>
              <a:t>49. Future Scope</a:t>
            </a:r>
          </a:p>
        </p:txBody>
      </p:sp>
    </p:spTree>
    <p:extLst>
      <p:ext uri="{BB962C8B-B14F-4D97-AF65-F5344CB8AC3E}">
        <p14:creationId xmlns:p14="http://schemas.microsoft.com/office/powerpoint/2010/main" val="64294223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F646EDC-68FB-C75E-7622-452DC16DC034}"/>
              </a:ext>
            </a:extLst>
          </p:cNvPr>
          <p:cNvSpPr/>
          <p:nvPr/>
        </p:nvSpPr>
        <p:spPr>
          <a:xfrm>
            <a:off x="305" y="351606"/>
            <a:ext cx="12191695" cy="1034143"/>
          </a:xfrm>
          <a:prstGeom prst="rect">
            <a:avLst/>
          </a:prstGeom>
          <a:solidFill>
            <a:srgbClr val="192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2F7A814E-C656-9EBB-7321-1B9F5571D8A6}"/>
              </a:ext>
            </a:extLst>
          </p:cNvPr>
          <p:cNvSpPr txBox="1"/>
          <p:nvPr/>
        </p:nvSpPr>
        <p:spPr>
          <a:xfrm>
            <a:off x="396240" y="1880506"/>
            <a:ext cx="11338560" cy="3539430"/>
          </a:xfrm>
          <a:prstGeom prst="rect">
            <a:avLst/>
          </a:prstGeom>
          <a:noFill/>
        </p:spPr>
        <p:txBody>
          <a:bodyPr wrap="square">
            <a:spAutoFit/>
          </a:bodyPr>
          <a:lstStyle/>
          <a:p>
            <a:pPr marL="457200" indent="-457200">
              <a:buFont typeface="Arial" panose="020B0604020202020204" pitchFamily="34" charset="0"/>
              <a:buChar char="•"/>
            </a:pPr>
            <a:r>
              <a:rPr lang="en-US" sz="2800" dirty="0">
                <a:solidFill>
                  <a:srgbClr val="64748B"/>
                </a:solidFill>
                <a:latin typeface="Aptos"/>
              </a:rPr>
              <a:t>The project has progressed from data preparation to working ML and XAI modules across three business datasets
Performance evaluation and confusion-matrix analysis are available for the implemented models
SHAP and LIME provide complementary global and local explanations.
The proposed hybrid predictive–explainability layer will strengthen the final research contribution after validation.</a:t>
            </a:r>
          </a:p>
        </p:txBody>
      </p:sp>
      <p:sp>
        <p:nvSpPr>
          <p:cNvPr id="8" name="TextBox 7">
            <a:extLst>
              <a:ext uri="{FF2B5EF4-FFF2-40B4-BE49-F238E27FC236}">
                <a16:creationId xmlns:a16="http://schemas.microsoft.com/office/drawing/2014/main" id="{432FE346-F5A5-4BB7-77AB-53B5A962E0C8}"/>
              </a:ext>
            </a:extLst>
          </p:cNvPr>
          <p:cNvSpPr txBox="1"/>
          <p:nvPr/>
        </p:nvSpPr>
        <p:spPr>
          <a:xfrm>
            <a:off x="812800" y="576289"/>
            <a:ext cx="6136640" cy="584775"/>
          </a:xfrm>
          <a:prstGeom prst="rect">
            <a:avLst/>
          </a:prstGeom>
          <a:noFill/>
        </p:spPr>
        <p:txBody>
          <a:bodyPr wrap="square">
            <a:spAutoFit/>
          </a:bodyPr>
          <a:lstStyle/>
          <a:p>
            <a:pPr>
              <a:defRPr sz="2500" b="1">
                <a:solidFill>
                  <a:srgbClr val="FFFFFF"/>
                </a:solidFill>
              </a:defRPr>
            </a:pPr>
            <a:r>
              <a:rPr lang="en-US" sz="3200" dirty="0"/>
              <a:t>50. Conclusion </a:t>
            </a:r>
          </a:p>
        </p:txBody>
      </p:sp>
    </p:spTree>
    <p:extLst>
      <p:ext uri="{BB962C8B-B14F-4D97-AF65-F5344CB8AC3E}">
        <p14:creationId xmlns:p14="http://schemas.microsoft.com/office/powerpoint/2010/main" val="15463107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435</TotalTime>
  <Words>4104</Words>
  <Application>Microsoft Office PowerPoint</Application>
  <PresentationFormat>Widescreen</PresentationFormat>
  <Paragraphs>712</Paragraphs>
  <Slides>74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74</vt:i4>
      </vt:variant>
    </vt:vector>
  </HeadingPairs>
  <TitlesOfParts>
    <vt:vector size="80" baseType="lpstr">
      <vt:lpstr>Aptos</vt:lpstr>
      <vt:lpstr>Aptos Display</vt: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Lakshmi Sai Prasanna</dc:creator>
  <cp:keywords/>
  <dc:description>generated using python-pptx</dc:description>
  <cp:lastModifiedBy>Lakshmi Sai Prasanna</cp:lastModifiedBy>
  <cp:revision>7</cp:revision>
  <dcterms:created xsi:type="dcterms:W3CDTF">2013-01-27T09:14:16Z</dcterms:created>
  <dcterms:modified xsi:type="dcterms:W3CDTF">2026-10-12T05:58:15Z</dcterms:modified>
  <cp:category/>
</cp:coreProperties>
</file>