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DBAF35C-8DCC-42EC-9A29-34ADE5027BD9}" v="2" dt="2026-08-13T08:41:48.8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3447" autoAdjust="0"/>
  </p:normalViewPr>
  <p:slideViewPr>
    <p:cSldViewPr snapToGrid="0" snapToObjects="1">
      <p:cViewPr varScale="1">
        <p:scale>
          <a:sx n="77" d="100"/>
          <a:sy n="77" d="100"/>
        </p:scale>
        <p:origin x="244" y="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hyperlink" Target="https://www.kaggle.com/datasets/blastchar/telco-customer-churn/data?utm_source=" TargetMode="External"/><Relationship Id="rId2" Type="http://schemas.openxmlformats.org/officeDocument/2006/relationships/hyperlink" Target="https://archive.ics.uci.edu/dataset/222/bank%2Bmarketing" TargetMode="External"/><Relationship Id="rId1" Type="http://schemas.openxmlformats.org/officeDocument/2006/relationships/slideLayout" Target="../slideLayouts/slideLayout7.xml"/><Relationship Id="rId4" Type="http://schemas.openxmlformats.org/officeDocument/2006/relationships/hyperlink" Target="https://archive.ics.uci.edu/dataset/352/online-retai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92646"/>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2D63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1325880"/>
            <a:ext cx="7518790" cy="2323713"/>
          </a:xfrm>
          <a:prstGeom prst="rect">
            <a:avLst/>
          </a:prstGeom>
          <a:noFill/>
        </p:spPr>
        <p:txBody>
          <a:bodyPr wrap="none">
            <a:spAutoFit/>
          </a:bodyPr>
          <a:lstStyle/>
          <a:p>
            <a:pPr>
              <a:spcAft>
                <a:spcPts val="1200"/>
              </a:spcAft>
              <a:defRPr sz="3400" b="1">
                <a:solidFill>
                  <a:srgbClr val="FFFFFF"/>
                </a:solidFill>
              </a:defRPr>
            </a:pPr>
            <a:r>
              <a:rPr lang="en-US" dirty="0"/>
              <a:t>Unified </a:t>
            </a:r>
            <a:r>
              <a:rPr dirty="0"/>
              <a:t>Explainable Artificial Intelligence</a:t>
            </a:r>
            <a:br>
              <a:rPr dirty="0"/>
            </a:br>
            <a:r>
              <a:rPr dirty="0"/>
              <a:t>for Business Analytics</a:t>
            </a:r>
          </a:p>
          <a:p>
            <a:pPr>
              <a:spcAft>
                <a:spcPts val="3000"/>
              </a:spcAft>
              <a:defRPr sz="2200">
                <a:solidFill>
                  <a:srgbClr val="BED2F5"/>
                </a:solidFill>
              </a:defRPr>
            </a:pPr>
            <a:r>
              <a:rPr lang="en-US" dirty="0"/>
              <a:t>Comparing ML Models and XAI Techniques</a:t>
            </a:r>
            <a:endParaRPr dirty="0"/>
          </a:p>
          <a:p>
            <a:pPr>
              <a:defRPr sz="1600" b="1">
                <a:solidFill>
                  <a:srgbClr val="FFFFFF"/>
                </a:solidFill>
              </a:defRPr>
            </a:pPr>
            <a:r>
              <a:rPr sz="2000" dirty="0"/>
              <a:t>REVIEW – 1  |  BATCH</a:t>
            </a:r>
            <a:r>
              <a:rPr lang="en-US" sz="2000" dirty="0"/>
              <a:t> </a:t>
            </a:r>
            <a:r>
              <a:rPr sz="2000" dirty="0"/>
              <a:t>–</a:t>
            </a:r>
            <a:r>
              <a:rPr lang="en-US" sz="2000" dirty="0"/>
              <a:t> </a:t>
            </a:r>
            <a:r>
              <a:rPr sz="2000" dirty="0"/>
              <a:t>2</a:t>
            </a:r>
          </a:p>
        </p:txBody>
      </p:sp>
      <p:sp>
        <p:nvSpPr>
          <p:cNvPr id="4" name="TextBox 3"/>
          <p:cNvSpPr txBox="1"/>
          <p:nvPr/>
        </p:nvSpPr>
        <p:spPr>
          <a:xfrm>
            <a:off x="354874" y="3929741"/>
            <a:ext cx="2399211" cy="1015663"/>
          </a:xfrm>
          <a:prstGeom prst="rect">
            <a:avLst/>
          </a:prstGeom>
          <a:noFill/>
        </p:spPr>
        <p:txBody>
          <a:bodyPr wrap="square">
            <a:spAutoFit/>
          </a:bodyPr>
          <a:lstStyle/>
          <a:p>
            <a:pPr algn="ctr">
              <a:defRPr sz="1700">
                <a:solidFill>
                  <a:srgbClr val="FFFFFF"/>
                </a:solidFill>
              </a:defRPr>
            </a:pPr>
            <a:r>
              <a:rPr lang="en-US" sz="2000" b="1" dirty="0"/>
              <a:t>2420030525</a:t>
            </a:r>
          </a:p>
          <a:p>
            <a:pPr algn="ctr">
              <a:defRPr sz="1700">
                <a:solidFill>
                  <a:srgbClr val="FFFFFF"/>
                </a:solidFill>
              </a:defRPr>
            </a:pPr>
            <a:r>
              <a:rPr lang="en-US" sz="2000" b="1" dirty="0"/>
              <a:t>2420030508</a:t>
            </a:r>
          </a:p>
          <a:p>
            <a:pPr algn="ctr">
              <a:defRPr sz="1700">
                <a:solidFill>
                  <a:srgbClr val="FFFFFF"/>
                </a:solidFill>
              </a:defRPr>
            </a:pPr>
            <a:r>
              <a:rPr lang="en-US" sz="2000" b="1" dirty="0"/>
              <a:t>2420030529</a:t>
            </a:r>
            <a:endParaRPr sz="2000" b="1" dirty="0"/>
          </a:p>
        </p:txBody>
      </p:sp>
      <p:pic>
        <p:nvPicPr>
          <p:cNvPr id="6" name="Picture 5">
            <a:extLst>
              <a:ext uri="{FF2B5EF4-FFF2-40B4-BE49-F238E27FC236}">
                <a16:creationId xmlns:a16="http://schemas.microsoft.com/office/drawing/2014/main" id="{A071E00E-EA18-4E2E-FD6D-F7FBD5A1C364}"/>
              </a:ext>
            </a:extLst>
          </p:cNvPr>
          <p:cNvPicPr>
            <a:picLocks noChangeAspect="1"/>
          </p:cNvPicPr>
          <p:nvPr/>
        </p:nvPicPr>
        <p:blipFill>
          <a:blip r:embed="rId2"/>
          <a:stretch>
            <a:fillRect/>
          </a:stretch>
        </p:blipFill>
        <p:spPr>
          <a:xfrm>
            <a:off x="5453743" y="3275668"/>
            <a:ext cx="6738257" cy="358233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05" y="293497"/>
            <a:ext cx="12191695" cy="1149531"/>
          </a:xfrm>
          <a:prstGeom prst="rect">
            <a:avLst/>
          </a:prstGeom>
          <a:solidFill>
            <a:srgbClr val="192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566928"/>
            <a:ext cx="3902863" cy="584775"/>
          </a:xfrm>
          <a:prstGeom prst="rect">
            <a:avLst/>
          </a:prstGeom>
          <a:noFill/>
        </p:spPr>
        <p:txBody>
          <a:bodyPr wrap="none">
            <a:spAutoFit/>
          </a:bodyPr>
          <a:lstStyle/>
          <a:p>
            <a:pPr>
              <a:defRPr sz="2500" b="1">
                <a:solidFill>
                  <a:srgbClr val="FFFFFF"/>
                </a:solidFill>
              </a:defRPr>
            </a:pPr>
            <a:r>
              <a:rPr sz="3200" dirty="0"/>
              <a:t>1. Problem Statement</a:t>
            </a:r>
          </a:p>
        </p:txBody>
      </p:sp>
      <p:sp>
        <p:nvSpPr>
          <p:cNvPr id="4" name="TextBox 3"/>
          <p:cNvSpPr txBox="1"/>
          <p:nvPr/>
        </p:nvSpPr>
        <p:spPr>
          <a:xfrm>
            <a:off x="461554" y="2118359"/>
            <a:ext cx="10920548" cy="3108543"/>
          </a:xfrm>
          <a:prstGeom prst="rect">
            <a:avLst/>
          </a:prstGeom>
          <a:noFill/>
        </p:spPr>
        <p:txBody>
          <a:bodyPr wrap="square">
            <a:spAutoFit/>
          </a:bodyPr>
          <a:lstStyle/>
          <a:p>
            <a:pPr>
              <a:spcAft>
                <a:spcPts val="1400"/>
              </a:spcAft>
              <a:defRPr sz="2000">
                <a:solidFill>
                  <a:srgbClr val="232A34"/>
                </a:solidFill>
              </a:defRPr>
            </a:pPr>
            <a:r>
              <a:rPr lang="en-US" sz="2800" dirty="0"/>
              <a:t>Machine learning models are increasingly used in educational and business analytics for prediction and decision-making, but complex models are often difficult to interpret. Different models and explainable AI techniques may provide varying levels of accuracy and transparency. Therefore, this project aims to comparatively analyze multiple machine learning models using SHAP and LIME to evaluate their predictive performance and explainability across benchmark datasets.</a:t>
            </a:r>
          </a:p>
        </p:txBody>
      </p:sp>
      <p:sp>
        <p:nvSpPr>
          <p:cNvPr id="5" name="TextBox 4"/>
          <p:cNvSpPr txBox="1"/>
          <p:nvPr/>
        </p:nvSpPr>
        <p:spPr>
          <a:xfrm>
            <a:off x="10789920" y="6446520"/>
            <a:ext cx="914400" cy="228600"/>
          </a:xfrm>
          <a:prstGeom prst="rect">
            <a:avLst/>
          </a:prstGeom>
          <a:noFill/>
        </p:spPr>
        <p:txBody>
          <a:bodyPr wrap="none">
            <a:spAutoFit/>
          </a:bodyPr>
          <a:lstStyle/>
          <a:p>
            <a:pPr algn="r">
              <a:defRPr sz="1000">
                <a:solidFill>
                  <a:srgbClr val="697382"/>
                </a:solidFill>
              </a:defRPr>
            </a:pPr>
            <a: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272136"/>
            <a:ext cx="12191695" cy="1104687"/>
          </a:xfrm>
          <a:prstGeom prst="rect">
            <a:avLst/>
          </a:prstGeom>
          <a:solidFill>
            <a:srgbClr val="192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96685" y="532091"/>
            <a:ext cx="2906485" cy="584775"/>
          </a:xfrm>
          <a:prstGeom prst="rect">
            <a:avLst/>
          </a:prstGeom>
          <a:noFill/>
        </p:spPr>
        <p:txBody>
          <a:bodyPr wrap="square">
            <a:spAutoFit/>
          </a:bodyPr>
          <a:lstStyle/>
          <a:p>
            <a:pPr>
              <a:defRPr sz="2500" b="1">
                <a:solidFill>
                  <a:srgbClr val="FFFFFF"/>
                </a:solidFill>
              </a:defRPr>
            </a:pPr>
            <a:r>
              <a:rPr sz="3200" dirty="0"/>
              <a:t>2. Objectives</a:t>
            </a:r>
          </a:p>
        </p:txBody>
      </p:sp>
      <p:sp>
        <p:nvSpPr>
          <p:cNvPr id="4" name="TextBox 3"/>
          <p:cNvSpPr txBox="1"/>
          <p:nvPr/>
        </p:nvSpPr>
        <p:spPr>
          <a:xfrm>
            <a:off x="457200" y="2016905"/>
            <a:ext cx="10789920" cy="3539430"/>
          </a:xfrm>
          <a:prstGeom prst="rect">
            <a:avLst/>
          </a:prstGeom>
          <a:noFill/>
        </p:spPr>
        <p:txBody>
          <a:bodyPr wrap="square">
            <a:spAutoFit/>
          </a:bodyPr>
          <a:lstStyle/>
          <a:p>
            <a:pPr marL="457200" lvl="0" indent="-457200">
              <a:buFont typeface="Arial" panose="020B0604020202020204" pitchFamily="34" charset="0"/>
              <a:buChar char="•"/>
            </a:pPr>
            <a:r>
              <a:rPr lang="en-US" sz="2800" b="1" dirty="0"/>
              <a:t>To develop</a:t>
            </a:r>
            <a:r>
              <a:rPr lang="en-US" sz="2800" dirty="0"/>
              <a:t> machine learning models for analyzing and predicting outcomes from benchmark business datasets. </a:t>
            </a:r>
          </a:p>
          <a:p>
            <a:pPr marL="457200" lvl="0" indent="-457200">
              <a:buFont typeface="Arial" panose="020B0604020202020204" pitchFamily="34" charset="0"/>
              <a:buChar char="•"/>
            </a:pPr>
            <a:r>
              <a:rPr lang="en-US" sz="2800" b="1" dirty="0"/>
              <a:t>To integrate</a:t>
            </a:r>
            <a:r>
              <a:rPr lang="en-US" sz="2800" dirty="0"/>
              <a:t> SHAP and LIME techniques to provide clear and meaningful explanations of model predictions. </a:t>
            </a:r>
          </a:p>
          <a:p>
            <a:pPr marL="457200" lvl="0" indent="-457200">
              <a:buFont typeface="Arial" panose="020B0604020202020204" pitchFamily="34" charset="0"/>
              <a:buChar char="•"/>
            </a:pPr>
            <a:r>
              <a:rPr lang="en-US" sz="2800" b="1" dirty="0"/>
              <a:t>To enhance</a:t>
            </a:r>
            <a:r>
              <a:rPr lang="en-US" sz="2800" dirty="0"/>
              <a:t> model transparency and interpretability for better understanding of business-related predictions. </a:t>
            </a:r>
          </a:p>
          <a:p>
            <a:pPr marL="457200" lvl="0" indent="-457200">
              <a:buFont typeface="Arial" panose="020B0604020202020204" pitchFamily="34" charset="0"/>
              <a:buChar char="•"/>
            </a:pPr>
            <a:r>
              <a:rPr lang="en-US" sz="2800" b="1" dirty="0"/>
              <a:t>To evaluate</a:t>
            </a:r>
            <a:r>
              <a:rPr lang="en-US" sz="2800" dirty="0"/>
              <a:t> and compare model performance and explainability to identify the most effective approach. </a:t>
            </a:r>
          </a:p>
        </p:txBody>
      </p:sp>
      <p:sp>
        <p:nvSpPr>
          <p:cNvPr id="5" name="TextBox 4"/>
          <p:cNvSpPr txBox="1"/>
          <p:nvPr/>
        </p:nvSpPr>
        <p:spPr>
          <a:xfrm>
            <a:off x="10789920" y="6446520"/>
            <a:ext cx="914400" cy="228600"/>
          </a:xfrm>
          <a:prstGeom prst="rect">
            <a:avLst/>
          </a:prstGeom>
          <a:noFill/>
        </p:spPr>
        <p:txBody>
          <a:bodyPr wrap="none">
            <a:spAutoFit/>
          </a:bodyPr>
          <a:lstStyle/>
          <a:p>
            <a:pPr algn="r">
              <a:defRPr sz="1000">
                <a:solidFill>
                  <a:srgbClr val="697382"/>
                </a:solidFill>
              </a:defRPr>
            </a:pPr>
            <a: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05" y="182880"/>
            <a:ext cx="12191695" cy="1177834"/>
          </a:xfrm>
          <a:prstGeom prst="rect">
            <a:avLst/>
          </a:prstGeom>
          <a:solidFill>
            <a:srgbClr val="192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TextBox 2"/>
          <p:cNvSpPr txBox="1"/>
          <p:nvPr/>
        </p:nvSpPr>
        <p:spPr>
          <a:xfrm>
            <a:off x="707024" y="479409"/>
            <a:ext cx="5388976" cy="584775"/>
          </a:xfrm>
          <a:prstGeom prst="rect">
            <a:avLst/>
          </a:prstGeom>
          <a:noFill/>
        </p:spPr>
        <p:txBody>
          <a:bodyPr wrap="none">
            <a:spAutoFit/>
          </a:bodyPr>
          <a:lstStyle/>
          <a:p>
            <a:pPr>
              <a:defRPr sz="2500" b="1">
                <a:solidFill>
                  <a:srgbClr val="FFFFFF"/>
                </a:solidFill>
              </a:defRPr>
            </a:pPr>
            <a:r>
              <a:rPr sz="3200" dirty="0"/>
              <a:t>3. Dataset &amp; Analytics Pipeline</a:t>
            </a:r>
          </a:p>
        </p:txBody>
      </p:sp>
      <p:sp>
        <p:nvSpPr>
          <p:cNvPr id="4" name="TextBox 3"/>
          <p:cNvSpPr txBox="1"/>
          <p:nvPr/>
        </p:nvSpPr>
        <p:spPr>
          <a:xfrm>
            <a:off x="707024" y="2051732"/>
            <a:ext cx="10789920" cy="3718967"/>
          </a:xfrm>
          <a:prstGeom prst="rect">
            <a:avLst/>
          </a:prstGeom>
          <a:noFill/>
        </p:spPr>
        <p:txBody>
          <a:bodyPr wrap="square">
            <a:spAutoFit/>
          </a:bodyPr>
          <a:lstStyle/>
          <a:p>
            <a:r>
              <a:rPr sz="2800" dirty="0"/>
              <a:t>• </a:t>
            </a:r>
            <a:r>
              <a:rPr lang="en-US" b="1" dirty="0"/>
              <a:t> </a:t>
            </a:r>
            <a:r>
              <a:rPr lang="en-US" sz="2800" b="1" dirty="0"/>
              <a:t>UCI Bank Marketing Dataset (UCI Machine Learning Repository)</a:t>
            </a:r>
            <a:r>
              <a:rPr lang="en-US" sz="2800" dirty="0"/>
              <a:t>     </a:t>
            </a:r>
            <a:r>
              <a:rPr lang="en-US" sz="2800" u="sng" dirty="0">
                <a:hlinkClick r:id="rId2"/>
              </a:rPr>
              <a:t>https://archive.ics.uci.edu/dataset/222/bank%2Bmarketing</a:t>
            </a:r>
            <a:endParaRPr sz="2800" dirty="0"/>
          </a:p>
          <a:p>
            <a:r>
              <a:rPr sz="2800" dirty="0"/>
              <a:t>• </a:t>
            </a:r>
            <a:r>
              <a:rPr lang="en-US" sz="2800" b="1" dirty="0"/>
              <a:t>Telco Customer Churn Dataset for Customer Analytics</a:t>
            </a:r>
            <a:endParaRPr lang="en-US" sz="2800" dirty="0"/>
          </a:p>
          <a:p>
            <a:r>
              <a:rPr lang="en-US" sz="2800" u="sng" dirty="0">
                <a:hlinkClick r:id="rId3"/>
              </a:rPr>
              <a:t>https://www.kaggle.com/datasets/blastchar/telco-customer-churn/data?utm_source=</a:t>
            </a:r>
            <a:endParaRPr sz="2800" dirty="0"/>
          </a:p>
          <a:p>
            <a:pPr>
              <a:spcAft>
                <a:spcPts val="1400"/>
              </a:spcAft>
              <a:defRPr sz="1800">
                <a:solidFill>
                  <a:srgbClr val="232A34"/>
                </a:solidFill>
              </a:defRPr>
            </a:pPr>
            <a:r>
              <a:rPr sz="2800" dirty="0"/>
              <a:t>•</a:t>
            </a:r>
            <a:r>
              <a:rPr lang="en-US" sz="2800" b="1" dirty="0"/>
              <a:t>UCI Online Retail Dataset for E-commerce and customer transaction analytics  </a:t>
            </a:r>
            <a:r>
              <a:rPr lang="en-US" sz="2800" u="sng" dirty="0">
                <a:hlinkClick r:id="rId4"/>
              </a:rPr>
              <a:t>https://archive.ics.uci.edu/dataset/352/online-retail</a:t>
            </a:r>
            <a:endParaRPr lang="en-US" sz="2800" dirty="0"/>
          </a:p>
          <a:p>
            <a:pPr>
              <a:spcAft>
                <a:spcPts val="1400"/>
              </a:spcAft>
              <a:defRPr sz="1800">
                <a:solidFill>
                  <a:srgbClr val="232A34"/>
                </a:solidFill>
              </a:defRPr>
            </a:pPr>
            <a:endParaRPr sz="2800" dirty="0"/>
          </a:p>
        </p:txBody>
      </p:sp>
      <p:sp>
        <p:nvSpPr>
          <p:cNvPr id="5" name="TextBox 4"/>
          <p:cNvSpPr txBox="1"/>
          <p:nvPr/>
        </p:nvSpPr>
        <p:spPr>
          <a:xfrm>
            <a:off x="10789920" y="6446520"/>
            <a:ext cx="914400" cy="228600"/>
          </a:xfrm>
          <a:prstGeom prst="rect">
            <a:avLst/>
          </a:prstGeom>
          <a:noFill/>
        </p:spPr>
        <p:txBody>
          <a:bodyPr wrap="none">
            <a:spAutoFit/>
          </a:bodyPr>
          <a:lstStyle/>
          <a:p>
            <a:pPr algn="r">
              <a:defRPr sz="1000">
                <a:solidFill>
                  <a:srgbClr val="697382"/>
                </a:solidFill>
              </a:defRPr>
            </a:pPr>
            <a: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222069"/>
            <a:ext cx="12191695" cy="1149531"/>
          </a:xfrm>
          <a:prstGeom prst="rect">
            <a:avLst/>
          </a:prstGeom>
          <a:solidFill>
            <a:srgbClr val="192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504446"/>
            <a:ext cx="8424101" cy="584775"/>
          </a:xfrm>
          <a:prstGeom prst="rect">
            <a:avLst/>
          </a:prstGeom>
          <a:noFill/>
        </p:spPr>
        <p:txBody>
          <a:bodyPr wrap="none">
            <a:spAutoFit/>
          </a:bodyPr>
          <a:lstStyle/>
          <a:p>
            <a:pPr>
              <a:defRPr sz="2500" b="1">
                <a:solidFill>
                  <a:srgbClr val="FFFFFF"/>
                </a:solidFill>
              </a:defRPr>
            </a:pPr>
            <a:r>
              <a:rPr sz="3200" dirty="0"/>
              <a:t>4. Machine Learning &amp; Explainability Framework</a:t>
            </a:r>
          </a:p>
        </p:txBody>
      </p:sp>
      <p:sp>
        <p:nvSpPr>
          <p:cNvPr id="4" name="TextBox 3"/>
          <p:cNvSpPr txBox="1"/>
          <p:nvPr/>
        </p:nvSpPr>
        <p:spPr>
          <a:xfrm>
            <a:off x="477530" y="1778725"/>
            <a:ext cx="10789920" cy="4508927"/>
          </a:xfrm>
          <a:prstGeom prst="rect">
            <a:avLst/>
          </a:prstGeom>
          <a:noFill/>
        </p:spPr>
        <p:txBody>
          <a:bodyPr wrap="square">
            <a:spAutoFit/>
          </a:bodyPr>
          <a:lstStyle/>
          <a:p>
            <a:pPr>
              <a:spcAft>
                <a:spcPts val="1400"/>
              </a:spcAft>
              <a:defRPr sz="1800">
                <a:solidFill>
                  <a:srgbClr val="232A34"/>
                </a:solidFill>
              </a:defRPr>
            </a:pPr>
            <a:r>
              <a:rPr sz="2800" dirty="0"/>
              <a:t>•</a:t>
            </a:r>
            <a:r>
              <a:rPr dirty="0"/>
              <a:t> </a:t>
            </a:r>
            <a:r>
              <a:rPr sz="2800" dirty="0"/>
              <a:t>Preprocessing: data cleaning → missing-value handling → duplicate removal → encoding → scaling/normalization → train-test split.</a:t>
            </a:r>
          </a:p>
          <a:p>
            <a:pPr>
              <a:spcAft>
                <a:spcPts val="1400"/>
              </a:spcAft>
              <a:defRPr sz="1800">
                <a:solidFill>
                  <a:srgbClr val="232A34"/>
                </a:solidFill>
              </a:defRPr>
            </a:pPr>
            <a:r>
              <a:rPr sz="2800" dirty="0"/>
              <a:t>• ML Models: Logistic Regression, Decision Tree, Random Forest, </a:t>
            </a:r>
            <a:r>
              <a:rPr sz="2800" dirty="0" err="1"/>
              <a:t>XGBoost</a:t>
            </a:r>
            <a:r>
              <a:rPr sz="2800" dirty="0"/>
              <a:t> and </a:t>
            </a:r>
            <a:r>
              <a:rPr sz="2800" dirty="0" err="1"/>
              <a:t>CatBoost</a:t>
            </a:r>
            <a:r>
              <a:rPr sz="2800" dirty="0"/>
              <a:t>.</a:t>
            </a:r>
          </a:p>
          <a:p>
            <a:pPr>
              <a:spcAft>
                <a:spcPts val="1400"/>
              </a:spcAft>
              <a:defRPr sz="1800">
                <a:solidFill>
                  <a:srgbClr val="232A34"/>
                </a:solidFill>
              </a:defRPr>
            </a:pPr>
            <a:r>
              <a:rPr sz="2800" dirty="0"/>
              <a:t>• Explainability: SHAP</a:t>
            </a:r>
            <a:r>
              <a:rPr lang="en-US" sz="2800" dirty="0"/>
              <a:t>,</a:t>
            </a:r>
            <a:r>
              <a:rPr sz="2800" dirty="0"/>
              <a:t> LIME</a:t>
            </a:r>
            <a:r>
              <a:rPr lang="en-US" sz="2800" dirty="0"/>
              <a:t>, PDP, ICE Permutation Feature Importance </a:t>
            </a:r>
            <a:r>
              <a:rPr sz="2800" dirty="0"/>
              <a:t>with global and local explanations.</a:t>
            </a:r>
          </a:p>
          <a:p>
            <a:pPr>
              <a:spcAft>
                <a:spcPts val="1400"/>
              </a:spcAft>
              <a:defRPr sz="1800">
                <a:solidFill>
                  <a:srgbClr val="232A34"/>
                </a:solidFill>
              </a:defRPr>
            </a:pPr>
            <a:r>
              <a:rPr sz="2800" dirty="0"/>
              <a:t>• Visualization: heatmaps, boxplots, correlation matrix, feature-importance graphs, SHAP/LIME visualizations and an interactive dashboard.</a:t>
            </a:r>
          </a:p>
        </p:txBody>
      </p:sp>
      <p:sp>
        <p:nvSpPr>
          <p:cNvPr id="5" name="TextBox 4"/>
          <p:cNvSpPr txBox="1"/>
          <p:nvPr/>
        </p:nvSpPr>
        <p:spPr>
          <a:xfrm>
            <a:off x="10789920" y="6446520"/>
            <a:ext cx="914400" cy="228600"/>
          </a:xfrm>
          <a:prstGeom prst="rect">
            <a:avLst/>
          </a:prstGeom>
          <a:noFill/>
        </p:spPr>
        <p:txBody>
          <a:bodyPr wrap="none">
            <a:spAutoFit/>
          </a:bodyPr>
          <a:lstStyle/>
          <a:p>
            <a:pPr algn="r">
              <a:defRPr sz="1000">
                <a:solidFill>
                  <a:srgbClr val="697382"/>
                </a:solidFill>
              </a:defRPr>
            </a:pPr>
            <a: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182880"/>
            <a:ext cx="12191695" cy="683112"/>
          </a:xfrm>
          <a:prstGeom prst="rect">
            <a:avLst/>
          </a:prstGeom>
          <a:solidFill>
            <a:srgbClr val="192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32048"/>
            <a:ext cx="6091539" cy="584775"/>
          </a:xfrm>
          <a:prstGeom prst="rect">
            <a:avLst/>
          </a:prstGeom>
          <a:noFill/>
        </p:spPr>
        <p:txBody>
          <a:bodyPr wrap="none">
            <a:spAutoFit/>
          </a:bodyPr>
          <a:lstStyle/>
          <a:p>
            <a:pPr>
              <a:defRPr sz="2500" b="1">
                <a:solidFill>
                  <a:srgbClr val="FFFFFF"/>
                </a:solidFill>
              </a:defRPr>
            </a:pPr>
            <a:r>
              <a:rPr sz="3200" dirty="0"/>
              <a:t>5. Literature Survey – Papers 1 to 5</a:t>
            </a:r>
          </a:p>
        </p:txBody>
      </p:sp>
      <p:graphicFrame>
        <p:nvGraphicFramePr>
          <p:cNvPr id="4" name="Table 3"/>
          <p:cNvGraphicFramePr>
            <a:graphicFrameLocks noGrp="1"/>
          </p:cNvGraphicFramePr>
          <p:nvPr>
            <p:extLst>
              <p:ext uri="{D42A27DB-BD31-4B8C-83A1-F6EECF244321}">
                <p14:modId xmlns:p14="http://schemas.microsoft.com/office/powerpoint/2010/main" val="1950723714"/>
              </p:ext>
            </p:extLst>
          </p:nvPr>
        </p:nvGraphicFramePr>
        <p:xfrm>
          <a:off x="304404" y="1051560"/>
          <a:ext cx="11583191" cy="5686033"/>
        </p:xfrm>
        <a:graphic>
          <a:graphicData uri="http://schemas.openxmlformats.org/drawingml/2006/table">
            <a:tbl>
              <a:tblPr firstRow="1" bandRow="1">
                <a:tableStyleId>{5C22544A-7EE6-4342-B048-85BDC9FD1C3A}</a:tableStyleId>
              </a:tblPr>
              <a:tblGrid>
                <a:gridCol w="2931764">
                  <a:extLst>
                    <a:ext uri="{9D8B030D-6E8A-4147-A177-3AD203B41FA5}">
                      <a16:colId xmlns:a16="http://schemas.microsoft.com/office/drawing/2014/main" val="20000"/>
                    </a:ext>
                  </a:extLst>
                </a:gridCol>
                <a:gridCol w="2883809">
                  <a:extLst>
                    <a:ext uri="{9D8B030D-6E8A-4147-A177-3AD203B41FA5}">
                      <a16:colId xmlns:a16="http://schemas.microsoft.com/office/drawing/2014/main" val="20001"/>
                    </a:ext>
                  </a:extLst>
                </a:gridCol>
                <a:gridCol w="2883809">
                  <a:extLst>
                    <a:ext uri="{9D8B030D-6E8A-4147-A177-3AD203B41FA5}">
                      <a16:colId xmlns:a16="http://schemas.microsoft.com/office/drawing/2014/main" val="20002"/>
                    </a:ext>
                  </a:extLst>
                </a:gridCol>
                <a:gridCol w="2883809">
                  <a:extLst>
                    <a:ext uri="{9D8B030D-6E8A-4147-A177-3AD203B41FA5}">
                      <a16:colId xmlns:a16="http://schemas.microsoft.com/office/drawing/2014/main" val="20003"/>
                    </a:ext>
                  </a:extLst>
                </a:gridCol>
              </a:tblGrid>
              <a:tr h="656833">
                <a:tc>
                  <a:txBody>
                    <a:bodyPr/>
                    <a:lstStyle/>
                    <a:p>
                      <a:pPr>
                        <a:defRPr sz="1000" b="1">
                          <a:solidFill>
                            <a:srgbClr val="FFFFFF"/>
                          </a:solidFill>
                        </a:defRPr>
                      </a:pPr>
                      <a:r>
                        <a:rPr sz="1800" dirty="0"/>
                        <a:t>Paper</a:t>
                      </a:r>
                    </a:p>
                  </a:txBody>
                  <a:tcPr marL="54864" marR="54864" marT="36576" marB="36576">
                    <a:solidFill>
                      <a:srgbClr val="192646"/>
                    </a:solidFill>
                  </a:tcPr>
                </a:tc>
                <a:tc>
                  <a:txBody>
                    <a:bodyPr/>
                    <a:lstStyle/>
                    <a:p>
                      <a:pPr>
                        <a:defRPr sz="1000" b="1">
                          <a:solidFill>
                            <a:srgbClr val="FFFFFF"/>
                          </a:solidFill>
                        </a:defRPr>
                      </a:pPr>
                      <a:r>
                        <a:rPr sz="1800" dirty="0"/>
                        <a:t>Publication</a:t>
                      </a:r>
                    </a:p>
                  </a:txBody>
                  <a:tcPr marL="54864" marR="54864" marT="36576" marB="36576">
                    <a:solidFill>
                      <a:srgbClr val="192646"/>
                    </a:solidFill>
                  </a:tcPr>
                </a:tc>
                <a:tc>
                  <a:txBody>
                    <a:bodyPr/>
                    <a:lstStyle/>
                    <a:p>
                      <a:pPr>
                        <a:defRPr sz="1000" b="1">
                          <a:solidFill>
                            <a:srgbClr val="FFFFFF"/>
                          </a:solidFill>
                        </a:defRPr>
                      </a:pPr>
                      <a:r>
                        <a:rPr sz="1800" dirty="0"/>
                        <a:t>Key Contribution</a:t>
                      </a:r>
                    </a:p>
                  </a:txBody>
                  <a:tcPr marL="54864" marR="54864" marT="36576" marB="36576">
                    <a:solidFill>
                      <a:srgbClr val="192646"/>
                    </a:solidFill>
                  </a:tcPr>
                </a:tc>
                <a:tc>
                  <a:txBody>
                    <a:bodyPr/>
                    <a:lstStyle/>
                    <a:p>
                      <a:pPr>
                        <a:defRPr sz="1000" b="1">
                          <a:solidFill>
                            <a:srgbClr val="FFFFFF"/>
                          </a:solidFill>
                        </a:defRPr>
                      </a:pPr>
                      <a:r>
                        <a:rPr lang="en-US" sz="1800" dirty="0"/>
                        <a:t>Limitation</a:t>
                      </a:r>
                      <a:endParaRPr sz="1800" dirty="0"/>
                    </a:p>
                  </a:txBody>
                  <a:tcPr marL="54864" marR="54864" marT="36576" marB="36576">
                    <a:solidFill>
                      <a:srgbClr val="192646"/>
                    </a:solidFill>
                  </a:tcPr>
                </a:tc>
                <a:extLst>
                  <a:ext uri="{0D108BD9-81ED-4DB2-BD59-A6C34878D82A}">
                    <a16:rowId xmlns:a16="http://schemas.microsoft.com/office/drawing/2014/main" val="10000"/>
                  </a:ext>
                </a:extLst>
              </a:tr>
              <a:tr h="892802">
                <a:tc>
                  <a:txBody>
                    <a:bodyPr/>
                    <a:lstStyle/>
                    <a:p>
                      <a:pPr>
                        <a:defRPr sz="1000" b="0">
                          <a:solidFill>
                            <a:srgbClr val="232A34"/>
                          </a:solidFill>
                        </a:defRPr>
                      </a:pPr>
                      <a:r>
                        <a:rPr sz="1800" dirty="0"/>
                        <a:t>Model-Agnostic XAI Methods in Finance: Systematic Review</a:t>
                      </a:r>
                      <a:r>
                        <a:rPr lang="en-US" sz="1800" dirty="0"/>
                        <a:t>(2025)</a:t>
                      </a:r>
                      <a:endParaRPr sz="1800" dirty="0"/>
                    </a:p>
                  </a:txBody>
                  <a:tcPr marL="54864" marR="54864" marT="36576" marB="36576">
                    <a:solidFill>
                      <a:srgbClr val="F2F6FC"/>
                    </a:solidFill>
                  </a:tcPr>
                </a:tc>
                <a:tc>
                  <a:txBody>
                    <a:bodyPr/>
                    <a:lstStyle/>
                    <a:p>
                      <a:pPr>
                        <a:defRPr sz="1000" b="0">
                          <a:solidFill>
                            <a:srgbClr val="232A34"/>
                          </a:solidFill>
                        </a:defRPr>
                      </a:pPr>
                      <a:r>
                        <a:rPr sz="1800" dirty="0"/>
                        <a:t>Springer – AI Review</a:t>
                      </a:r>
                    </a:p>
                  </a:txBody>
                  <a:tcPr marL="54864" marR="54864" marT="36576" marB="36576">
                    <a:solidFill>
                      <a:srgbClr val="F2F6FC"/>
                    </a:solidFill>
                  </a:tcPr>
                </a:tc>
                <a:tc>
                  <a:txBody>
                    <a:bodyPr/>
                    <a:lstStyle/>
                    <a:p>
                      <a:pPr>
                        <a:defRPr sz="1000" b="0">
                          <a:solidFill>
                            <a:srgbClr val="232A34"/>
                          </a:solidFill>
                        </a:defRPr>
                      </a:pPr>
                      <a:r>
                        <a:rPr sz="1800" dirty="0"/>
                        <a:t>Reviews SHAP, LIME, PDP, counterfactuals and model-agnostic XAI.</a:t>
                      </a:r>
                    </a:p>
                  </a:txBody>
                  <a:tcPr marL="54864" marR="54864" marT="36576" marB="36576">
                    <a:solidFill>
                      <a:srgbClr val="F2F6FC"/>
                    </a:solidFill>
                  </a:tcPr>
                </a:tc>
                <a:tc>
                  <a:txBody>
                    <a:bodyPr/>
                    <a:lstStyle/>
                    <a:p>
                      <a:pPr>
                        <a:defRPr sz="1000" b="0">
                          <a:solidFill>
                            <a:srgbClr val="232A34"/>
                          </a:solidFill>
                        </a:defRPr>
                      </a:pPr>
                      <a:r>
                        <a:rPr lang="en-US" sz="1800" b="0" i="0" kern="1200" dirty="0">
                          <a:solidFill>
                            <a:schemeClr val="dk1"/>
                          </a:solidFill>
                          <a:effectLst/>
                          <a:latin typeface="+mn-lt"/>
                          <a:ea typeface="+mn-ea"/>
                          <a:cs typeface="+mn-cs"/>
                        </a:rPr>
                        <a:t>Lacks extensive real-world validation of XAI methods on diverse financial datasets.</a:t>
                      </a:r>
                      <a:endParaRPr sz="1800" dirty="0"/>
                    </a:p>
                  </a:txBody>
                  <a:tcPr marL="54864" marR="54864" marT="36576" marB="36576">
                    <a:solidFill>
                      <a:srgbClr val="F2F6FC"/>
                    </a:solidFill>
                  </a:tcPr>
                </a:tc>
                <a:extLst>
                  <a:ext uri="{0D108BD9-81ED-4DB2-BD59-A6C34878D82A}">
                    <a16:rowId xmlns:a16="http://schemas.microsoft.com/office/drawing/2014/main" val="10001"/>
                  </a:ext>
                </a:extLst>
              </a:tr>
              <a:tr h="892802">
                <a:tc>
                  <a:txBody>
                    <a:bodyPr/>
                    <a:lstStyle/>
                    <a:p>
                      <a:pPr>
                        <a:defRPr sz="1000" b="0">
                          <a:solidFill>
                            <a:srgbClr val="232A34"/>
                          </a:solidFill>
                        </a:defRPr>
                      </a:pPr>
                      <a:r>
                        <a:rPr sz="1800" dirty="0"/>
                        <a:t>A Comprehensive Review on Financial XAI</a:t>
                      </a:r>
                      <a:r>
                        <a:rPr lang="en-US" sz="1800" dirty="0"/>
                        <a:t>(2025)</a:t>
                      </a:r>
                      <a:endParaRPr sz="1800" dirty="0"/>
                    </a:p>
                  </a:txBody>
                  <a:tcPr marL="54864" marR="54864" marT="36576" marB="36576">
                    <a:solidFill>
                      <a:srgbClr val="FFFFFF"/>
                    </a:solidFill>
                  </a:tcPr>
                </a:tc>
                <a:tc>
                  <a:txBody>
                    <a:bodyPr/>
                    <a:lstStyle/>
                    <a:p>
                      <a:pPr>
                        <a:defRPr sz="1000" b="0">
                          <a:solidFill>
                            <a:srgbClr val="232A34"/>
                          </a:solidFill>
                        </a:defRPr>
                      </a:pPr>
                      <a:r>
                        <a:rPr sz="1800" dirty="0"/>
                        <a:t>Springer – AI Review</a:t>
                      </a:r>
                    </a:p>
                  </a:txBody>
                  <a:tcPr marL="54864" marR="54864" marT="36576" marB="36576">
                    <a:solidFill>
                      <a:srgbClr val="FFFFFF"/>
                    </a:solidFill>
                  </a:tcPr>
                </a:tc>
                <a:tc>
                  <a:txBody>
                    <a:bodyPr/>
                    <a:lstStyle/>
                    <a:p>
                      <a:pPr>
                        <a:defRPr sz="1000" b="0">
                          <a:solidFill>
                            <a:srgbClr val="232A34"/>
                          </a:solidFill>
                        </a:defRPr>
                      </a:pPr>
                      <a:r>
                        <a:rPr sz="1800" dirty="0"/>
                        <a:t>Reviews XAI techniques, applications and challenges in financial decisions.</a:t>
                      </a:r>
                    </a:p>
                  </a:txBody>
                  <a:tcPr marL="54864" marR="54864" marT="36576" marB="36576">
                    <a:solidFill>
                      <a:srgbClr val="FFFFFF"/>
                    </a:solidFill>
                  </a:tcPr>
                </a:tc>
                <a:tc>
                  <a:txBody>
                    <a:bodyPr/>
                    <a:lstStyle/>
                    <a:p>
                      <a:pPr>
                        <a:defRPr sz="1000" b="0">
                          <a:solidFill>
                            <a:srgbClr val="232A34"/>
                          </a:solidFill>
                        </a:defRPr>
                      </a:pPr>
                      <a:r>
                        <a:rPr lang="en-US" sz="1800" b="0" i="0" kern="1200" dirty="0">
                          <a:solidFill>
                            <a:schemeClr val="dk1"/>
                          </a:solidFill>
                          <a:effectLst/>
                          <a:latin typeface="+mn-lt"/>
                          <a:ea typeface="+mn-ea"/>
                          <a:cs typeface="+mn-cs"/>
                        </a:rPr>
                        <a:t>Does not propose a unified framework for improving financial XAI.</a:t>
                      </a:r>
                      <a:endParaRPr sz="1800" dirty="0"/>
                    </a:p>
                  </a:txBody>
                  <a:tcPr marL="54864" marR="54864" marT="36576" marB="36576">
                    <a:solidFill>
                      <a:srgbClr val="FFFFFF"/>
                    </a:solidFill>
                  </a:tcPr>
                </a:tc>
                <a:extLst>
                  <a:ext uri="{0D108BD9-81ED-4DB2-BD59-A6C34878D82A}">
                    <a16:rowId xmlns:a16="http://schemas.microsoft.com/office/drawing/2014/main" val="10002"/>
                  </a:ext>
                </a:extLst>
              </a:tr>
              <a:tr h="1166108">
                <a:tc>
                  <a:txBody>
                    <a:bodyPr/>
                    <a:lstStyle/>
                    <a:p>
                      <a:pPr>
                        <a:defRPr sz="1000" b="0">
                          <a:solidFill>
                            <a:srgbClr val="232A34"/>
                          </a:solidFill>
                        </a:defRPr>
                      </a:pPr>
                      <a:r>
                        <a:rPr sz="1800" dirty="0"/>
                        <a:t>XAI: Survey of Needs, Techniques, Applications &amp; Future Direction</a:t>
                      </a:r>
                      <a:r>
                        <a:rPr lang="en-US" sz="1800" dirty="0"/>
                        <a:t>(2024)</a:t>
                      </a:r>
                      <a:endParaRPr sz="1800" dirty="0"/>
                    </a:p>
                  </a:txBody>
                  <a:tcPr marL="54864" marR="54864" marT="36576" marB="36576">
                    <a:solidFill>
                      <a:srgbClr val="F2F6FC"/>
                    </a:solidFill>
                  </a:tcPr>
                </a:tc>
                <a:tc>
                  <a:txBody>
                    <a:bodyPr/>
                    <a:lstStyle/>
                    <a:p>
                      <a:pPr>
                        <a:defRPr sz="1000" b="0">
                          <a:solidFill>
                            <a:srgbClr val="232A34"/>
                          </a:solidFill>
                        </a:defRPr>
                      </a:pPr>
                      <a:r>
                        <a:rPr sz="1800" dirty="0"/>
                        <a:t>Survey/Review</a:t>
                      </a:r>
                    </a:p>
                  </a:txBody>
                  <a:tcPr marL="54864" marR="54864" marT="36576" marB="36576">
                    <a:solidFill>
                      <a:srgbClr val="F2F6FC"/>
                    </a:solidFill>
                  </a:tcPr>
                </a:tc>
                <a:tc>
                  <a:txBody>
                    <a:bodyPr/>
                    <a:lstStyle/>
                    <a:p>
                      <a:pPr>
                        <a:defRPr sz="1000" b="0">
                          <a:solidFill>
                            <a:srgbClr val="232A34"/>
                          </a:solidFill>
                        </a:defRPr>
                      </a:pPr>
                      <a:r>
                        <a:rPr sz="1800" dirty="0"/>
                        <a:t>Broad taxonomy of XAI methods, applications, requirements and future directions.</a:t>
                      </a:r>
                    </a:p>
                  </a:txBody>
                  <a:tcPr marL="54864" marR="54864" marT="36576" marB="36576">
                    <a:solidFill>
                      <a:srgbClr val="F2F6FC"/>
                    </a:solidFill>
                  </a:tcPr>
                </a:tc>
                <a:tc>
                  <a:txBody>
                    <a:bodyPr/>
                    <a:lstStyle/>
                    <a:p>
                      <a:pPr>
                        <a:defRPr sz="1000" b="0">
                          <a:solidFill>
                            <a:srgbClr val="232A34"/>
                          </a:solidFill>
                        </a:defRPr>
                      </a:pPr>
                      <a:r>
                        <a:rPr lang="en-US" sz="1800" b="0" i="0" kern="1200" dirty="0">
                          <a:solidFill>
                            <a:schemeClr val="dk1"/>
                          </a:solidFill>
                          <a:effectLst/>
                          <a:latin typeface="+mn-lt"/>
                          <a:ea typeface="+mn-ea"/>
                          <a:cs typeface="+mn-cs"/>
                        </a:rPr>
                        <a:t>Lacks standardized metrics for evaluating explanation quality.</a:t>
                      </a:r>
                      <a:endParaRPr sz="1800" dirty="0"/>
                    </a:p>
                  </a:txBody>
                  <a:tcPr marL="54864" marR="54864" marT="36576" marB="36576">
                    <a:solidFill>
                      <a:srgbClr val="F2F6FC"/>
                    </a:solidFill>
                  </a:tcPr>
                </a:tc>
                <a:extLst>
                  <a:ext uri="{0D108BD9-81ED-4DB2-BD59-A6C34878D82A}">
                    <a16:rowId xmlns:a16="http://schemas.microsoft.com/office/drawing/2014/main" val="10003"/>
                  </a:ext>
                </a:extLst>
              </a:tr>
              <a:tr h="892802">
                <a:tc>
                  <a:txBody>
                    <a:bodyPr/>
                    <a:lstStyle/>
                    <a:p>
                      <a:pPr>
                        <a:defRPr sz="1000" b="0">
                          <a:solidFill>
                            <a:srgbClr val="232A34"/>
                          </a:solidFill>
                        </a:defRPr>
                      </a:pPr>
                      <a:r>
                        <a:rPr sz="1800" dirty="0"/>
                        <a:t>XAI in Finance: A Systematic Literature Review</a:t>
                      </a:r>
                      <a:r>
                        <a:rPr lang="en-US" sz="1800" dirty="0"/>
                        <a:t>(2024)</a:t>
                      </a:r>
                      <a:endParaRPr sz="1800" dirty="0"/>
                    </a:p>
                  </a:txBody>
                  <a:tcPr marL="54864" marR="54864" marT="36576" marB="36576">
                    <a:solidFill>
                      <a:srgbClr val="FFFFFF"/>
                    </a:solidFill>
                  </a:tcPr>
                </a:tc>
                <a:tc>
                  <a:txBody>
                    <a:bodyPr/>
                    <a:lstStyle/>
                    <a:p>
                      <a:pPr>
                        <a:defRPr sz="1000" b="0">
                          <a:solidFill>
                            <a:srgbClr val="232A34"/>
                          </a:solidFill>
                        </a:defRPr>
                      </a:pPr>
                      <a:r>
                        <a:rPr sz="1800" dirty="0"/>
                        <a:t>Springer – AI Review</a:t>
                      </a:r>
                    </a:p>
                  </a:txBody>
                  <a:tcPr marL="54864" marR="54864" marT="36576" marB="36576">
                    <a:solidFill>
                      <a:srgbClr val="FFFFFF"/>
                    </a:solidFill>
                  </a:tcPr>
                </a:tc>
                <a:tc>
                  <a:txBody>
                    <a:bodyPr/>
                    <a:lstStyle/>
                    <a:p>
                      <a:pPr>
                        <a:defRPr sz="1000" b="0">
                          <a:solidFill>
                            <a:srgbClr val="232A34"/>
                          </a:solidFill>
                        </a:defRPr>
                      </a:pPr>
                      <a:r>
                        <a:rPr sz="1800" dirty="0"/>
                        <a:t>Reviews financial XAI applications and challenges in evaluating explanations.</a:t>
                      </a:r>
                    </a:p>
                  </a:txBody>
                  <a:tcPr marL="54864" marR="54864" marT="36576" marB="36576">
                    <a:solidFill>
                      <a:srgbClr val="FFFFFF"/>
                    </a:solidFill>
                  </a:tcPr>
                </a:tc>
                <a:tc>
                  <a:txBody>
                    <a:bodyPr/>
                    <a:lstStyle/>
                    <a:p>
                      <a:pPr>
                        <a:defRPr sz="1000" b="0">
                          <a:solidFill>
                            <a:srgbClr val="232A34"/>
                          </a:solidFill>
                        </a:defRPr>
                      </a:pPr>
                      <a:r>
                        <a:rPr lang="en-US" sz="1800" b="0" i="0" kern="1200" dirty="0">
                          <a:solidFill>
                            <a:schemeClr val="dk1"/>
                          </a:solidFill>
                          <a:effectLst/>
                          <a:latin typeface="+mn-lt"/>
                          <a:ea typeface="+mn-ea"/>
                          <a:cs typeface="+mn-cs"/>
                        </a:rPr>
                        <a:t>Does not fully resolve the trade-off between accuracy and interpretability.</a:t>
                      </a:r>
                      <a:endParaRPr sz="1800" dirty="0"/>
                    </a:p>
                  </a:txBody>
                  <a:tcPr marL="54864" marR="54864" marT="36576" marB="36576">
                    <a:solidFill>
                      <a:srgbClr val="FFFFFF"/>
                    </a:solidFill>
                  </a:tcPr>
                </a:tc>
                <a:extLst>
                  <a:ext uri="{0D108BD9-81ED-4DB2-BD59-A6C34878D82A}">
                    <a16:rowId xmlns:a16="http://schemas.microsoft.com/office/drawing/2014/main" val="10004"/>
                  </a:ext>
                </a:extLst>
              </a:tr>
              <a:tr h="1166108">
                <a:tc>
                  <a:txBody>
                    <a:bodyPr/>
                    <a:lstStyle/>
                    <a:p>
                      <a:pPr>
                        <a:defRPr sz="1000" b="0">
                          <a:solidFill>
                            <a:srgbClr val="232A34"/>
                          </a:solidFill>
                        </a:defRPr>
                      </a:pPr>
                      <a:r>
                        <a:rPr sz="1800" dirty="0"/>
                        <a:t>A Comprehensive Taxonomy for XAI</a:t>
                      </a:r>
                      <a:r>
                        <a:rPr lang="en-US" sz="1800" dirty="0"/>
                        <a:t>(2023/24)</a:t>
                      </a:r>
                      <a:endParaRPr sz="1800" dirty="0"/>
                    </a:p>
                  </a:txBody>
                  <a:tcPr marL="54864" marR="54864" marT="36576" marB="36576">
                    <a:solidFill>
                      <a:srgbClr val="F2F6FC"/>
                    </a:solidFill>
                  </a:tcPr>
                </a:tc>
                <a:tc>
                  <a:txBody>
                    <a:bodyPr/>
                    <a:lstStyle/>
                    <a:p>
                      <a:pPr>
                        <a:defRPr sz="1000" b="0">
                          <a:solidFill>
                            <a:srgbClr val="232A34"/>
                          </a:solidFill>
                        </a:defRPr>
                      </a:pPr>
                      <a:r>
                        <a:rPr sz="1800" dirty="0"/>
                        <a:t>Springer – DMKD</a:t>
                      </a:r>
                    </a:p>
                  </a:txBody>
                  <a:tcPr marL="54864" marR="54864" marT="36576" marB="36576">
                    <a:solidFill>
                      <a:srgbClr val="F2F6FC"/>
                    </a:solidFill>
                  </a:tcPr>
                </a:tc>
                <a:tc>
                  <a:txBody>
                    <a:bodyPr/>
                    <a:lstStyle/>
                    <a:p>
                      <a:pPr>
                        <a:defRPr sz="1000" b="0">
                          <a:solidFill>
                            <a:srgbClr val="232A34"/>
                          </a:solidFill>
                        </a:defRPr>
                      </a:pPr>
                      <a:r>
                        <a:rPr sz="1800" dirty="0"/>
                        <a:t>Taxonomy for classifying XAI methods and concepts.</a:t>
                      </a:r>
                    </a:p>
                  </a:txBody>
                  <a:tcPr marL="54864" marR="54864" marT="36576" marB="36576">
                    <a:solidFill>
                      <a:srgbClr val="F2F6FC"/>
                    </a:solidFill>
                  </a:tcPr>
                </a:tc>
                <a:tc>
                  <a:txBody>
                    <a:bodyPr/>
                    <a:lstStyle/>
                    <a:p>
                      <a:pPr>
                        <a:defRPr sz="1000" b="0">
                          <a:solidFill>
                            <a:srgbClr val="232A34"/>
                          </a:solidFill>
                        </a:defRPr>
                      </a:pPr>
                      <a:r>
                        <a:rPr lang="en-US" sz="1800" b="0" i="0" kern="1200" dirty="0">
                          <a:solidFill>
                            <a:schemeClr val="dk1"/>
                          </a:solidFill>
                          <a:effectLst/>
                          <a:latin typeface="+mn-lt"/>
                          <a:ea typeface="+mn-ea"/>
                          <a:cs typeface="+mn-cs"/>
                        </a:rPr>
                        <a:t>Provides classification of XAI methods but lacks practical implementation and evaluation.</a:t>
                      </a:r>
                      <a:endParaRPr sz="1800" dirty="0"/>
                    </a:p>
                  </a:txBody>
                  <a:tcPr marL="54864" marR="54864" marT="36576" marB="36576">
                    <a:solidFill>
                      <a:srgbClr val="F2F6FC"/>
                    </a:solidFill>
                  </a:tcPr>
                </a:tc>
                <a:extLst>
                  <a:ext uri="{0D108BD9-81ED-4DB2-BD59-A6C34878D82A}">
                    <a16:rowId xmlns:a16="http://schemas.microsoft.com/office/drawing/2014/main" val="10005"/>
                  </a:ext>
                </a:extLst>
              </a:tr>
            </a:tbl>
          </a:graphicData>
        </a:graphic>
      </p:graphicFrame>
      <p:sp>
        <p:nvSpPr>
          <p:cNvPr id="5" name="TextBox 4"/>
          <p:cNvSpPr txBox="1"/>
          <p:nvPr/>
        </p:nvSpPr>
        <p:spPr>
          <a:xfrm>
            <a:off x="10789920" y="6446520"/>
            <a:ext cx="914400" cy="228600"/>
          </a:xfrm>
          <a:prstGeom prst="rect">
            <a:avLst/>
          </a:prstGeom>
          <a:noFill/>
        </p:spPr>
        <p:txBody>
          <a:bodyPr wrap="none">
            <a:spAutoFit/>
          </a:bodyPr>
          <a:lstStyle/>
          <a:p>
            <a:pPr algn="r">
              <a:defRPr sz="1000">
                <a:solidFill>
                  <a:srgbClr val="697382"/>
                </a:solidFill>
              </a:defRPr>
            </a:pPr>
            <a: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142623"/>
            <a:ext cx="12191695" cy="648096"/>
          </a:xfrm>
          <a:prstGeom prst="rect">
            <a:avLst/>
          </a:prstGeom>
          <a:solidFill>
            <a:srgbClr val="192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5637" y="143781"/>
            <a:ext cx="6299930" cy="584775"/>
          </a:xfrm>
          <a:prstGeom prst="rect">
            <a:avLst/>
          </a:prstGeom>
          <a:noFill/>
        </p:spPr>
        <p:txBody>
          <a:bodyPr wrap="none">
            <a:spAutoFit/>
          </a:bodyPr>
          <a:lstStyle/>
          <a:p>
            <a:pPr>
              <a:defRPr sz="2500" b="1">
                <a:solidFill>
                  <a:srgbClr val="FFFFFF"/>
                </a:solidFill>
              </a:defRPr>
            </a:pPr>
            <a:r>
              <a:rPr sz="3200" dirty="0"/>
              <a:t>6. Literature Survey – Papers 6 to 10</a:t>
            </a:r>
          </a:p>
        </p:txBody>
      </p:sp>
      <p:graphicFrame>
        <p:nvGraphicFramePr>
          <p:cNvPr id="4" name="Table 3"/>
          <p:cNvGraphicFramePr>
            <a:graphicFrameLocks noGrp="1"/>
          </p:cNvGraphicFramePr>
          <p:nvPr>
            <p:extLst>
              <p:ext uri="{D42A27DB-BD31-4B8C-83A1-F6EECF244321}">
                <p14:modId xmlns:p14="http://schemas.microsoft.com/office/powerpoint/2010/main" val="1915853060"/>
              </p:ext>
            </p:extLst>
          </p:nvPr>
        </p:nvGraphicFramePr>
        <p:xfrm>
          <a:off x="335280" y="925019"/>
          <a:ext cx="11521440" cy="5623446"/>
        </p:xfrm>
        <a:graphic>
          <a:graphicData uri="http://schemas.openxmlformats.org/drawingml/2006/table">
            <a:tbl>
              <a:tblPr firstRow="1" bandRow="1">
                <a:tableStyleId>{5C22544A-7EE6-4342-B048-85BDC9FD1C3A}</a:tableStyleId>
              </a:tblPr>
              <a:tblGrid>
                <a:gridCol w="2880360">
                  <a:extLst>
                    <a:ext uri="{9D8B030D-6E8A-4147-A177-3AD203B41FA5}">
                      <a16:colId xmlns:a16="http://schemas.microsoft.com/office/drawing/2014/main" val="20000"/>
                    </a:ext>
                  </a:extLst>
                </a:gridCol>
                <a:gridCol w="2880360">
                  <a:extLst>
                    <a:ext uri="{9D8B030D-6E8A-4147-A177-3AD203B41FA5}">
                      <a16:colId xmlns:a16="http://schemas.microsoft.com/office/drawing/2014/main" val="20001"/>
                    </a:ext>
                  </a:extLst>
                </a:gridCol>
                <a:gridCol w="2880360">
                  <a:extLst>
                    <a:ext uri="{9D8B030D-6E8A-4147-A177-3AD203B41FA5}">
                      <a16:colId xmlns:a16="http://schemas.microsoft.com/office/drawing/2014/main" val="20002"/>
                    </a:ext>
                  </a:extLst>
                </a:gridCol>
                <a:gridCol w="2880360">
                  <a:extLst>
                    <a:ext uri="{9D8B030D-6E8A-4147-A177-3AD203B41FA5}">
                      <a16:colId xmlns:a16="http://schemas.microsoft.com/office/drawing/2014/main" val="20003"/>
                    </a:ext>
                  </a:extLst>
                </a:gridCol>
              </a:tblGrid>
              <a:tr h="618492">
                <a:tc>
                  <a:txBody>
                    <a:bodyPr/>
                    <a:lstStyle/>
                    <a:p>
                      <a:pPr>
                        <a:defRPr sz="1000" b="1">
                          <a:solidFill>
                            <a:srgbClr val="FFFFFF"/>
                          </a:solidFill>
                        </a:defRPr>
                      </a:pPr>
                      <a:r>
                        <a:rPr sz="1800"/>
                        <a:t>Paper</a:t>
                      </a:r>
                    </a:p>
                  </a:txBody>
                  <a:tcPr marL="54864" marR="54864" marT="36576" marB="36576">
                    <a:solidFill>
                      <a:srgbClr val="192646"/>
                    </a:solidFill>
                  </a:tcPr>
                </a:tc>
                <a:tc>
                  <a:txBody>
                    <a:bodyPr/>
                    <a:lstStyle/>
                    <a:p>
                      <a:pPr>
                        <a:defRPr sz="1000" b="1">
                          <a:solidFill>
                            <a:srgbClr val="FFFFFF"/>
                          </a:solidFill>
                        </a:defRPr>
                      </a:pPr>
                      <a:r>
                        <a:rPr sz="1800" dirty="0"/>
                        <a:t>Publication</a:t>
                      </a:r>
                    </a:p>
                  </a:txBody>
                  <a:tcPr marL="54864" marR="54864" marT="36576" marB="36576">
                    <a:solidFill>
                      <a:srgbClr val="192646"/>
                    </a:solidFill>
                  </a:tcPr>
                </a:tc>
                <a:tc>
                  <a:txBody>
                    <a:bodyPr/>
                    <a:lstStyle/>
                    <a:p>
                      <a:pPr>
                        <a:defRPr sz="1000" b="1">
                          <a:solidFill>
                            <a:srgbClr val="FFFFFF"/>
                          </a:solidFill>
                        </a:defRPr>
                      </a:pPr>
                      <a:r>
                        <a:rPr sz="1800" dirty="0"/>
                        <a:t>Key Contribution</a:t>
                      </a:r>
                    </a:p>
                  </a:txBody>
                  <a:tcPr marL="54864" marR="54864" marT="36576" marB="36576">
                    <a:solidFill>
                      <a:srgbClr val="192646"/>
                    </a:solidFill>
                  </a:tcPr>
                </a:tc>
                <a:tc>
                  <a:txBody>
                    <a:bodyPr/>
                    <a:lstStyle/>
                    <a:p>
                      <a:pPr>
                        <a:defRPr sz="1000" b="1">
                          <a:solidFill>
                            <a:srgbClr val="FFFFFF"/>
                          </a:solidFill>
                        </a:defRPr>
                      </a:pPr>
                      <a:r>
                        <a:rPr lang="en-US" sz="1800" dirty="0"/>
                        <a:t>Limitation</a:t>
                      </a:r>
                      <a:endParaRPr sz="1800" dirty="0"/>
                    </a:p>
                  </a:txBody>
                  <a:tcPr marL="54864" marR="54864" marT="36576" marB="36576">
                    <a:solidFill>
                      <a:srgbClr val="192646"/>
                    </a:solidFill>
                  </a:tcPr>
                </a:tc>
                <a:extLst>
                  <a:ext uri="{0D108BD9-81ED-4DB2-BD59-A6C34878D82A}">
                    <a16:rowId xmlns:a16="http://schemas.microsoft.com/office/drawing/2014/main" val="10000"/>
                  </a:ext>
                </a:extLst>
              </a:tr>
              <a:tr h="1139623">
                <a:tc>
                  <a:txBody>
                    <a:bodyPr/>
                    <a:lstStyle/>
                    <a:p>
                      <a:pPr>
                        <a:defRPr sz="1000" b="0">
                          <a:solidFill>
                            <a:srgbClr val="232A34"/>
                          </a:solidFill>
                        </a:defRPr>
                      </a:pPr>
                      <a:r>
                        <a:rPr sz="1600" dirty="0"/>
                        <a:t>Interpreting Black-Box Models: A Review on XAI</a:t>
                      </a:r>
                      <a:r>
                        <a:rPr lang="en-US" sz="1600" dirty="0"/>
                        <a:t>(2024)</a:t>
                      </a:r>
                      <a:endParaRPr sz="1600" dirty="0"/>
                    </a:p>
                  </a:txBody>
                  <a:tcPr marL="54864" marR="54864" marT="36576" marB="36576">
                    <a:solidFill>
                      <a:srgbClr val="F2F6FC"/>
                    </a:solidFill>
                  </a:tcPr>
                </a:tc>
                <a:tc>
                  <a:txBody>
                    <a:bodyPr/>
                    <a:lstStyle/>
                    <a:p>
                      <a:pPr>
                        <a:defRPr sz="1000" b="0">
                          <a:solidFill>
                            <a:srgbClr val="232A34"/>
                          </a:solidFill>
                        </a:defRPr>
                      </a:pPr>
                      <a:r>
                        <a:rPr sz="1600" dirty="0"/>
                        <a:t>Springer – Cognitive Computation</a:t>
                      </a:r>
                    </a:p>
                  </a:txBody>
                  <a:tcPr marL="54864" marR="54864" marT="36576" marB="36576">
                    <a:solidFill>
                      <a:srgbClr val="F2F6FC"/>
                    </a:solidFill>
                  </a:tcPr>
                </a:tc>
                <a:tc>
                  <a:txBody>
                    <a:bodyPr/>
                    <a:lstStyle/>
                    <a:p>
                      <a:pPr>
                        <a:defRPr sz="1000" b="0">
                          <a:solidFill>
                            <a:srgbClr val="232A34"/>
                          </a:solidFill>
                        </a:defRPr>
                      </a:pPr>
                      <a:r>
                        <a:rPr sz="1600"/>
                        <a:t>Reviews black-box interpretation techniques and their strengths/limitations.</a:t>
                      </a:r>
                    </a:p>
                  </a:txBody>
                  <a:tcPr marL="54864" marR="54864" marT="36576" marB="36576">
                    <a:solidFill>
                      <a:srgbClr val="F2F6FC"/>
                    </a:solidFill>
                  </a:tcPr>
                </a:tc>
                <a:tc>
                  <a:txBody>
                    <a:bodyPr/>
                    <a:lstStyle/>
                    <a:p>
                      <a:pPr>
                        <a:defRPr sz="1000" b="0">
                          <a:solidFill>
                            <a:srgbClr val="232A34"/>
                          </a:solidFill>
                        </a:defRPr>
                      </a:pPr>
                      <a:r>
                        <a:rPr lang="en-US" sz="1600" b="0" i="0" kern="1200" dirty="0">
                          <a:solidFill>
                            <a:schemeClr val="dk1"/>
                          </a:solidFill>
                          <a:effectLst/>
                          <a:latin typeface="+mn-lt"/>
                          <a:ea typeface="+mn-ea"/>
                          <a:cs typeface="+mn-cs"/>
                        </a:rPr>
                        <a:t>Explanation reliability and consistency across black-box models remain challenging.</a:t>
                      </a:r>
                      <a:endParaRPr sz="1600" dirty="0"/>
                    </a:p>
                  </a:txBody>
                  <a:tcPr marL="54864" marR="54864" marT="36576" marB="36576">
                    <a:solidFill>
                      <a:srgbClr val="F2F6FC"/>
                    </a:solidFill>
                  </a:tcPr>
                </a:tc>
                <a:extLst>
                  <a:ext uri="{0D108BD9-81ED-4DB2-BD59-A6C34878D82A}">
                    <a16:rowId xmlns:a16="http://schemas.microsoft.com/office/drawing/2014/main" val="10001"/>
                  </a:ext>
                </a:extLst>
              </a:tr>
              <a:tr h="1139623">
                <a:tc>
                  <a:txBody>
                    <a:bodyPr/>
                    <a:lstStyle/>
                    <a:p>
                      <a:pPr>
                        <a:defRPr sz="1000" b="0">
                          <a:solidFill>
                            <a:srgbClr val="232A34"/>
                          </a:solidFill>
                        </a:defRPr>
                      </a:pPr>
                      <a:r>
                        <a:rPr sz="1600" dirty="0"/>
                        <a:t>Transformative Impact of XAI: Bridging Complexity and Trust</a:t>
                      </a:r>
                      <a:r>
                        <a:rPr lang="en-US" sz="1600" dirty="0"/>
                        <a:t>(2025)</a:t>
                      </a:r>
                      <a:endParaRPr sz="1600" dirty="0"/>
                    </a:p>
                  </a:txBody>
                  <a:tcPr marL="54864" marR="54864" marT="36576" marB="36576">
                    <a:solidFill>
                      <a:srgbClr val="FFFFFF"/>
                    </a:solidFill>
                  </a:tcPr>
                </a:tc>
                <a:tc>
                  <a:txBody>
                    <a:bodyPr/>
                    <a:lstStyle/>
                    <a:p>
                      <a:pPr>
                        <a:defRPr sz="1000" b="0">
                          <a:solidFill>
                            <a:srgbClr val="232A34"/>
                          </a:solidFill>
                        </a:defRPr>
                      </a:pPr>
                      <a:r>
                        <a:rPr sz="1600"/>
                        <a:t>Springer – Discover AI</a:t>
                      </a:r>
                    </a:p>
                  </a:txBody>
                  <a:tcPr marL="54864" marR="54864" marT="36576" marB="36576">
                    <a:solidFill>
                      <a:srgbClr val="FFFFFF"/>
                    </a:solidFill>
                  </a:tcPr>
                </a:tc>
                <a:tc>
                  <a:txBody>
                    <a:bodyPr/>
                    <a:lstStyle/>
                    <a:p>
                      <a:pPr>
                        <a:defRPr sz="1000" b="0">
                          <a:solidFill>
                            <a:srgbClr val="232A34"/>
                          </a:solidFill>
                        </a:defRPr>
                      </a:pPr>
                      <a:r>
                        <a:rPr sz="1600"/>
                        <a:t>Reviews model-specific, model-agnostic and hybrid XAI; discusses accuracy–interpretability trade-off.</a:t>
                      </a:r>
                    </a:p>
                  </a:txBody>
                  <a:tcPr marL="54864" marR="54864" marT="36576" marB="36576">
                    <a:solidFill>
                      <a:srgbClr val="FFFFFF"/>
                    </a:solidFill>
                  </a:tcPr>
                </a:tc>
                <a:tc>
                  <a:txBody>
                    <a:bodyPr/>
                    <a:lstStyle/>
                    <a:p>
                      <a:pPr>
                        <a:defRPr sz="1000" b="0">
                          <a:solidFill>
                            <a:srgbClr val="232A34"/>
                          </a:solidFill>
                        </a:defRPr>
                      </a:pPr>
                      <a:r>
                        <a:rPr lang="en-US" sz="1600" b="0" i="0" kern="1200" dirty="0">
                          <a:solidFill>
                            <a:schemeClr val="dk1"/>
                          </a:solidFill>
                          <a:effectLst/>
                          <a:latin typeface="+mn-lt"/>
                          <a:ea typeface="+mn-ea"/>
                          <a:cs typeface="+mn-cs"/>
                        </a:rPr>
                        <a:t>Limited real-world evidence on whether XAI explanations consistently improve user trust.</a:t>
                      </a:r>
                      <a:endParaRPr sz="1600" dirty="0"/>
                    </a:p>
                  </a:txBody>
                  <a:tcPr marL="54864" marR="54864" marT="36576" marB="36576">
                    <a:solidFill>
                      <a:srgbClr val="FFFFFF"/>
                    </a:solidFill>
                  </a:tcPr>
                </a:tc>
                <a:extLst>
                  <a:ext uri="{0D108BD9-81ED-4DB2-BD59-A6C34878D82A}">
                    <a16:rowId xmlns:a16="http://schemas.microsoft.com/office/drawing/2014/main" val="10002"/>
                  </a:ext>
                </a:extLst>
              </a:tr>
              <a:tr h="872524">
                <a:tc>
                  <a:txBody>
                    <a:bodyPr/>
                    <a:lstStyle/>
                    <a:p>
                      <a:pPr>
                        <a:defRPr sz="1000" b="0">
                          <a:solidFill>
                            <a:srgbClr val="232A34"/>
                          </a:solidFill>
                        </a:defRPr>
                      </a:pPr>
                      <a:r>
                        <a:rPr sz="1600" dirty="0"/>
                        <a:t>Review of Evaluation Approaches for XAI</a:t>
                      </a:r>
                      <a:r>
                        <a:rPr lang="en-US" sz="1600" dirty="0"/>
                        <a:t>(2024)</a:t>
                      </a:r>
                      <a:endParaRPr sz="1600" dirty="0"/>
                    </a:p>
                  </a:txBody>
                  <a:tcPr marL="54864" marR="54864" marT="36576" marB="36576">
                    <a:solidFill>
                      <a:srgbClr val="F2F6FC"/>
                    </a:solidFill>
                  </a:tcPr>
                </a:tc>
                <a:tc>
                  <a:txBody>
                    <a:bodyPr/>
                    <a:lstStyle/>
                    <a:p>
                      <a:pPr>
                        <a:defRPr sz="1000" b="0">
                          <a:solidFill>
                            <a:srgbClr val="232A34"/>
                          </a:solidFill>
                        </a:defRPr>
                      </a:pPr>
                      <a:r>
                        <a:rPr sz="1600"/>
                        <a:t>Springer – AI Review</a:t>
                      </a:r>
                    </a:p>
                  </a:txBody>
                  <a:tcPr marL="54864" marR="54864" marT="36576" marB="36576">
                    <a:solidFill>
                      <a:srgbClr val="F2F6FC"/>
                    </a:solidFill>
                  </a:tcPr>
                </a:tc>
                <a:tc>
                  <a:txBody>
                    <a:bodyPr/>
                    <a:lstStyle/>
                    <a:p>
                      <a:pPr>
                        <a:defRPr sz="1000" b="0">
                          <a:solidFill>
                            <a:srgbClr val="232A34"/>
                          </a:solidFill>
                        </a:defRPr>
                      </a:pPr>
                      <a:r>
                        <a:rPr sz="1600"/>
                        <a:t>Examines XAI evaluation and highlights lack of systematic evaluation.</a:t>
                      </a:r>
                    </a:p>
                  </a:txBody>
                  <a:tcPr marL="54864" marR="54864" marT="36576" marB="36576">
                    <a:solidFill>
                      <a:srgbClr val="F2F6FC"/>
                    </a:solidFill>
                  </a:tcPr>
                </a:tc>
                <a:tc>
                  <a:txBody>
                    <a:bodyPr/>
                    <a:lstStyle/>
                    <a:p>
                      <a:pPr>
                        <a:defRPr sz="1000" b="0">
                          <a:solidFill>
                            <a:srgbClr val="232A34"/>
                          </a:solidFill>
                        </a:defRPr>
                      </a:pPr>
                      <a:r>
                        <a:rPr lang="en-US" sz="1600" b="0" i="0" kern="1200" dirty="0">
                          <a:solidFill>
                            <a:schemeClr val="dk1"/>
                          </a:solidFill>
                          <a:effectLst/>
                          <a:latin typeface="+mn-lt"/>
                          <a:ea typeface="+mn-ea"/>
                          <a:cs typeface="+mn-cs"/>
                        </a:rPr>
                        <a:t>Lack of universally accepted standards for evaluating XAI explanations.</a:t>
                      </a:r>
                      <a:endParaRPr sz="1600" dirty="0"/>
                    </a:p>
                  </a:txBody>
                  <a:tcPr marL="54864" marR="54864" marT="36576" marB="36576">
                    <a:solidFill>
                      <a:srgbClr val="F2F6FC"/>
                    </a:solidFill>
                  </a:tcPr>
                </a:tc>
                <a:extLst>
                  <a:ext uri="{0D108BD9-81ED-4DB2-BD59-A6C34878D82A}">
                    <a16:rowId xmlns:a16="http://schemas.microsoft.com/office/drawing/2014/main" val="10003"/>
                  </a:ext>
                </a:extLst>
              </a:tr>
              <a:tr h="618492">
                <a:tc>
                  <a:txBody>
                    <a:bodyPr/>
                    <a:lstStyle/>
                    <a:p>
                      <a:pPr>
                        <a:defRPr sz="1000" b="0">
                          <a:solidFill>
                            <a:srgbClr val="232A34"/>
                          </a:solidFill>
                        </a:defRPr>
                      </a:pPr>
                      <a:r>
                        <a:rPr sz="1600" dirty="0"/>
                        <a:t>Privacy-Preserving XAI: A Survey</a:t>
                      </a:r>
                      <a:r>
                        <a:rPr lang="en-US" sz="1600" dirty="0"/>
                        <a:t>(2024/25)</a:t>
                      </a:r>
                      <a:endParaRPr sz="1600" dirty="0"/>
                    </a:p>
                  </a:txBody>
                  <a:tcPr marL="54864" marR="54864" marT="36576" marB="36576">
                    <a:solidFill>
                      <a:srgbClr val="FFFFFF"/>
                    </a:solidFill>
                  </a:tcPr>
                </a:tc>
                <a:tc>
                  <a:txBody>
                    <a:bodyPr/>
                    <a:lstStyle/>
                    <a:p>
                      <a:pPr>
                        <a:defRPr sz="1000" b="0">
                          <a:solidFill>
                            <a:srgbClr val="232A34"/>
                          </a:solidFill>
                        </a:defRPr>
                      </a:pPr>
                      <a:r>
                        <a:rPr sz="1600"/>
                        <a:t>Springer – SCIS</a:t>
                      </a:r>
                    </a:p>
                  </a:txBody>
                  <a:tcPr marL="54864" marR="54864" marT="36576" marB="36576">
                    <a:solidFill>
                      <a:srgbClr val="FFFFFF"/>
                    </a:solidFill>
                  </a:tcPr>
                </a:tc>
                <a:tc>
                  <a:txBody>
                    <a:bodyPr/>
                    <a:lstStyle/>
                    <a:p>
                      <a:pPr>
                        <a:defRPr sz="1000" b="0">
                          <a:solidFill>
                            <a:srgbClr val="232A34"/>
                          </a:solidFill>
                        </a:defRPr>
                      </a:pPr>
                      <a:r>
                        <a:rPr sz="1600"/>
                        <a:t>Reviews XAI methods with privacy challenges.</a:t>
                      </a:r>
                    </a:p>
                  </a:txBody>
                  <a:tcPr marL="54864" marR="54864" marT="36576" marB="36576">
                    <a:solidFill>
                      <a:srgbClr val="FFFFFF"/>
                    </a:solidFill>
                  </a:tcPr>
                </a:tc>
                <a:tc>
                  <a:txBody>
                    <a:bodyPr/>
                    <a:lstStyle/>
                    <a:p>
                      <a:pPr>
                        <a:defRPr sz="1000" b="0">
                          <a:solidFill>
                            <a:srgbClr val="232A34"/>
                          </a:solidFill>
                        </a:defRPr>
                      </a:pPr>
                      <a:r>
                        <a:rPr lang="en-US" sz="1600" b="0" i="0" kern="1200" dirty="0">
                          <a:solidFill>
                            <a:schemeClr val="dk1"/>
                          </a:solidFill>
                          <a:effectLst/>
                          <a:latin typeface="+mn-lt"/>
                          <a:ea typeface="+mn-ea"/>
                          <a:cs typeface="+mn-cs"/>
                        </a:rPr>
                        <a:t>Balancing privacy protection with explanation accuracy and usefulness remains difficult.</a:t>
                      </a:r>
                      <a:endParaRPr sz="1600" dirty="0"/>
                    </a:p>
                  </a:txBody>
                  <a:tcPr marL="54864" marR="54864" marT="36576" marB="36576">
                    <a:solidFill>
                      <a:srgbClr val="FFFFFF"/>
                    </a:solidFill>
                  </a:tcPr>
                </a:tc>
                <a:extLst>
                  <a:ext uri="{0D108BD9-81ED-4DB2-BD59-A6C34878D82A}">
                    <a16:rowId xmlns:a16="http://schemas.microsoft.com/office/drawing/2014/main" val="10004"/>
                  </a:ext>
                </a:extLst>
              </a:tr>
              <a:tr h="872524">
                <a:tc>
                  <a:txBody>
                    <a:bodyPr/>
                    <a:lstStyle/>
                    <a:p>
                      <a:pPr>
                        <a:defRPr sz="1000" b="0">
                          <a:solidFill>
                            <a:srgbClr val="232A34"/>
                          </a:solidFill>
                        </a:defRPr>
                      </a:pPr>
                      <a:r>
                        <a:rPr sz="1600" dirty="0"/>
                        <a:t>User-Centered XAI Design Guidelines: Systematic Literature Review</a:t>
                      </a:r>
                      <a:r>
                        <a:rPr lang="en-US" sz="1600" dirty="0"/>
                        <a:t>(2025)</a:t>
                      </a:r>
                      <a:endParaRPr sz="1600" dirty="0"/>
                    </a:p>
                  </a:txBody>
                  <a:tcPr marL="54864" marR="54864" marT="36576" marB="36576">
                    <a:solidFill>
                      <a:srgbClr val="F2F6FC"/>
                    </a:solidFill>
                  </a:tcPr>
                </a:tc>
                <a:tc>
                  <a:txBody>
                    <a:bodyPr/>
                    <a:lstStyle/>
                    <a:p>
                      <a:pPr>
                        <a:defRPr sz="1000" b="0">
                          <a:solidFill>
                            <a:srgbClr val="232A34"/>
                          </a:solidFill>
                        </a:defRPr>
                      </a:pPr>
                      <a:r>
                        <a:rPr sz="1600" dirty="0"/>
                        <a:t>Springer – AI Review</a:t>
                      </a:r>
                    </a:p>
                  </a:txBody>
                  <a:tcPr marL="54864" marR="54864" marT="36576" marB="36576">
                    <a:solidFill>
                      <a:srgbClr val="F2F6FC"/>
                    </a:solidFill>
                  </a:tcPr>
                </a:tc>
                <a:tc>
                  <a:txBody>
                    <a:bodyPr/>
                    <a:lstStyle/>
                    <a:p>
                      <a:pPr>
                        <a:defRPr sz="1000" b="0">
                          <a:solidFill>
                            <a:srgbClr val="232A34"/>
                          </a:solidFill>
                        </a:defRPr>
                      </a:pPr>
                      <a:r>
                        <a:rPr sz="1600" dirty="0"/>
                        <a:t>Reviews factors affecting explanation usefulness and user trust.</a:t>
                      </a:r>
                    </a:p>
                  </a:txBody>
                  <a:tcPr marL="54864" marR="54864" marT="36576" marB="36576">
                    <a:solidFill>
                      <a:srgbClr val="F2F6FC"/>
                    </a:solidFill>
                  </a:tcPr>
                </a:tc>
                <a:tc>
                  <a:txBody>
                    <a:bodyPr/>
                    <a:lstStyle/>
                    <a:p>
                      <a:pPr>
                        <a:defRPr sz="1000" b="0">
                          <a:solidFill>
                            <a:srgbClr val="232A34"/>
                          </a:solidFill>
                        </a:defRPr>
                      </a:pPr>
                      <a:r>
                        <a:rPr lang="en-US" sz="1600" b="0" i="0" kern="1200" dirty="0">
                          <a:solidFill>
                            <a:schemeClr val="dk1"/>
                          </a:solidFill>
                          <a:effectLst/>
                          <a:latin typeface="+mn-lt"/>
                          <a:ea typeface="+mn-ea"/>
                          <a:cs typeface="+mn-cs"/>
                        </a:rPr>
                        <a:t>Limited evidence on the effectiveness of user-centered explanations across different user groups.</a:t>
                      </a:r>
                      <a:endParaRPr sz="1600" dirty="0"/>
                    </a:p>
                  </a:txBody>
                  <a:tcPr marL="54864" marR="54864" marT="36576" marB="36576">
                    <a:solidFill>
                      <a:srgbClr val="F2F6FC"/>
                    </a:solidFill>
                  </a:tcPr>
                </a:tc>
                <a:extLst>
                  <a:ext uri="{0D108BD9-81ED-4DB2-BD59-A6C34878D82A}">
                    <a16:rowId xmlns:a16="http://schemas.microsoft.com/office/drawing/2014/main" val="10005"/>
                  </a:ext>
                </a:extLst>
              </a:tr>
            </a:tbl>
          </a:graphicData>
        </a:graphic>
      </p:graphicFrame>
      <p:sp>
        <p:nvSpPr>
          <p:cNvPr id="5" name="TextBox 4"/>
          <p:cNvSpPr txBox="1"/>
          <p:nvPr/>
        </p:nvSpPr>
        <p:spPr>
          <a:xfrm>
            <a:off x="10789920" y="6446520"/>
            <a:ext cx="914400" cy="228600"/>
          </a:xfrm>
          <a:prstGeom prst="rect">
            <a:avLst/>
          </a:prstGeom>
          <a:noFill/>
        </p:spPr>
        <p:txBody>
          <a:bodyPr wrap="none">
            <a:spAutoFit/>
          </a:bodyPr>
          <a:lstStyle/>
          <a:p>
            <a:pPr algn="r">
              <a:defRPr sz="1000">
                <a:solidFill>
                  <a:srgbClr val="697382"/>
                </a:solidFill>
              </a:defRPr>
            </a:pPr>
            <a: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05" y="308468"/>
            <a:ext cx="12191695" cy="1034143"/>
          </a:xfrm>
          <a:prstGeom prst="rect">
            <a:avLst/>
          </a:prstGeom>
          <a:solidFill>
            <a:srgbClr val="192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TextBox 2"/>
          <p:cNvSpPr txBox="1"/>
          <p:nvPr/>
        </p:nvSpPr>
        <p:spPr>
          <a:xfrm>
            <a:off x="685800" y="556935"/>
            <a:ext cx="5276381" cy="584775"/>
          </a:xfrm>
          <a:prstGeom prst="rect">
            <a:avLst/>
          </a:prstGeom>
          <a:noFill/>
        </p:spPr>
        <p:txBody>
          <a:bodyPr wrap="none">
            <a:spAutoFit/>
          </a:bodyPr>
          <a:lstStyle/>
          <a:p>
            <a:pPr>
              <a:defRPr sz="2500" b="1">
                <a:solidFill>
                  <a:srgbClr val="FFFFFF"/>
                </a:solidFill>
              </a:defRPr>
            </a:pPr>
            <a:r>
              <a:rPr sz="3200" dirty="0"/>
              <a:t>7. Research Gap Identification</a:t>
            </a:r>
          </a:p>
        </p:txBody>
      </p:sp>
      <p:sp>
        <p:nvSpPr>
          <p:cNvPr id="4" name="TextBox 3"/>
          <p:cNvSpPr txBox="1"/>
          <p:nvPr/>
        </p:nvSpPr>
        <p:spPr>
          <a:xfrm>
            <a:off x="359229" y="1467596"/>
            <a:ext cx="10789920" cy="5119350"/>
          </a:xfrm>
          <a:prstGeom prst="rect">
            <a:avLst/>
          </a:prstGeom>
          <a:noFill/>
        </p:spPr>
        <p:txBody>
          <a:bodyPr wrap="square">
            <a:spAutoFit/>
          </a:bodyPr>
          <a:lstStyle/>
          <a:p>
            <a:pPr>
              <a:spcAft>
                <a:spcPts val="1400"/>
              </a:spcAft>
              <a:defRPr sz="1700">
                <a:solidFill>
                  <a:srgbClr val="232A34"/>
                </a:solidFill>
              </a:defRPr>
            </a:pPr>
            <a:r>
              <a:rPr sz="2800" dirty="0"/>
              <a:t>• No universally best XAI method: performance depends on the ML model and business problem.</a:t>
            </a:r>
          </a:p>
          <a:p>
            <a:pPr>
              <a:spcAft>
                <a:spcPts val="1400"/>
              </a:spcAft>
              <a:defRPr sz="1700">
                <a:solidFill>
                  <a:srgbClr val="232A34"/>
                </a:solidFill>
              </a:defRPr>
            </a:pPr>
            <a:r>
              <a:rPr sz="2800" dirty="0"/>
              <a:t>• Limited direct comparison: many studies focus on individual XAI techniques or specific domains.</a:t>
            </a:r>
          </a:p>
          <a:p>
            <a:pPr>
              <a:spcAft>
                <a:spcPts val="1400"/>
              </a:spcAft>
              <a:defRPr sz="1700">
                <a:solidFill>
                  <a:srgbClr val="232A34"/>
                </a:solidFill>
              </a:defRPr>
            </a:pPr>
            <a:r>
              <a:rPr sz="2800" dirty="0"/>
              <a:t>• Incomplete evaluation: interpretability, consistency, computational cost and explanation quality are not always evaluated together.</a:t>
            </a:r>
          </a:p>
          <a:p>
            <a:pPr>
              <a:spcAft>
                <a:spcPts val="1400"/>
              </a:spcAft>
              <a:defRPr sz="1700">
                <a:solidFill>
                  <a:srgbClr val="232A34"/>
                </a:solidFill>
              </a:defRPr>
            </a:pPr>
            <a:r>
              <a:rPr sz="2800" dirty="0"/>
              <a:t>• Business-specific gap: much recent XAI research is concentrated on healthcare and finance.</a:t>
            </a:r>
          </a:p>
          <a:p>
            <a:pPr>
              <a:spcAft>
                <a:spcPts val="1400"/>
              </a:spcAft>
              <a:defRPr sz="1700">
                <a:solidFill>
                  <a:srgbClr val="232A34"/>
                </a:solidFill>
              </a:defRPr>
            </a:pPr>
            <a:r>
              <a:rPr sz="2800" dirty="0"/>
              <a:t>• User perspective: an explanation is not necessarily understandable or useful to business users.</a:t>
            </a:r>
          </a:p>
        </p:txBody>
      </p:sp>
      <p:sp>
        <p:nvSpPr>
          <p:cNvPr id="5" name="TextBox 4"/>
          <p:cNvSpPr txBox="1"/>
          <p:nvPr/>
        </p:nvSpPr>
        <p:spPr>
          <a:xfrm>
            <a:off x="10789920" y="6446520"/>
            <a:ext cx="914400" cy="228600"/>
          </a:xfrm>
          <a:prstGeom prst="rect">
            <a:avLst/>
          </a:prstGeom>
          <a:noFill/>
        </p:spPr>
        <p:txBody>
          <a:bodyPr wrap="none">
            <a:spAutoFit/>
          </a:bodyPr>
          <a:lstStyle/>
          <a:p>
            <a:pPr algn="r">
              <a:defRPr sz="1000">
                <a:solidFill>
                  <a:srgbClr val="697382"/>
                </a:solidFill>
              </a:defRPr>
            </a:pPr>
            <a: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0632" y="324611"/>
            <a:ext cx="12191695" cy="1051560"/>
          </a:xfrm>
          <a:prstGeom prst="rect">
            <a:avLst/>
          </a:prstGeom>
          <a:solidFill>
            <a:srgbClr val="192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606009"/>
            <a:ext cx="6923049" cy="584775"/>
          </a:xfrm>
          <a:prstGeom prst="rect">
            <a:avLst/>
          </a:prstGeom>
          <a:noFill/>
        </p:spPr>
        <p:txBody>
          <a:bodyPr wrap="none">
            <a:spAutoFit/>
          </a:bodyPr>
          <a:lstStyle/>
          <a:p>
            <a:pPr>
              <a:defRPr sz="2500" b="1">
                <a:solidFill>
                  <a:srgbClr val="FFFFFF"/>
                </a:solidFill>
              </a:defRPr>
            </a:pPr>
            <a:r>
              <a:rPr sz="3200" dirty="0"/>
              <a:t>8. Proposed Research Gap &amp; Innovation</a:t>
            </a:r>
          </a:p>
        </p:txBody>
      </p:sp>
      <p:sp>
        <p:nvSpPr>
          <p:cNvPr id="4" name="Rounded Rectangle 3"/>
          <p:cNvSpPr/>
          <p:nvPr/>
        </p:nvSpPr>
        <p:spPr>
          <a:xfrm>
            <a:off x="594360" y="1604770"/>
            <a:ext cx="10881360" cy="1673863"/>
          </a:xfrm>
          <a:prstGeom prst="roundRect">
            <a:avLst/>
          </a:prstGeom>
          <a:solidFill>
            <a:srgbClr val="F2F6FC"/>
          </a:solidFill>
          <a:ln>
            <a:solidFill>
              <a:srgbClr val="2D63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54379" y="1749203"/>
            <a:ext cx="10744200" cy="1384995"/>
          </a:xfrm>
          <a:prstGeom prst="rect">
            <a:avLst/>
          </a:prstGeom>
          <a:noFill/>
        </p:spPr>
        <p:txBody>
          <a:bodyPr wrap="square">
            <a:spAutoFit/>
          </a:bodyPr>
          <a:lstStyle/>
          <a:p>
            <a:pPr>
              <a:defRPr sz="2000" b="1">
                <a:solidFill>
                  <a:srgbClr val="2D63B4"/>
                </a:solidFill>
              </a:defRPr>
            </a:pPr>
            <a:r>
              <a:rPr sz="2400" dirty="0"/>
              <a:t>Research Gap</a:t>
            </a:r>
          </a:p>
          <a:p>
            <a:pPr>
              <a:defRPr sz="1600">
                <a:solidFill>
                  <a:srgbClr val="232A34"/>
                </a:solidFill>
              </a:defRPr>
            </a:pPr>
            <a:r>
              <a:rPr lang="en-US" sz="2000" dirty="0"/>
              <a:t>Existing studies have limited unified evaluation of ML models and XAI techniques across multiple business datasets, particularly considering </a:t>
            </a:r>
            <a:r>
              <a:rPr lang="en-US" sz="2000" b="1" dirty="0"/>
              <a:t>explanation fidelity, sparsity, interpretability, and computational efficiency</a:t>
            </a:r>
            <a:r>
              <a:rPr lang="en-US" sz="2000" dirty="0"/>
              <a:t> along with predictive performance.</a:t>
            </a:r>
            <a:endParaRPr sz="2000" dirty="0"/>
          </a:p>
        </p:txBody>
      </p:sp>
      <p:sp>
        <p:nvSpPr>
          <p:cNvPr id="6" name="TextBox 5"/>
          <p:cNvSpPr txBox="1"/>
          <p:nvPr/>
        </p:nvSpPr>
        <p:spPr>
          <a:xfrm>
            <a:off x="548640" y="3443466"/>
            <a:ext cx="10698480" cy="2923877"/>
          </a:xfrm>
          <a:prstGeom prst="rect">
            <a:avLst/>
          </a:prstGeom>
          <a:noFill/>
        </p:spPr>
        <p:txBody>
          <a:bodyPr wrap="square">
            <a:spAutoFit/>
          </a:bodyPr>
          <a:lstStyle/>
          <a:p>
            <a:pPr lvl="0"/>
            <a:r>
              <a:rPr lang="en-US" sz="2400" b="1" dirty="0"/>
              <a:t>Innovation:</a:t>
            </a:r>
          </a:p>
          <a:p>
            <a:r>
              <a:rPr lang="en-US" sz="2000" dirty="0"/>
              <a:t>• </a:t>
            </a:r>
            <a:r>
              <a:rPr lang="en-US" sz="2000" b="1" dirty="0"/>
              <a:t>To develop</a:t>
            </a:r>
            <a:r>
              <a:rPr lang="en-US" sz="2000" dirty="0"/>
              <a:t> a common framework to compare multiple ML models with XAI techniques across benchmark business datasets.</a:t>
            </a:r>
          </a:p>
          <a:p>
            <a:r>
              <a:rPr lang="en-US" sz="2000" dirty="0"/>
              <a:t>• </a:t>
            </a:r>
            <a:r>
              <a:rPr lang="en-US" sz="2000" b="1" dirty="0"/>
              <a:t>To integrate</a:t>
            </a:r>
            <a:r>
              <a:rPr lang="en-US" sz="2000" dirty="0"/>
              <a:t> fidelity and sparsity measures to assess the reliability, simplicity, and quality of model explanations.</a:t>
            </a:r>
          </a:p>
          <a:p>
            <a:r>
              <a:rPr lang="en-US" sz="2000" dirty="0"/>
              <a:t>• </a:t>
            </a:r>
            <a:r>
              <a:rPr lang="en-US" sz="2000" b="1" dirty="0"/>
              <a:t>To enhance</a:t>
            </a:r>
            <a:r>
              <a:rPr lang="en-US" sz="2000" dirty="0"/>
              <a:t> business decision-making by analyzing the accuracy, fidelity, sparsity, interpretability computational effectiveness.</a:t>
            </a:r>
          </a:p>
          <a:p>
            <a:r>
              <a:rPr lang="en-US" sz="2000" dirty="0"/>
              <a:t>• </a:t>
            </a:r>
            <a:r>
              <a:rPr lang="en-US" sz="2000" b="1" dirty="0"/>
              <a:t>To evaluate</a:t>
            </a:r>
            <a:r>
              <a:rPr lang="en-US" sz="2000" dirty="0"/>
              <a:t> different ML–XAI combinations and recommend the most suitable approach based on prediction performance, fidelity, and sparsity.</a:t>
            </a:r>
          </a:p>
        </p:txBody>
      </p:sp>
      <p:sp>
        <p:nvSpPr>
          <p:cNvPr id="7" name="TextBox 6"/>
          <p:cNvSpPr txBox="1"/>
          <p:nvPr/>
        </p:nvSpPr>
        <p:spPr>
          <a:xfrm>
            <a:off x="10789920" y="6446520"/>
            <a:ext cx="914400" cy="228600"/>
          </a:xfrm>
          <a:prstGeom prst="rect">
            <a:avLst/>
          </a:prstGeom>
          <a:noFill/>
        </p:spPr>
        <p:txBody>
          <a:bodyPr wrap="none">
            <a:spAutoFit/>
          </a:bodyPr>
          <a:lstStyle/>
          <a:p>
            <a:pPr algn="r">
              <a:defRPr sz="1000">
                <a:solidFill>
                  <a:srgbClr val="697382"/>
                </a:solidFill>
              </a:defRPr>
            </a:pPr>
            <a: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15088" y="313508"/>
            <a:ext cx="12191695" cy="1110343"/>
          </a:xfrm>
          <a:prstGeom prst="rect">
            <a:avLst/>
          </a:prstGeom>
          <a:solidFill>
            <a:srgbClr val="192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586525"/>
            <a:ext cx="2310633" cy="584775"/>
          </a:xfrm>
          <a:prstGeom prst="rect">
            <a:avLst/>
          </a:prstGeom>
          <a:noFill/>
        </p:spPr>
        <p:txBody>
          <a:bodyPr wrap="none">
            <a:spAutoFit/>
          </a:bodyPr>
          <a:lstStyle/>
          <a:p>
            <a:pPr>
              <a:defRPr sz="2500" b="1">
                <a:solidFill>
                  <a:srgbClr val="FFFFFF"/>
                </a:solidFill>
              </a:defRPr>
            </a:pPr>
            <a:r>
              <a:rPr sz="3200" dirty="0"/>
              <a:t>9. Feasibility</a:t>
            </a:r>
          </a:p>
        </p:txBody>
      </p:sp>
      <p:sp>
        <p:nvSpPr>
          <p:cNvPr id="4" name="TextBox 3"/>
          <p:cNvSpPr txBox="1"/>
          <p:nvPr/>
        </p:nvSpPr>
        <p:spPr>
          <a:xfrm>
            <a:off x="293914" y="1696868"/>
            <a:ext cx="10789920" cy="4078039"/>
          </a:xfrm>
          <a:prstGeom prst="rect">
            <a:avLst/>
          </a:prstGeom>
          <a:noFill/>
        </p:spPr>
        <p:txBody>
          <a:bodyPr wrap="square">
            <a:spAutoFit/>
          </a:bodyPr>
          <a:lstStyle/>
          <a:p>
            <a:pPr>
              <a:spcAft>
                <a:spcPts val="1400"/>
              </a:spcAft>
              <a:defRPr sz="1900">
                <a:solidFill>
                  <a:srgbClr val="232A34"/>
                </a:solidFill>
              </a:defRPr>
            </a:pPr>
            <a:r>
              <a:rPr sz="2800" dirty="0"/>
              <a:t>• Technical Feasibility: Python, Scikit-learn, </a:t>
            </a:r>
            <a:r>
              <a:rPr sz="2800" dirty="0" err="1"/>
              <a:t>XGBoost</a:t>
            </a:r>
            <a:r>
              <a:rPr sz="2800" dirty="0"/>
              <a:t>, SHAP, LIME, Pandas and Matplotlib/Seaborn.</a:t>
            </a:r>
          </a:p>
          <a:p>
            <a:pPr>
              <a:spcAft>
                <a:spcPts val="1400"/>
              </a:spcAft>
              <a:defRPr sz="1900">
                <a:solidFill>
                  <a:srgbClr val="232A34"/>
                </a:solidFill>
              </a:defRPr>
            </a:pPr>
            <a:r>
              <a:rPr sz="2800" dirty="0"/>
              <a:t>• Data Feasibility: public benchmark educational/business analytics datasets are available.</a:t>
            </a:r>
          </a:p>
          <a:p>
            <a:pPr>
              <a:spcAft>
                <a:spcPts val="1400"/>
              </a:spcAft>
              <a:defRPr sz="1900">
                <a:solidFill>
                  <a:srgbClr val="232A34"/>
                </a:solidFill>
              </a:defRPr>
            </a:pPr>
            <a:r>
              <a:rPr sz="2800" dirty="0"/>
              <a:t>• Economic Feasibility: open-source software and public datasets keep development cost minimal.</a:t>
            </a:r>
          </a:p>
          <a:p>
            <a:pPr>
              <a:spcAft>
                <a:spcPts val="1400"/>
              </a:spcAft>
              <a:defRPr sz="1900">
                <a:solidFill>
                  <a:srgbClr val="232A34"/>
                </a:solidFill>
              </a:defRPr>
            </a:pPr>
            <a:r>
              <a:rPr sz="2800" dirty="0"/>
              <a:t>• Time Feasibility: literature → preprocessing → ML models → XAI → comparison → evaluation.</a:t>
            </a:r>
          </a:p>
        </p:txBody>
      </p:sp>
      <p:sp>
        <p:nvSpPr>
          <p:cNvPr id="5" name="TextBox 4"/>
          <p:cNvSpPr txBox="1"/>
          <p:nvPr/>
        </p:nvSpPr>
        <p:spPr>
          <a:xfrm>
            <a:off x="10789920" y="6446520"/>
            <a:ext cx="914400" cy="228600"/>
          </a:xfrm>
          <a:prstGeom prst="rect">
            <a:avLst/>
          </a:prstGeom>
          <a:noFill/>
        </p:spPr>
        <p:txBody>
          <a:bodyPr wrap="none">
            <a:spAutoFit/>
          </a:bodyPr>
          <a:lstStyle/>
          <a:p>
            <a:pPr algn="r">
              <a:defRPr sz="1000">
                <a:solidFill>
                  <a:srgbClr val="697382"/>
                </a:solidFill>
              </a:defRPr>
            </a:pPr>
            <a: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05" y="245798"/>
            <a:ext cx="12191695" cy="1143000"/>
          </a:xfrm>
          <a:prstGeom prst="rect">
            <a:avLst/>
          </a:prstGeom>
          <a:solidFill>
            <a:srgbClr val="192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11777" y="461992"/>
            <a:ext cx="2842253" cy="584775"/>
          </a:xfrm>
          <a:prstGeom prst="rect">
            <a:avLst/>
          </a:prstGeom>
          <a:noFill/>
        </p:spPr>
        <p:txBody>
          <a:bodyPr wrap="none">
            <a:spAutoFit/>
          </a:bodyPr>
          <a:lstStyle/>
          <a:p>
            <a:pPr>
              <a:defRPr sz="2500" b="1">
                <a:solidFill>
                  <a:srgbClr val="FFFFFF"/>
                </a:solidFill>
              </a:defRPr>
            </a:pPr>
            <a:r>
              <a:rPr sz="3200" dirty="0"/>
              <a:t>10. Project Plan</a:t>
            </a:r>
          </a:p>
        </p:txBody>
      </p:sp>
      <p:graphicFrame>
        <p:nvGraphicFramePr>
          <p:cNvPr id="4" name="Table 3"/>
          <p:cNvGraphicFramePr>
            <a:graphicFrameLocks noGrp="1"/>
          </p:cNvGraphicFramePr>
          <p:nvPr>
            <p:extLst>
              <p:ext uri="{D42A27DB-BD31-4B8C-83A1-F6EECF244321}">
                <p14:modId xmlns:p14="http://schemas.microsoft.com/office/powerpoint/2010/main" val="738691331"/>
              </p:ext>
            </p:extLst>
          </p:nvPr>
        </p:nvGraphicFramePr>
        <p:xfrm>
          <a:off x="611777" y="1730828"/>
          <a:ext cx="10635344" cy="4490790"/>
        </p:xfrm>
        <a:graphic>
          <a:graphicData uri="http://schemas.openxmlformats.org/drawingml/2006/table">
            <a:tbl>
              <a:tblPr firstRow="1" bandRow="1">
                <a:tableStyleId>{5C22544A-7EE6-4342-B048-85BDC9FD1C3A}</a:tableStyleId>
              </a:tblPr>
              <a:tblGrid>
                <a:gridCol w="5317672">
                  <a:extLst>
                    <a:ext uri="{9D8B030D-6E8A-4147-A177-3AD203B41FA5}">
                      <a16:colId xmlns:a16="http://schemas.microsoft.com/office/drawing/2014/main" val="20000"/>
                    </a:ext>
                  </a:extLst>
                </a:gridCol>
                <a:gridCol w="5317672">
                  <a:extLst>
                    <a:ext uri="{9D8B030D-6E8A-4147-A177-3AD203B41FA5}">
                      <a16:colId xmlns:a16="http://schemas.microsoft.com/office/drawing/2014/main" val="20001"/>
                    </a:ext>
                  </a:extLst>
                </a:gridCol>
              </a:tblGrid>
              <a:tr h="520881">
                <a:tc>
                  <a:txBody>
                    <a:bodyPr/>
                    <a:lstStyle/>
                    <a:p>
                      <a:pPr>
                        <a:defRPr sz="1400" b="1">
                          <a:solidFill>
                            <a:srgbClr val="FFFFFF"/>
                          </a:solidFill>
                        </a:defRPr>
                      </a:pPr>
                      <a:r>
                        <a:rPr sz="2000"/>
                        <a:t>Phase</a:t>
                      </a:r>
                    </a:p>
                  </a:txBody>
                  <a:tcPr marL="54864" marR="54864" marT="36576" marB="36576">
                    <a:solidFill>
                      <a:srgbClr val="192646"/>
                    </a:solidFill>
                  </a:tcPr>
                </a:tc>
                <a:tc>
                  <a:txBody>
                    <a:bodyPr/>
                    <a:lstStyle/>
                    <a:p>
                      <a:pPr>
                        <a:defRPr sz="1400" b="1">
                          <a:solidFill>
                            <a:srgbClr val="FFFFFF"/>
                          </a:solidFill>
                        </a:defRPr>
                      </a:pPr>
                      <a:r>
                        <a:rPr sz="2000"/>
                        <a:t>Planned Work</a:t>
                      </a:r>
                    </a:p>
                  </a:txBody>
                  <a:tcPr marL="54864" marR="54864" marT="36576" marB="36576">
                    <a:solidFill>
                      <a:srgbClr val="192646"/>
                    </a:solidFill>
                  </a:tcPr>
                </a:tc>
                <a:extLst>
                  <a:ext uri="{0D108BD9-81ED-4DB2-BD59-A6C34878D82A}">
                    <a16:rowId xmlns:a16="http://schemas.microsoft.com/office/drawing/2014/main" val="10000"/>
                  </a:ext>
                </a:extLst>
              </a:tr>
              <a:tr h="520881">
                <a:tc>
                  <a:txBody>
                    <a:bodyPr/>
                    <a:lstStyle/>
                    <a:p>
                      <a:pPr>
                        <a:defRPr sz="1400" b="0">
                          <a:solidFill>
                            <a:srgbClr val="232A34"/>
                          </a:solidFill>
                        </a:defRPr>
                      </a:pPr>
                      <a:r>
                        <a:rPr sz="2000"/>
                        <a:t>1</a:t>
                      </a:r>
                    </a:p>
                  </a:txBody>
                  <a:tcPr marL="54864" marR="54864" marT="36576" marB="36576">
                    <a:solidFill>
                      <a:srgbClr val="F2F6FC"/>
                    </a:solidFill>
                  </a:tcPr>
                </a:tc>
                <a:tc>
                  <a:txBody>
                    <a:bodyPr/>
                    <a:lstStyle/>
                    <a:p>
                      <a:pPr>
                        <a:defRPr sz="1400" b="0">
                          <a:solidFill>
                            <a:srgbClr val="232A34"/>
                          </a:solidFill>
                        </a:defRPr>
                      </a:pPr>
                      <a:r>
                        <a:rPr sz="2000"/>
                        <a:t>Literature survey and research-gap identification</a:t>
                      </a:r>
                    </a:p>
                  </a:txBody>
                  <a:tcPr marL="54864" marR="54864" marT="36576" marB="36576">
                    <a:solidFill>
                      <a:srgbClr val="F2F6FC"/>
                    </a:solidFill>
                  </a:tcPr>
                </a:tc>
                <a:extLst>
                  <a:ext uri="{0D108BD9-81ED-4DB2-BD59-A6C34878D82A}">
                    <a16:rowId xmlns:a16="http://schemas.microsoft.com/office/drawing/2014/main" val="10001"/>
                  </a:ext>
                </a:extLst>
              </a:tr>
              <a:tr h="520881">
                <a:tc>
                  <a:txBody>
                    <a:bodyPr/>
                    <a:lstStyle/>
                    <a:p>
                      <a:pPr>
                        <a:defRPr sz="1400" b="0">
                          <a:solidFill>
                            <a:srgbClr val="232A34"/>
                          </a:solidFill>
                        </a:defRPr>
                      </a:pPr>
                      <a:r>
                        <a:rPr sz="2000"/>
                        <a:t>2</a:t>
                      </a:r>
                    </a:p>
                  </a:txBody>
                  <a:tcPr marL="54864" marR="54864" marT="36576" marB="36576">
                    <a:solidFill>
                      <a:srgbClr val="FFFFFF"/>
                    </a:solidFill>
                  </a:tcPr>
                </a:tc>
                <a:tc>
                  <a:txBody>
                    <a:bodyPr/>
                    <a:lstStyle/>
                    <a:p>
                      <a:pPr>
                        <a:defRPr sz="1400" b="0">
                          <a:solidFill>
                            <a:srgbClr val="232A34"/>
                          </a:solidFill>
                        </a:defRPr>
                      </a:pPr>
                      <a:r>
                        <a:rPr sz="2000"/>
                        <a:t>Dataset collection and preprocessing</a:t>
                      </a:r>
                    </a:p>
                  </a:txBody>
                  <a:tcPr marL="54864" marR="54864" marT="36576" marB="36576">
                    <a:solidFill>
                      <a:srgbClr val="FFFFFF"/>
                    </a:solidFill>
                  </a:tcPr>
                </a:tc>
                <a:extLst>
                  <a:ext uri="{0D108BD9-81ED-4DB2-BD59-A6C34878D82A}">
                    <a16:rowId xmlns:a16="http://schemas.microsoft.com/office/drawing/2014/main" val="10002"/>
                  </a:ext>
                </a:extLst>
              </a:tr>
              <a:tr h="520881">
                <a:tc>
                  <a:txBody>
                    <a:bodyPr/>
                    <a:lstStyle/>
                    <a:p>
                      <a:pPr>
                        <a:defRPr sz="1400" b="0">
                          <a:solidFill>
                            <a:srgbClr val="232A34"/>
                          </a:solidFill>
                        </a:defRPr>
                      </a:pPr>
                      <a:r>
                        <a:rPr sz="2000"/>
                        <a:t>3</a:t>
                      </a:r>
                    </a:p>
                  </a:txBody>
                  <a:tcPr marL="54864" marR="54864" marT="36576" marB="36576">
                    <a:solidFill>
                      <a:srgbClr val="F2F6FC"/>
                    </a:solidFill>
                  </a:tcPr>
                </a:tc>
                <a:tc>
                  <a:txBody>
                    <a:bodyPr/>
                    <a:lstStyle/>
                    <a:p>
                      <a:pPr>
                        <a:defRPr sz="1400" b="0">
                          <a:solidFill>
                            <a:srgbClr val="232A34"/>
                          </a:solidFill>
                        </a:defRPr>
                      </a:pPr>
                      <a:r>
                        <a:rPr sz="2000"/>
                        <a:t>Implementation of ML models</a:t>
                      </a:r>
                    </a:p>
                  </a:txBody>
                  <a:tcPr marL="54864" marR="54864" marT="36576" marB="36576">
                    <a:solidFill>
                      <a:srgbClr val="F2F6FC"/>
                    </a:solidFill>
                  </a:tcPr>
                </a:tc>
                <a:extLst>
                  <a:ext uri="{0D108BD9-81ED-4DB2-BD59-A6C34878D82A}">
                    <a16:rowId xmlns:a16="http://schemas.microsoft.com/office/drawing/2014/main" val="10003"/>
                  </a:ext>
                </a:extLst>
              </a:tr>
              <a:tr h="520881">
                <a:tc>
                  <a:txBody>
                    <a:bodyPr/>
                    <a:lstStyle/>
                    <a:p>
                      <a:pPr>
                        <a:defRPr sz="1400" b="0">
                          <a:solidFill>
                            <a:srgbClr val="232A34"/>
                          </a:solidFill>
                        </a:defRPr>
                      </a:pPr>
                      <a:r>
                        <a:rPr sz="2000" dirty="0"/>
                        <a:t>4</a:t>
                      </a:r>
                    </a:p>
                  </a:txBody>
                  <a:tcPr marL="54864" marR="54864" marT="36576" marB="36576">
                    <a:solidFill>
                      <a:srgbClr val="FFFFFF"/>
                    </a:solidFill>
                  </a:tcPr>
                </a:tc>
                <a:tc>
                  <a:txBody>
                    <a:bodyPr/>
                    <a:lstStyle/>
                    <a:p>
                      <a:pPr>
                        <a:defRPr sz="1400" b="0">
                          <a:solidFill>
                            <a:srgbClr val="232A34"/>
                          </a:solidFill>
                        </a:defRPr>
                      </a:pPr>
                      <a:r>
                        <a:rPr sz="2000"/>
                        <a:t>Implementation of SHAP, LIME, PDP and other XAI methods</a:t>
                      </a:r>
                    </a:p>
                  </a:txBody>
                  <a:tcPr marL="54864" marR="54864" marT="36576" marB="36576">
                    <a:solidFill>
                      <a:srgbClr val="FFFFFF"/>
                    </a:solidFill>
                  </a:tcPr>
                </a:tc>
                <a:extLst>
                  <a:ext uri="{0D108BD9-81ED-4DB2-BD59-A6C34878D82A}">
                    <a16:rowId xmlns:a16="http://schemas.microsoft.com/office/drawing/2014/main" val="10004"/>
                  </a:ext>
                </a:extLst>
              </a:tr>
              <a:tr h="520881">
                <a:tc>
                  <a:txBody>
                    <a:bodyPr/>
                    <a:lstStyle/>
                    <a:p>
                      <a:pPr>
                        <a:defRPr sz="1400" b="0">
                          <a:solidFill>
                            <a:srgbClr val="232A34"/>
                          </a:solidFill>
                        </a:defRPr>
                      </a:pPr>
                      <a:r>
                        <a:rPr sz="2000"/>
                        <a:t>5</a:t>
                      </a:r>
                    </a:p>
                  </a:txBody>
                  <a:tcPr marL="54864" marR="54864" marT="36576" marB="36576">
                    <a:solidFill>
                      <a:srgbClr val="F2F6FC"/>
                    </a:solidFill>
                  </a:tcPr>
                </a:tc>
                <a:tc>
                  <a:txBody>
                    <a:bodyPr/>
                    <a:lstStyle/>
                    <a:p>
                      <a:pPr>
                        <a:defRPr sz="1400" b="0">
                          <a:solidFill>
                            <a:srgbClr val="232A34"/>
                          </a:solidFill>
                        </a:defRPr>
                      </a:pPr>
                      <a:r>
                        <a:rPr sz="2000"/>
                        <a:t>Comparative evaluation using defined metrics</a:t>
                      </a:r>
                    </a:p>
                  </a:txBody>
                  <a:tcPr marL="54864" marR="54864" marT="36576" marB="36576">
                    <a:solidFill>
                      <a:srgbClr val="F2F6FC"/>
                    </a:solidFill>
                  </a:tcPr>
                </a:tc>
                <a:extLst>
                  <a:ext uri="{0D108BD9-81ED-4DB2-BD59-A6C34878D82A}">
                    <a16:rowId xmlns:a16="http://schemas.microsoft.com/office/drawing/2014/main" val="10005"/>
                  </a:ext>
                </a:extLst>
              </a:tr>
              <a:tr h="520881">
                <a:tc>
                  <a:txBody>
                    <a:bodyPr/>
                    <a:lstStyle/>
                    <a:p>
                      <a:pPr>
                        <a:defRPr sz="1400" b="0">
                          <a:solidFill>
                            <a:srgbClr val="232A34"/>
                          </a:solidFill>
                        </a:defRPr>
                      </a:pPr>
                      <a:r>
                        <a:rPr sz="2000"/>
                        <a:t>6</a:t>
                      </a:r>
                    </a:p>
                  </a:txBody>
                  <a:tcPr marL="54864" marR="54864" marT="36576" marB="36576">
                    <a:solidFill>
                      <a:srgbClr val="FFFFFF"/>
                    </a:solidFill>
                  </a:tcPr>
                </a:tc>
                <a:tc>
                  <a:txBody>
                    <a:bodyPr/>
                    <a:lstStyle/>
                    <a:p>
                      <a:pPr>
                        <a:defRPr sz="1400" b="0">
                          <a:solidFill>
                            <a:srgbClr val="232A34"/>
                          </a:solidFill>
                        </a:defRPr>
                      </a:pPr>
                      <a:r>
                        <a:rPr sz="2000"/>
                        <a:t>Analysis, visualization and recommendation framework</a:t>
                      </a:r>
                    </a:p>
                  </a:txBody>
                  <a:tcPr marL="54864" marR="54864" marT="36576" marB="36576">
                    <a:solidFill>
                      <a:srgbClr val="FFFFFF"/>
                    </a:solidFill>
                  </a:tcPr>
                </a:tc>
                <a:extLst>
                  <a:ext uri="{0D108BD9-81ED-4DB2-BD59-A6C34878D82A}">
                    <a16:rowId xmlns:a16="http://schemas.microsoft.com/office/drawing/2014/main" val="10006"/>
                  </a:ext>
                </a:extLst>
              </a:tr>
              <a:tr h="520881">
                <a:tc>
                  <a:txBody>
                    <a:bodyPr/>
                    <a:lstStyle/>
                    <a:p>
                      <a:pPr>
                        <a:defRPr sz="1400" b="0">
                          <a:solidFill>
                            <a:srgbClr val="232A34"/>
                          </a:solidFill>
                        </a:defRPr>
                      </a:pPr>
                      <a:r>
                        <a:rPr sz="2000"/>
                        <a:t>7</a:t>
                      </a:r>
                    </a:p>
                  </a:txBody>
                  <a:tcPr marL="54864" marR="54864" marT="36576" marB="36576">
                    <a:solidFill>
                      <a:srgbClr val="F2F6FC"/>
                    </a:solidFill>
                  </a:tcPr>
                </a:tc>
                <a:tc>
                  <a:txBody>
                    <a:bodyPr/>
                    <a:lstStyle/>
                    <a:p>
                      <a:pPr>
                        <a:defRPr sz="1400" b="0">
                          <a:solidFill>
                            <a:srgbClr val="232A34"/>
                          </a:solidFill>
                        </a:defRPr>
                      </a:pPr>
                      <a:r>
                        <a:rPr sz="2000" dirty="0"/>
                        <a:t>Documentation, report and final presentation</a:t>
                      </a:r>
                    </a:p>
                  </a:txBody>
                  <a:tcPr marL="54864" marR="54864" marT="36576" marB="36576">
                    <a:solidFill>
                      <a:srgbClr val="F2F6FC"/>
                    </a:solidFill>
                  </a:tcPr>
                </a:tc>
                <a:extLst>
                  <a:ext uri="{0D108BD9-81ED-4DB2-BD59-A6C34878D82A}">
                    <a16:rowId xmlns:a16="http://schemas.microsoft.com/office/drawing/2014/main" val="10007"/>
                  </a:ext>
                </a:extLst>
              </a:tr>
            </a:tbl>
          </a:graphicData>
        </a:graphic>
      </p:graphicFrame>
      <p:sp>
        <p:nvSpPr>
          <p:cNvPr id="5" name="TextBox 4"/>
          <p:cNvSpPr txBox="1"/>
          <p:nvPr/>
        </p:nvSpPr>
        <p:spPr>
          <a:xfrm>
            <a:off x="10789920" y="6446520"/>
            <a:ext cx="914400" cy="228600"/>
          </a:xfrm>
          <a:prstGeom prst="rect">
            <a:avLst/>
          </a:prstGeom>
          <a:noFill/>
        </p:spPr>
        <p:txBody>
          <a:bodyPr wrap="none">
            <a:spAutoFit/>
          </a:bodyPr>
          <a:lstStyle/>
          <a:p>
            <a:pPr algn="r">
              <a:defRPr sz="1000">
                <a:solidFill>
                  <a:srgbClr val="697382"/>
                </a:solidFill>
              </a:defRPr>
            </a:pPr>
            <a: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05" y="351606"/>
            <a:ext cx="12191695" cy="1034143"/>
          </a:xfrm>
          <a:prstGeom prst="rect">
            <a:avLst/>
          </a:prstGeom>
          <a:solidFill>
            <a:srgbClr val="192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66205" y="576291"/>
            <a:ext cx="6343853" cy="584775"/>
          </a:xfrm>
          <a:prstGeom prst="rect">
            <a:avLst/>
          </a:prstGeom>
          <a:noFill/>
        </p:spPr>
        <p:txBody>
          <a:bodyPr wrap="none">
            <a:spAutoFit/>
          </a:bodyPr>
          <a:lstStyle/>
          <a:p>
            <a:pPr>
              <a:defRPr sz="2500" b="1">
                <a:solidFill>
                  <a:srgbClr val="FFFFFF"/>
                </a:solidFill>
              </a:defRPr>
            </a:pPr>
            <a:r>
              <a:rPr sz="3200" dirty="0"/>
              <a:t>11. Expected Outcome &amp; Conclusion</a:t>
            </a:r>
          </a:p>
        </p:txBody>
      </p:sp>
      <p:sp>
        <p:nvSpPr>
          <p:cNvPr id="4" name="TextBox 3"/>
          <p:cNvSpPr txBox="1"/>
          <p:nvPr/>
        </p:nvSpPr>
        <p:spPr>
          <a:xfrm>
            <a:off x="437605" y="1789611"/>
            <a:ext cx="10789920" cy="4078039"/>
          </a:xfrm>
          <a:prstGeom prst="rect">
            <a:avLst/>
          </a:prstGeom>
          <a:noFill/>
        </p:spPr>
        <p:txBody>
          <a:bodyPr wrap="square">
            <a:spAutoFit/>
          </a:bodyPr>
          <a:lstStyle/>
          <a:p>
            <a:pPr>
              <a:spcAft>
                <a:spcPts val="1400"/>
              </a:spcAft>
              <a:defRPr sz="1900">
                <a:solidFill>
                  <a:srgbClr val="232A34"/>
                </a:solidFill>
              </a:defRPr>
            </a:pPr>
            <a:r>
              <a:rPr sz="2800" dirty="0"/>
              <a:t>• Identify which ML models provide the strongest predictive performance on the selected datasets.</a:t>
            </a:r>
          </a:p>
          <a:p>
            <a:pPr>
              <a:spcAft>
                <a:spcPts val="1400"/>
              </a:spcAft>
              <a:defRPr sz="1900">
                <a:solidFill>
                  <a:srgbClr val="232A34"/>
                </a:solidFill>
              </a:defRPr>
            </a:pPr>
            <a:r>
              <a:rPr sz="2800" dirty="0"/>
              <a:t>• Compare</a:t>
            </a:r>
            <a:r>
              <a:rPr lang="en-US" sz="2800" dirty="0"/>
              <a:t> SHAP, LIME, PDP, ICE, Permutation Feature Importance</a:t>
            </a:r>
            <a:r>
              <a:rPr sz="2800" dirty="0"/>
              <a:t> in terms of global/local interpretability and explanation usefulness.</a:t>
            </a:r>
          </a:p>
          <a:p>
            <a:pPr>
              <a:spcAft>
                <a:spcPts val="1400"/>
              </a:spcAft>
              <a:defRPr sz="1900">
                <a:solidFill>
                  <a:srgbClr val="232A34"/>
                </a:solidFill>
              </a:defRPr>
            </a:pPr>
            <a:r>
              <a:rPr sz="2800" dirty="0"/>
              <a:t>• Determine the trade-off between accuracy, interpretability and computational </a:t>
            </a:r>
            <a:r>
              <a:rPr lang="en-US" sz="2800" dirty="0"/>
              <a:t>effectiveness</a:t>
            </a:r>
            <a:r>
              <a:rPr sz="2800" dirty="0"/>
              <a:t>.</a:t>
            </a:r>
          </a:p>
          <a:p>
            <a:pPr>
              <a:spcAft>
                <a:spcPts val="1400"/>
              </a:spcAft>
              <a:defRPr sz="1900">
                <a:solidFill>
                  <a:srgbClr val="232A34"/>
                </a:solidFill>
              </a:defRPr>
            </a:pPr>
            <a:r>
              <a:rPr sz="2800" dirty="0"/>
              <a:t>• Recommend suitable ML + XAI combinations for business analytics decision-making.</a:t>
            </a:r>
          </a:p>
        </p:txBody>
      </p:sp>
      <p:sp>
        <p:nvSpPr>
          <p:cNvPr id="5" name="TextBox 4"/>
          <p:cNvSpPr txBox="1"/>
          <p:nvPr/>
        </p:nvSpPr>
        <p:spPr>
          <a:xfrm>
            <a:off x="10789920" y="6446520"/>
            <a:ext cx="914400" cy="228600"/>
          </a:xfrm>
          <a:prstGeom prst="rect">
            <a:avLst/>
          </a:prstGeom>
          <a:noFill/>
        </p:spPr>
        <p:txBody>
          <a:bodyPr wrap="none">
            <a:spAutoFit/>
          </a:bodyPr>
          <a:lstStyle/>
          <a:p>
            <a:pPr algn="r">
              <a:defRPr sz="1000">
                <a:solidFill>
                  <a:srgbClr val="697382"/>
                </a:solidFill>
              </a:defRPr>
            </a:pPr>
            <a:r>
              <a:t>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123</TotalTime>
  <Words>1132</Words>
  <Application>Microsoft Office PowerPoint</Application>
  <PresentationFormat>Widescreen</PresentationFormat>
  <Paragraphs>125</Paragraphs>
  <Slides>12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Lakshmi Sai Prasanna</dc:creator>
  <cp:keywords/>
  <dc:description>generated using python-pptx</dc:description>
  <cp:lastModifiedBy>Divya sri</cp:lastModifiedBy>
  <cp:revision>6</cp:revision>
  <dcterms:created xsi:type="dcterms:W3CDTF">2013-01-27T09:14:16Z</dcterms:created>
  <dcterms:modified xsi:type="dcterms:W3CDTF">2026-08-13T09:44:08Z</dcterms:modified>
  <cp:category/>
</cp:coreProperties>
</file>